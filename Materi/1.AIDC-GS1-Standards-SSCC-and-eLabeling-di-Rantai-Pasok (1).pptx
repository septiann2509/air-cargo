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9" r:id="rId6"/>
    <p:sldId id="261" r:id="rId7"/>
    <p:sldId id="262" r:id="rId8"/>
    <p:sldId id="263" r:id="rId9"/>
    <p:sldId id="264" r:id="rId10"/>
    <p:sldId id="265" r:id="rId11"/>
    <p:sldId id="266" r:id="rId12"/>
    <p:sldId id="268" r:id="rId13"/>
    <p:sldId id="273" r:id="rId14"/>
    <p:sldId id="269" r:id="rId15"/>
    <p:sldId id="270" r:id="rId16"/>
    <p:sldId id="277" r:id="rId17"/>
    <p:sldId id="278" r:id="rId18"/>
    <p:sldId id="279" r:id="rId19"/>
    <p:sldId id="280" r:id="rId20"/>
    <p:sldId id="281" r:id="rId21"/>
  </p:sldIdLst>
  <p:sldSz cx="12191365" cy="6858000"/>
  <p:notesSz cx="6858000" cy="12191365"/>
  <p:embeddedFontLst>
    <p:embeddedFont>
      <p:font typeface="Alice" pitchFamily="34" charset="0"/>
      <p:regular r:id="rId25"/>
    </p:embeddedFont>
    <p:embeddedFont>
      <p:font typeface="Alice" pitchFamily="34" charset="-122"/>
      <p:regular r:id="rId26"/>
    </p:embeddedFont>
    <p:embeddedFont>
      <p:font typeface="Alice" pitchFamily="34" charset="-120"/>
      <p:regular r:id="rId27"/>
    </p:embeddedFont>
    <p:embeddedFont>
      <p:font typeface="Lora" pitchFamily="34" charset="0"/>
      <p:regular r:id="rId28"/>
    </p:embeddedFont>
    <p:embeddedFont>
      <p:font typeface="Lora" pitchFamily="34" charset="-122"/>
      <p:regular r:id="rId29"/>
    </p:embeddedFont>
    <p:embeddedFont>
      <p:font typeface="Lora" pitchFamily="34" charset="-120"/>
      <p:regular r:id="rId30"/>
    </p:embeddedFont>
    <p:embeddedFont>
      <p:font typeface="Lora Bold" pitchFamily="34" charset="0"/>
      <p:regular r:id="rId31"/>
    </p:embeddedFont>
    <p:embeddedFont>
      <p:font typeface="Lora Bold" pitchFamily="34" charset="-122"/>
      <p:regular r:id="rId32"/>
    </p:embeddedFont>
    <p:embeddedFont>
      <p:font typeface="Lora Bold" pitchFamily="34" charset="-120"/>
      <p:regular r:id="rId3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font" Target="fonts/font9.fntdata"/><Relationship Id="rId32" Type="http://schemas.openxmlformats.org/officeDocument/2006/relationships/font" Target="fonts/font8.fntdata"/><Relationship Id="rId31" Type="http://schemas.openxmlformats.org/officeDocument/2006/relationships/font" Target="fonts/font7.fntdata"/><Relationship Id="rId30" Type="http://schemas.openxmlformats.org/officeDocument/2006/relationships/font" Target="fonts/font6.fntdata"/><Relationship Id="rId3" Type="http://schemas.openxmlformats.org/officeDocument/2006/relationships/slide" Target="slides/slide1.xml"/><Relationship Id="rId29" Type="http://schemas.openxmlformats.org/officeDocument/2006/relationships/font" Target="fonts/font5.fntdata"/><Relationship Id="rId28" Type="http://schemas.openxmlformats.org/officeDocument/2006/relationships/font" Target="fonts/font4.fntdata"/><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1.png"/><Relationship Id="rId3" Type="http://schemas.openxmlformats.org/officeDocument/2006/relationships/hyperlink" Target="https://gamma.app/?utm_source=made-with-gamma" TargetMode="Externa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1F2DE"/>
          </a:solidFill>
        </p:spPr>
      </p:sp>
      <p:sp>
        <p:nvSpPr>
          <p:cNvPr id="3" name="Shape 1"/>
          <p:cNvSpPr/>
          <p:nvPr/>
        </p:nvSpPr>
        <p:spPr>
          <a:xfrm>
            <a:off x="0" y="0"/>
            <a:ext cx="12191695" cy="6858000"/>
          </a:xfrm>
          <a:prstGeom prst="rect">
            <a:avLst/>
          </a:prstGeom>
          <a:solidFill>
            <a:srgbClr val="FCFBF8"/>
          </a:solidFill>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1F2DE"/>
          </a:solidFill>
        </p:spPr>
      </p:sp>
      <p:sp>
        <p:nvSpPr>
          <p:cNvPr id="3" name="Shape 1"/>
          <p:cNvSpPr/>
          <p:nvPr/>
        </p:nvSpPr>
        <p:spPr>
          <a:xfrm>
            <a:off x="0" y="0"/>
            <a:ext cx="12191695" cy="6858000"/>
          </a:xfrm>
          <a:prstGeom prst="rect">
            <a:avLst/>
          </a:prstGeom>
          <a:solidFill>
            <a:srgbClr val="FCFBF8"/>
          </a:solidFill>
        </p:spPr>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FCFBF8">
              <a:alpha val="60000"/>
            </a:srgbClr>
          </a:solidFill>
        </p:spPr>
      </p:sp>
      <p:pic>
        <p:nvPicPr>
          <p:cNvPr id="6"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0.xml.rels><?xml version="1.0" encoding="UTF-8" standalone="yes"?>
<Relationships xmlns="http://schemas.openxmlformats.org/package/2006/relationships"><Relationship Id="rId9" Type="http://schemas.openxmlformats.org/officeDocument/2006/relationships/image" Target="../media/image22.svg"/><Relationship Id="rId8" Type="http://schemas.openxmlformats.org/officeDocument/2006/relationships/image" Target="../media/image21.png"/><Relationship Id="rId7" Type="http://schemas.openxmlformats.org/officeDocument/2006/relationships/image" Target="../media/image20.svg"/><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3" Type="http://schemas.openxmlformats.org/officeDocument/2006/relationships/image" Target="../media/image16.svg"/><Relationship Id="rId2" Type="http://schemas.openxmlformats.org/officeDocument/2006/relationships/image" Target="../media/image15.png"/><Relationship Id="rId13" Type="http://schemas.openxmlformats.org/officeDocument/2006/relationships/notesSlide" Target="../notesSlides/notesSlide10.xml"/><Relationship Id="rId12" Type="http://schemas.openxmlformats.org/officeDocument/2006/relationships/slideLayout" Target="../slideLayouts/slideLayout2.xml"/><Relationship Id="rId11" Type="http://schemas.openxmlformats.org/officeDocument/2006/relationships/image" Target="../media/image24.svg"/><Relationship Id="rId10" Type="http://schemas.openxmlformats.org/officeDocument/2006/relationships/image" Target="../media/image23.png"/><Relationship Id="rId1"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4.svg"/><Relationship Id="rId7" Type="http://schemas.openxmlformats.org/officeDocument/2006/relationships/image" Target="../media/image33.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 Id="rId3" Type="http://schemas.openxmlformats.org/officeDocument/2006/relationships/image" Target="../media/image29.png"/><Relationship Id="rId2" Type="http://schemas.openxmlformats.org/officeDocument/2006/relationships/image" Target="../media/image28.svg"/><Relationship Id="rId10" Type="http://schemas.openxmlformats.org/officeDocument/2006/relationships/notesSlide" Target="../notesSlides/notesSlide13.xml"/><Relationship Id="rId1" Type="http://schemas.openxmlformats.org/officeDocument/2006/relationships/image" Target="../media/image27.png"/></Relationships>
</file>

<file path=ppt/slides/_rels/slide14.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image" Target="../media/image42.svg"/><Relationship Id="rId7" Type="http://schemas.openxmlformats.org/officeDocument/2006/relationships/image" Target="../media/image41.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 Id="rId3" Type="http://schemas.openxmlformats.org/officeDocument/2006/relationships/image" Target="../media/image37.png"/><Relationship Id="rId2" Type="http://schemas.openxmlformats.org/officeDocument/2006/relationships/image" Target="../media/image36.svg"/><Relationship Id="rId14" Type="http://schemas.openxmlformats.org/officeDocument/2006/relationships/notesSlide" Target="../notesSlides/notesSlide14.xml"/><Relationship Id="rId13" Type="http://schemas.openxmlformats.org/officeDocument/2006/relationships/slideLayout" Target="../slideLayouts/slideLayout3.xml"/><Relationship Id="rId12" Type="http://schemas.openxmlformats.org/officeDocument/2006/relationships/image" Target="../media/image46.svg"/><Relationship Id="rId11" Type="http://schemas.openxmlformats.org/officeDocument/2006/relationships/image" Target="../media/image45.png"/><Relationship Id="rId10" Type="http://schemas.openxmlformats.org/officeDocument/2006/relationships/image" Target="../media/image44.svg"/><Relationship Id="rId1" Type="http://schemas.openxmlformats.org/officeDocument/2006/relationships/image" Target="../media/image35.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2.xml"/><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 Id="rId3" Type="http://schemas.openxmlformats.org/officeDocument/2006/relationships/image" Target="../media/image49.png"/><Relationship Id="rId2" Type="http://schemas.openxmlformats.org/officeDocument/2006/relationships/image" Target="../media/image48.svg"/><Relationship Id="rId1" Type="http://schemas.openxmlformats.org/officeDocument/2006/relationships/image" Target="../media/image47.png"/></Relationships>
</file>

<file path=ppt/slides/_rels/slide16.xml.rels><?xml version="1.0" encoding="UTF-8" standalone="yes"?>
<Relationships xmlns="http://schemas.openxmlformats.org/package/2006/relationships"><Relationship Id="rId9" Type="http://schemas.openxmlformats.org/officeDocument/2006/relationships/image" Target="../media/image61.svg"/><Relationship Id="rId8" Type="http://schemas.openxmlformats.org/officeDocument/2006/relationships/image" Target="../media/image60.png"/><Relationship Id="rId7" Type="http://schemas.openxmlformats.org/officeDocument/2006/relationships/image" Target="../media/image59.svg"/><Relationship Id="rId6" Type="http://schemas.openxmlformats.org/officeDocument/2006/relationships/image" Target="../media/image58.png"/><Relationship Id="rId5" Type="http://schemas.openxmlformats.org/officeDocument/2006/relationships/image" Target="../media/image57.svg"/><Relationship Id="rId4" Type="http://schemas.openxmlformats.org/officeDocument/2006/relationships/image" Target="../media/image56.png"/><Relationship Id="rId3" Type="http://schemas.openxmlformats.org/officeDocument/2006/relationships/image" Target="../media/image55.svg"/><Relationship Id="rId2" Type="http://schemas.openxmlformats.org/officeDocument/2006/relationships/image" Target="../media/image54.png"/><Relationship Id="rId11" Type="http://schemas.openxmlformats.org/officeDocument/2006/relationships/notesSlide" Target="../notesSlides/notesSlide16.xml"/><Relationship Id="rId10" Type="http://schemas.openxmlformats.org/officeDocument/2006/relationships/slideLayout" Target="../slideLayouts/slideLayout2.xml"/><Relationship Id="rId1" Type="http://schemas.openxmlformats.org/officeDocument/2006/relationships/image" Target="../media/image53.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6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6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90362"/>
            <a:ext cx="6296860" cy="1181298"/>
          </a:xfrm>
          <a:prstGeom prst="rect">
            <a:avLst/>
          </a:prstGeom>
          <a:noFill/>
        </p:spPr>
        <p:txBody>
          <a:bodyPr wrap="square" lIns="0" tIns="0" rIns="0" bIns="0" rtlCol="0" anchor="t">
            <a:noAutofit/>
          </a:bodyPr>
          <a:lstStyle/>
          <a:p>
            <a:pPr marL="0" indent="0" algn="l">
              <a:lnSpc>
                <a:spcPct val="104000"/>
              </a:lnSpc>
              <a:buNone/>
            </a:pPr>
            <a:r>
              <a:rPr lang="en-US" altLang="en-US" sz="3200" dirty="0">
                <a:solidFill>
                  <a:srgbClr val="233E32"/>
                </a:solidFill>
                <a:latin typeface="Alice" pitchFamily="34" charset="0"/>
                <a:ea typeface="Alice" pitchFamily="34" charset="-122"/>
                <a:cs typeface="Alice" pitchFamily="34" charset="-120"/>
              </a:rPr>
              <a:t>Automatic Identification and Data Capture (</a:t>
            </a:r>
            <a:r>
              <a:rPr lang="en-US" sz="3200" dirty="0">
                <a:solidFill>
                  <a:srgbClr val="233E32"/>
                </a:solidFill>
                <a:latin typeface="Alice" pitchFamily="34" charset="0"/>
                <a:ea typeface="Alice" pitchFamily="34" charset="-122"/>
                <a:cs typeface="Alice" pitchFamily="34" charset="-120"/>
              </a:rPr>
              <a:t>AIDC), GS1 Standards, </a:t>
            </a:r>
            <a:r>
              <a:rPr lang="en-US" altLang="en-US" sz="3200" dirty="0">
                <a:solidFill>
                  <a:srgbClr val="233E32"/>
                </a:solidFill>
                <a:latin typeface="Alice" pitchFamily="34" charset="0"/>
                <a:ea typeface="Alice" pitchFamily="34" charset="-122"/>
                <a:cs typeface="Alice" pitchFamily="34" charset="-120"/>
              </a:rPr>
              <a:t>Serial Shipping Container Code (</a:t>
            </a:r>
            <a:r>
              <a:rPr lang="en-US" sz="3200" dirty="0">
                <a:solidFill>
                  <a:srgbClr val="233E32"/>
                </a:solidFill>
                <a:latin typeface="Alice" pitchFamily="34" charset="0"/>
                <a:ea typeface="Alice" pitchFamily="34" charset="-122"/>
                <a:cs typeface="Alice" pitchFamily="34" charset="-120"/>
              </a:rPr>
              <a:t>SSCC) &amp; e‑Labeling di Rantai Pasok</a:t>
            </a:r>
            <a:endParaRPr lang="en-US" sz="3200" dirty="0">
              <a:solidFill>
                <a:srgbClr val="233E32"/>
              </a:solidFill>
              <a:latin typeface="Alice" pitchFamily="34" charset="0"/>
              <a:ea typeface="Alice" pitchFamily="34" charset="-122"/>
              <a:cs typeface="Alice" pitchFamily="34" charset="-120"/>
            </a:endParaRPr>
          </a:p>
        </p:txBody>
      </p:sp>
      <p:sp>
        <p:nvSpPr>
          <p:cNvPr id="4" name="Text 1"/>
          <p:cNvSpPr/>
          <p:nvPr/>
        </p:nvSpPr>
        <p:spPr>
          <a:xfrm>
            <a:off x="661475" y="3919438"/>
            <a:ext cx="6296860" cy="483791"/>
          </a:xfrm>
          <a:prstGeom prst="rect">
            <a:avLst/>
          </a:prstGeom>
          <a:noFill/>
        </p:spPr>
        <p:txBody>
          <a:bodyPr wrap="square" lIns="0" tIns="0" rIns="0" bIns="0" rtlCol="0" anchor="t">
            <a:normAutofit/>
          </a:bodyPr>
          <a:lstStyle/>
          <a:p>
            <a:pPr marL="0" indent="0" algn="l">
              <a:lnSpc>
                <a:spcPct val="133000"/>
              </a:lnSpc>
              <a:buNone/>
            </a:pPr>
            <a:r>
              <a:rPr lang="en-US" sz="1150" dirty="0">
                <a:solidFill>
                  <a:srgbClr val="2C2821"/>
                </a:solidFill>
                <a:latin typeface="Lora" pitchFamily="34" charset="0"/>
                <a:ea typeface="Lora" pitchFamily="34" charset="-122"/>
                <a:cs typeface="Lora" pitchFamily="34" charset="-120"/>
              </a:rPr>
              <a:t>Mata kuliah: Technology &amp; Logistics Software — S1 Logistics, ITL Trisakti</a:t>
            </a:r>
            <a:endParaRPr lang="en-US" sz="1150" dirty="0"/>
          </a:p>
          <a:p>
            <a:pPr marL="0" indent="0" algn="l">
              <a:lnSpc>
                <a:spcPct val="133000"/>
              </a:lnSpc>
              <a:buNone/>
            </a:pPr>
            <a:r>
              <a:rPr lang="en-US" sz="1150" dirty="0">
                <a:solidFill>
                  <a:srgbClr val="2C2821"/>
                </a:solidFill>
                <a:latin typeface="Lora" pitchFamily="34" charset="0"/>
                <a:ea typeface="Lora" pitchFamily="34" charset="-122"/>
                <a:cs typeface="Lora" pitchFamily="34" charset="-120"/>
              </a:rPr>
              <a:t>Dosen: Dr. Tigor Franky, S.T., M.T.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52450"/>
            <a:ext cx="6296860" cy="826889"/>
          </a:xfrm>
          <a:prstGeom prst="rect">
            <a:avLst/>
          </a:prstGeom>
          <a:noFill/>
        </p:spPr>
        <p:txBody>
          <a:bodyPr wrap="square" lIns="0" tIns="0" rIns="0" bIns="0" rtlCol="0" anchor="t">
            <a:normAutofit/>
          </a:bodyPr>
          <a:lstStyle/>
          <a:p>
            <a:pPr marL="0" indent="0" algn="l">
              <a:lnSpc>
                <a:spcPct val="104000"/>
              </a:lnSpc>
              <a:buNone/>
            </a:pPr>
            <a:r>
              <a:rPr lang="en-US" sz="2600" dirty="0">
                <a:solidFill>
                  <a:srgbClr val="233E32"/>
                </a:solidFill>
                <a:latin typeface="Alice" pitchFamily="34" charset="0"/>
                <a:ea typeface="Alice" pitchFamily="34" charset="-122"/>
                <a:cs typeface="Alice" pitchFamily="34" charset="-120"/>
              </a:rPr>
              <a:t>Hasil Pembelajaran untuk Sesi Ini (Sub‑CPMK)</a:t>
            </a:r>
            <a:endParaRPr lang="en-US" sz="2600" dirty="0"/>
          </a:p>
        </p:txBody>
      </p:sp>
      <p:sp>
        <p:nvSpPr>
          <p:cNvPr id="4" name="Shape 1"/>
          <p:cNvSpPr/>
          <p:nvPr/>
        </p:nvSpPr>
        <p:spPr>
          <a:xfrm>
            <a:off x="661475" y="1596330"/>
            <a:ext cx="372061" cy="372070"/>
          </a:xfrm>
          <a:prstGeom prst="roundRect">
            <a:avLst>
              <a:gd name="adj" fmla="val 6668"/>
            </a:avLst>
          </a:prstGeom>
          <a:solidFill>
            <a:srgbClr val="F0EDE6"/>
          </a:solidFill>
        </p:spPr>
      </p:sp>
      <p:sp>
        <p:nvSpPr>
          <p:cNvPr id="5" name="Text 2"/>
          <p:cNvSpPr/>
          <p:nvPr/>
        </p:nvSpPr>
        <p:spPr>
          <a:xfrm>
            <a:off x="1178193" y="1653183"/>
            <a:ext cx="5780141" cy="258465"/>
          </a:xfrm>
          <a:prstGeom prst="rect">
            <a:avLst/>
          </a:prstGeom>
          <a:noFill/>
        </p:spPr>
        <p:txBody>
          <a:bodyPr wrap="none" lIns="0" tIns="0" rIns="0" bIns="0" rtlCol="0" anchor="t"/>
          <a:lstStyle/>
          <a:p>
            <a:pPr marL="0" indent="0" algn="l">
              <a:lnSpc>
                <a:spcPct val="104000"/>
              </a:lnSpc>
              <a:buNone/>
            </a:pPr>
            <a:r>
              <a:rPr lang="en-US" sz="1600" dirty="0">
                <a:solidFill>
                  <a:srgbClr val="2C2821"/>
                </a:solidFill>
                <a:latin typeface="Alice" pitchFamily="34" charset="0"/>
                <a:ea typeface="Alice" pitchFamily="34" charset="-122"/>
                <a:cs typeface="Alice" pitchFamily="34" charset="-120"/>
              </a:rPr>
              <a:t>Konsep Inti</a:t>
            </a:r>
            <a:endParaRPr lang="en-US" sz="1600" dirty="0"/>
          </a:p>
        </p:txBody>
      </p:sp>
      <p:sp>
        <p:nvSpPr>
          <p:cNvPr id="6" name="Text 3"/>
          <p:cNvSpPr/>
          <p:nvPr/>
        </p:nvSpPr>
        <p:spPr>
          <a:xfrm>
            <a:off x="1178193" y="1998464"/>
            <a:ext cx="5780141" cy="744141"/>
          </a:xfrm>
          <a:prstGeom prst="rect">
            <a:avLst/>
          </a:prstGeom>
          <a:noFill/>
        </p:spPr>
        <p:txBody>
          <a:bodyPr wrap="square" lIns="0" tIns="0" rIns="0" bIns="0" rtlCol="0" anchor="t">
            <a:normAutofit/>
          </a:bodyPr>
          <a:lstStyle/>
          <a:p>
            <a:pPr marL="0" indent="0" algn="l">
              <a:lnSpc>
                <a:spcPct val="125000"/>
              </a:lnSpc>
              <a:buNone/>
            </a:pPr>
            <a:r>
              <a:rPr lang="en-US" sz="1300" dirty="0">
                <a:solidFill>
                  <a:srgbClr val="2C2821"/>
                </a:solidFill>
                <a:latin typeface="Lora" pitchFamily="34" charset="0"/>
                <a:ea typeface="Lora" pitchFamily="34" charset="-122"/>
                <a:cs typeface="Lora" pitchFamily="34" charset="-120"/>
              </a:rPr>
              <a:t>Memahami AIDC dan menjelaskan bagaimana penangkapan data otomatis mengurangi kesalahan manusia pada proses receiving, picking, dan shipping.</a:t>
            </a:r>
            <a:endParaRPr lang="en-US" sz="1300" dirty="0"/>
          </a:p>
        </p:txBody>
      </p:sp>
      <p:sp>
        <p:nvSpPr>
          <p:cNvPr id="7" name="Shape 4"/>
          <p:cNvSpPr/>
          <p:nvPr/>
        </p:nvSpPr>
        <p:spPr>
          <a:xfrm>
            <a:off x="661475" y="3032026"/>
            <a:ext cx="372061" cy="372070"/>
          </a:xfrm>
          <a:prstGeom prst="roundRect">
            <a:avLst>
              <a:gd name="adj" fmla="val 6668"/>
            </a:avLst>
          </a:prstGeom>
          <a:solidFill>
            <a:srgbClr val="F0EDE6"/>
          </a:solidFill>
        </p:spPr>
      </p:sp>
      <p:sp>
        <p:nvSpPr>
          <p:cNvPr id="8" name="Text 5"/>
          <p:cNvSpPr/>
          <p:nvPr/>
        </p:nvSpPr>
        <p:spPr>
          <a:xfrm>
            <a:off x="1178193" y="3088878"/>
            <a:ext cx="5780141" cy="258465"/>
          </a:xfrm>
          <a:prstGeom prst="rect">
            <a:avLst/>
          </a:prstGeom>
          <a:noFill/>
        </p:spPr>
        <p:txBody>
          <a:bodyPr wrap="none" lIns="0" tIns="0" rIns="0" bIns="0" rtlCol="0" anchor="t"/>
          <a:lstStyle/>
          <a:p>
            <a:pPr marL="0" indent="0" algn="l">
              <a:lnSpc>
                <a:spcPct val="104000"/>
              </a:lnSpc>
              <a:buNone/>
            </a:pPr>
            <a:r>
              <a:rPr lang="en-US" sz="1600" dirty="0">
                <a:solidFill>
                  <a:srgbClr val="2C2821"/>
                </a:solidFill>
                <a:latin typeface="Alice" pitchFamily="34" charset="0"/>
                <a:ea typeface="Alice" pitchFamily="34" charset="-122"/>
                <a:cs typeface="Alice" pitchFamily="34" charset="-120"/>
              </a:rPr>
              <a:t>Identifikasi GS1</a:t>
            </a:r>
            <a:endParaRPr lang="en-US" sz="1600" dirty="0"/>
          </a:p>
        </p:txBody>
      </p:sp>
      <p:sp>
        <p:nvSpPr>
          <p:cNvPr id="9" name="Text 6"/>
          <p:cNvSpPr/>
          <p:nvPr/>
        </p:nvSpPr>
        <p:spPr>
          <a:xfrm>
            <a:off x="1178193" y="3434159"/>
            <a:ext cx="5780141" cy="496094"/>
          </a:xfrm>
          <a:prstGeom prst="rect">
            <a:avLst/>
          </a:prstGeom>
          <a:noFill/>
        </p:spPr>
        <p:txBody>
          <a:bodyPr wrap="square" lIns="0" tIns="0" rIns="0" bIns="0" rtlCol="0" anchor="t">
            <a:normAutofit/>
          </a:bodyPr>
          <a:lstStyle/>
          <a:p>
            <a:pPr marL="0" indent="0" algn="l">
              <a:lnSpc>
                <a:spcPct val="125000"/>
              </a:lnSpc>
              <a:buNone/>
            </a:pPr>
            <a:r>
              <a:rPr lang="en-US" sz="1300" dirty="0">
                <a:solidFill>
                  <a:srgbClr val="2C2821"/>
                </a:solidFill>
                <a:latin typeface="Lora" pitchFamily="34" charset="0"/>
                <a:ea typeface="Lora" pitchFamily="34" charset="-122"/>
                <a:cs typeface="Lora" pitchFamily="34" charset="-120"/>
              </a:rPr>
              <a:t>Menganalisis identifikasi GS1 (GTIN, batch, expiry, serial) dan bagaimana hal tersebut memungkinkan interoperabilitas global.</a:t>
            </a:r>
            <a:endParaRPr lang="en-US" sz="1300" dirty="0"/>
          </a:p>
        </p:txBody>
      </p:sp>
      <p:sp>
        <p:nvSpPr>
          <p:cNvPr id="10" name="Shape 7"/>
          <p:cNvSpPr/>
          <p:nvPr/>
        </p:nvSpPr>
        <p:spPr>
          <a:xfrm>
            <a:off x="661475" y="4219674"/>
            <a:ext cx="372061" cy="372070"/>
          </a:xfrm>
          <a:prstGeom prst="roundRect">
            <a:avLst>
              <a:gd name="adj" fmla="val 6668"/>
            </a:avLst>
          </a:prstGeom>
          <a:solidFill>
            <a:srgbClr val="F0EDE6"/>
          </a:solidFill>
        </p:spPr>
      </p:sp>
      <p:sp>
        <p:nvSpPr>
          <p:cNvPr id="11" name="Text 8"/>
          <p:cNvSpPr/>
          <p:nvPr/>
        </p:nvSpPr>
        <p:spPr>
          <a:xfrm>
            <a:off x="1178193" y="4276527"/>
            <a:ext cx="5780141" cy="258465"/>
          </a:xfrm>
          <a:prstGeom prst="rect">
            <a:avLst/>
          </a:prstGeom>
          <a:noFill/>
        </p:spPr>
        <p:txBody>
          <a:bodyPr wrap="none" lIns="0" tIns="0" rIns="0" bIns="0" rtlCol="0" anchor="t"/>
          <a:lstStyle/>
          <a:p>
            <a:pPr marL="0" indent="0" algn="l">
              <a:lnSpc>
                <a:spcPct val="104000"/>
              </a:lnSpc>
              <a:buNone/>
            </a:pPr>
            <a:r>
              <a:rPr lang="en-US" sz="1600" dirty="0">
                <a:solidFill>
                  <a:srgbClr val="2C2821"/>
                </a:solidFill>
                <a:latin typeface="Alice" pitchFamily="34" charset="0"/>
                <a:ea typeface="Alice" pitchFamily="34" charset="-122"/>
                <a:cs typeface="Alice" pitchFamily="34" charset="-120"/>
              </a:rPr>
              <a:t>Tujuan SSCC</a:t>
            </a:r>
            <a:endParaRPr lang="en-US" sz="1600" dirty="0"/>
          </a:p>
        </p:txBody>
      </p:sp>
      <p:sp>
        <p:nvSpPr>
          <p:cNvPr id="12" name="Text 9"/>
          <p:cNvSpPr/>
          <p:nvPr/>
        </p:nvSpPr>
        <p:spPr>
          <a:xfrm>
            <a:off x="1178193" y="4621808"/>
            <a:ext cx="5780141" cy="496094"/>
          </a:xfrm>
          <a:prstGeom prst="rect">
            <a:avLst/>
          </a:prstGeom>
          <a:noFill/>
        </p:spPr>
        <p:txBody>
          <a:bodyPr wrap="square" lIns="0" tIns="0" rIns="0" bIns="0" rtlCol="0" anchor="t">
            <a:normAutofit/>
          </a:bodyPr>
          <a:lstStyle/>
          <a:p>
            <a:pPr marL="0" indent="0" algn="l">
              <a:lnSpc>
                <a:spcPct val="125000"/>
              </a:lnSpc>
              <a:buNone/>
            </a:pPr>
            <a:r>
              <a:rPr lang="en-US" sz="1300" dirty="0">
                <a:solidFill>
                  <a:srgbClr val="2C2821"/>
                </a:solidFill>
                <a:latin typeface="Lora" pitchFamily="34" charset="0"/>
                <a:ea typeface="Lora" pitchFamily="34" charset="-122"/>
                <a:cs typeface="Lora" pitchFamily="34" charset="-120"/>
              </a:rPr>
              <a:t>Memahami SSCC sebagai 'paspor' palet dan perannya sebagai primary key dalam manifest WMS/TMS.</a:t>
            </a:r>
            <a:endParaRPr lang="en-US" sz="1300" dirty="0"/>
          </a:p>
        </p:txBody>
      </p:sp>
      <p:sp>
        <p:nvSpPr>
          <p:cNvPr id="13" name="Shape 10"/>
          <p:cNvSpPr/>
          <p:nvPr/>
        </p:nvSpPr>
        <p:spPr>
          <a:xfrm>
            <a:off x="661475" y="5407323"/>
            <a:ext cx="372061" cy="372070"/>
          </a:xfrm>
          <a:prstGeom prst="roundRect">
            <a:avLst>
              <a:gd name="adj" fmla="val 6668"/>
            </a:avLst>
          </a:prstGeom>
          <a:solidFill>
            <a:srgbClr val="F0EDE6"/>
          </a:solidFill>
        </p:spPr>
      </p:sp>
      <p:sp>
        <p:nvSpPr>
          <p:cNvPr id="14" name="Text 11"/>
          <p:cNvSpPr/>
          <p:nvPr/>
        </p:nvSpPr>
        <p:spPr>
          <a:xfrm>
            <a:off x="1178193" y="5464175"/>
            <a:ext cx="5780141" cy="258465"/>
          </a:xfrm>
          <a:prstGeom prst="rect">
            <a:avLst/>
          </a:prstGeom>
          <a:noFill/>
        </p:spPr>
        <p:txBody>
          <a:bodyPr wrap="none" lIns="0" tIns="0" rIns="0" bIns="0" rtlCol="0" anchor="t"/>
          <a:lstStyle/>
          <a:p>
            <a:pPr marL="0" indent="0" algn="l">
              <a:lnSpc>
                <a:spcPct val="104000"/>
              </a:lnSpc>
              <a:buNone/>
            </a:pPr>
            <a:r>
              <a:rPr lang="en-US" sz="1600" dirty="0">
                <a:solidFill>
                  <a:srgbClr val="2C2821"/>
                </a:solidFill>
                <a:latin typeface="Alice" pitchFamily="34" charset="0"/>
                <a:ea typeface="Alice" pitchFamily="34" charset="-122"/>
                <a:cs typeface="Alice" pitchFamily="34" charset="-120"/>
              </a:rPr>
              <a:t>e‑Labeling &amp; Integrasi</a:t>
            </a:r>
            <a:endParaRPr lang="en-US" sz="1600" dirty="0"/>
          </a:p>
        </p:txBody>
      </p:sp>
      <p:sp>
        <p:nvSpPr>
          <p:cNvPr id="15" name="Text 12"/>
          <p:cNvSpPr/>
          <p:nvPr/>
        </p:nvSpPr>
        <p:spPr>
          <a:xfrm>
            <a:off x="1178193" y="5809456"/>
            <a:ext cx="5780141" cy="496094"/>
          </a:xfrm>
          <a:prstGeom prst="rect">
            <a:avLst/>
          </a:prstGeom>
          <a:noFill/>
        </p:spPr>
        <p:txBody>
          <a:bodyPr wrap="square" lIns="0" tIns="0" rIns="0" bIns="0" rtlCol="0" anchor="t">
            <a:normAutofit/>
          </a:bodyPr>
          <a:lstStyle/>
          <a:p>
            <a:pPr marL="0" indent="0" algn="l">
              <a:lnSpc>
                <a:spcPct val="125000"/>
              </a:lnSpc>
              <a:buNone/>
            </a:pPr>
            <a:r>
              <a:rPr lang="en-US" sz="1300" dirty="0">
                <a:solidFill>
                  <a:srgbClr val="2C2821"/>
                </a:solidFill>
                <a:latin typeface="Lora" pitchFamily="34" charset="0"/>
                <a:ea typeface="Lora" pitchFamily="34" charset="-122"/>
                <a:cs typeface="Lora" pitchFamily="34" charset="-120"/>
              </a:rPr>
              <a:t>Merancang payload e‑Label dan pola integrasi (API / ASN) untuk alur WMS/TMS yang mulus.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990104"/>
            <a:ext cx="10868745" cy="472480"/>
          </a:xfrm>
          <a:prstGeom prst="rect">
            <a:avLst/>
          </a:prstGeom>
          <a:noFill/>
        </p:spPr>
        <p:txBody>
          <a:bodyPr wrap="none" lIns="0" tIns="0" rIns="0" bIns="0" rtlCol="0" anchor="t"/>
          <a:lstStyle/>
          <a:p>
            <a:pPr marL="0" indent="0" algn="l">
              <a:lnSpc>
                <a:spcPct val="104000"/>
              </a:lnSpc>
              <a:buNone/>
            </a:pPr>
            <a:r>
              <a:rPr lang="en-US" sz="2950" dirty="0">
                <a:solidFill>
                  <a:srgbClr val="233E32"/>
                </a:solidFill>
                <a:latin typeface="Alice" pitchFamily="34" charset="0"/>
                <a:ea typeface="Alice" pitchFamily="34" charset="-122"/>
                <a:cs typeface="Alice" pitchFamily="34" charset="-120"/>
              </a:rPr>
              <a:t>Mengapa AIDC &amp; GS1 Penting</a:t>
            </a:r>
            <a:endParaRPr lang="en-US" sz="2950" dirty="0"/>
          </a:p>
        </p:txBody>
      </p:sp>
      <p:pic>
        <p:nvPicPr>
          <p:cNvPr id="3" name="Image 0" descr="preencoded.png"/>
          <p:cNvPicPr>
            <a:picLocks noChangeAspect="1"/>
          </p:cNvPicPr>
          <p:nvPr/>
        </p:nvPicPr>
        <p:blipFill>
          <a:blip r:embed="rId1"/>
          <a:stretch>
            <a:fillRect/>
          </a:stretch>
        </p:blipFill>
        <p:spPr>
          <a:xfrm>
            <a:off x="661475" y="2653605"/>
            <a:ext cx="4070744" cy="2306737"/>
          </a:xfrm>
          <a:prstGeom prst="rect">
            <a:avLst/>
          </a:prstGeom>
        </p:spPr>
      </p:pic>
      <p:sp>
        <p:nvSpPr>
          <p:cNvPr id="4" name="Text 1"/>
          <p:cNvSpPr/>
          <p:nvPr/>
        </p:nvSpPr>
        <p:spPr>
          <a:xfrm>
            <a:off x="5199726" y="1935063"/>
            <a:ext cx="6336745" cy="295275"/>
          </a:xfrm>
          <a:prstGeom prst="rect">
            <a:avLst/>
          </a:prstGeom>
          <a:noFill/>
        </p:spPr>
        <p:txBody>
          <a:bodyPr wrap="none" lIns="0" tIns="0" rIns="0" bIns="0" rtlCol="0" anchor="t"/>
          <a:lstStyle/>
          <a:p>
            <a:pPr marL="0" indent="0" algn="l">
              <a:lnSpc>
                <a:spcPct val="104000"/>
              </a:lnSpc>
              <a:buNone/>
            </a:pPr>
            <a:r>
              <a:rPr lang="en-US" sz="1850" dirty="0">
                <a:solidFill>
                  <a:srgbClr val="233E32"/>
                </a:solidFill>
                <a:latin typeface="Alice" pitchFamily="34" charset="0"/>
                <a:ea typeface="Alice" pitchFamily="34" charset="-122"/>
                <a:cs typeface="Alice" pitchFamily="34" charset="-120"/>
              </a:rPr>
              <a:t>Masalah Entri Manual</a:t>
            </a:r>
            <a:endParaRPr lang="en-US" sz="1850" dirty="0"/>
          </a:p>
        </p:txBody>
      </p:sp>
      <p:sp>
        <p:nvSpPr>
          <p:cNvPr id="5" name="Text 2"/>
          <p:cNvSpPr/>
          <p:nvPr/>
        </p:nvSpPr>
        <p:spPr>
          <a:xfrm>
            <a:off x="5199726" y="2419350"/>
            <a:ext cx="6336745" cy="1039416"/>
          </a:xfrm>
          <a:prstGeom prst="rect">
            <a:avLst/>
          </a:prstGeom>
          <a:noFill/>
        </p:spPr>
        <p:txBody>
          <a:bodyPr wrap="square" lIns="0" tIns="0" rIns="0" bIns="0" rtlCol="0" anchor="t">
            <a:normAutofit/>
          </a:bodyPr>
          <a:lstStyle/>
          <a:p>
            <a:pPr marL="294640" indent="-294640" algn="l">
              <a:lnSpc>
                <a:spcPct val="133000"/>
              </a:lnSpc>
              <a:buSzPct val="100000"/>
              <a:buChar char="•"/>
            </a:pPr>
            <a:r>
              <a:rPr lang="en-US" sz="1450" dirty="0">
                <a:solidFill>
                  <a:srgbClr val="2C2821"/>
                </a:solidFill>
                <a:latin typeface="Lora" pitchFamily="34" charset="0"/>
                <a:ea typeface="Lora" pitchFamily="34" charset="-122"/>
                <a:cs typeface="Lora" pitchFamily="34" charset="-120"/>
              </a:rPr>
              <a:t>Risiko tinggi kesalahan transkripsi (serial/lot salah)</a:t>
            </a:r>
            <a:endParaRPr lang="en-US" sz="1450" dirty="0"/>
          </a:p>
          <a:p>
            <a:pPr marL="294640" indent="-294640" algn="l">
              <a:lnSpc>
                <a:spcPct val="133000"/>
              </a:lnSpc>
              <a:buSzPct val="100000"/>
              <a:buChar char="•"/>
            </a:pPr>
            <a:r>
              <a:rPr lang="en-US" sz="1450" dirty="0">
                <a:solidFill>
                  <a:srgbClr val="2C2821"/>
                </a:solidFill>
                <a:latin typeface="Lora" pitchFamily="34" charset="0"/>
                <a:ea typeface="Lora" pitchFamily="34" charset="-122"/>
                <a:cs typeface="Lora" pitchFamily="34" charset="-120"/>
              </a:rPr>
              <a:t>Waktu receiving dan picking lebih lama — waktu tunggu meningkat</a:t>
            </a:r>
            <a:endParaRPr lang="en-US" sz="1450" dirty="0"/>
          </a:p>
          <a:p>
            <a:pPr marL="294640" indent="-294640" algn="l">
              <a:lnSpc>
                <a:spcPct val="133000"/>
              </a:lnSpc>
              <a:buSzPct val="100000"/>
              <a:buChar char="•"/>
            </a:pPr>
            <a:r>
              <a:rPr lang="en-US" sz="1450" dirty="0">
                <a:solidFill>
                  <a:srgbClr val="2C2821"/>
                </a:solidFill>
                <a:latin typeface="Lora" pitchFamily="34" charset="0"/>
                <a:ea typeface="Lora" pitchFamily="34" charset="-122"/>
                <a:cs typeface="Lora" pitchFamily="34" charset="-120"/>
              </a:rPr>
              <a:t>Silo data antara supplier, carrier, dan sistem warehouse</a:t>
            </a:r>
            <a:endParaRPr lang="en-US" sz="1450" dirty="0"/>
          </a:p>
        </p:txBody>
      </p:sp>
      <p:sp>
        <p:nvSpPr>
          <p:cNvPr id="6" name="Shape 3"/>
          <p:cNvSpPr/>
          <p:nvPr/>
        </p:nvSpPr>
        <p:spPr>
          <a:xfrm>
            <a:off x="5199726" y="3718620"/>
            <a:ext cx="6336745" cy="25400"/>
          </a:xfrm>
          <a:prstGeom prst="roundRect">
            <a:avLst>
              <a:gd name="adj" fmla="val 49999"/>
            </a:avLst>
          </a:prstGeom>
          <a:solidFill>
            <a:srgbClr val="2C2821">
              <a:alpha val="50000"/>
            </a:srgbClr>
          </a:solidFill>
        </p:spPr>
      </p:sp>
      <p:sp>
        <p:nvSpPr>
          <p:cNvPr id="7" name="Text 4"/>
          <p:cNvSpPr/>
          <p:nvPr/>
        </p:nvSpPr>
        <p:spPr>
          <a:xfrm>
            <a:off x="5199726" y="4003873"/>
            <a:ext cx="6336745" cy="295275"/>
          </a:xfrm>
          <a:prstGeom prst="rect">
            <a:avLst/>
          </a:prstGeom>
          <a:noFill/>
        </p:spPr>
        <p:txBody>
          <a:bodyPr wrap="none" lIns="0" tIns="0" rIns="0" bIns="0" rtlCol="0" anchor="t"/>
          <a:lstStyle/>
          <a:p>
            <a:pPr marL="0" indent="0" algn="l">
              <a:lnSpc>
                <a:spcPct val="104000"/>
              </a:lnSpc>
              <a:buNone/>
            </a:pPr>
            <a:r>
              <a:rPr lang="en-US" sz="1850" dirty="0">
                <a:solidFill>
                  <a:srgbClr val="233E32"/>
                </a:solidFill>
                <a:latin typeface="Alice" pitchFamily="34" charset="0"/>
                <a:ea typeface="Alice" pitchFamily="34" charset="-122"/>
                <a:cs typeface="Alice" pitchFamily="34" charset="-120"/>
              </a:rPr>
              <a:t>Solusi AIDC + GS1</a:t>
            </a:r>
            <a:endParaRPr lang="en-US" sz="1850" dirty="0"/>
          </a:p>
        </p:txBody>
      </p:sp>
      <p:sp>
        <p:nvSpPr>
          <p:cNvPr id="8" name="Text 5"/>
          <p:cNvSpPr/>
          <p:nvPr/>
        </p:nvSpPr>
        <p:spPr>
          <a:xfrm>
            <a:off x="5199726" y="4488160"/>
            <a:ext cx="6336745" cy="1209675"/>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Pengambilan data otomatis (barcode/2D/ RFID) menghasilkan data instan dan terstandar. GS1 menyediakan “bahasa” global sehingga label yang dicetak oleh supplier dapat dibaca mesin dan ditindaklanjuti di seluruh sistem.</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686296"/>
            <a:ext cx="10868745" cy="465138"/>
          </a:xfrm>
          <a:prstGeom prst="rect">
            <a:avLst/>
          </a:prstGeom>
          <a:noFill/>
        </p:spPr>
        <p:txBody>
          <a:bodyPr wrap="none" lIns="0" tIns="0" rIns="0" bIns="0" rtlCol="0" anchor="t"/>
          <a:lstStyle/>
          <a:p>
            <a:pPr marL="0" indent="0" algn="l">
              <a:lnSpc>
                <a:spcPct val="104000"/>
              </a:lnSpc>
              <a:buNone/>
            </a:pPr>
            <a:r>
              <a:rPr lang="en-US" sz="2900" dirty="0">
                <a:solidFill>
                  <a:srgbClr val="233E32"/>
                </a:solidFill>
                <a:latin typeface="Alice" pitchFamily="34" charset="0"/>
                <a:ea typeface="Alice" pitchFamily="34" charset="-122"/>
                <a:cs typeface="Alice" pitchFamily="34" charset="-120"/>
              </a:rPr>
              <a:t>Taksonomi Identifikasi GS1 — Application Identifiers (AI)</a:t>
            </a:r>
            <a:endParaRPr lang="en-US" sz="2900" dirty="0"/>
          </a:p>
        </p:txBody>
      </p:sp>
      <p:sp>
        <p:nvSpPr>
          <p:cNvPr id="3" name="Text 1"/>
          <p:cNvSpPr/>
          <p:nvPr/>
        </p:nvSpPr>
        <p:spPr>
          <a:xfrm>
            <a:off x="661475" y="1517749"/>
            <a:ext cx="11478330" cy="295275"/>
          </a:xfrm>
          <a:prstGeom prst="rect">
            <a:avLst/>
          </a:prstGeom>
          <a:noFill/>
        </p:spPr>
        <p:txBody>
          <a:bodyPr wrap="none" lIns="0" tIns="0" rIns="0" bIns="0" rtlCol="0" anchor="t"/>
          <a:lstStyle/>
          <a:p>
            <a:pPr marL="0" indent="0" algn="l">
              <a:lnSpc>
                <a:spcPct val="132000"/>
              </a:lnSpc>
              <a:buNone/>
            </a:pPr>
            <a:r>
              <a:rPr lang="en-US" sz="1450" dirty="0">
                <a:solidFill>
                  <a:srgbClr val="2C2821"/>
                </a:solidFill>
                <a:latin typeface="Lora" pitchFamily="34" charset="0"/>
                <a:ea typeface="Lora" pitchFamily="34" charset="-122"/>
                <a:cs typeface="Lora" pitchFamily="34" charset="-120"/>
              </a:rPr>
              <a:t>Prefiks AI menunjukkan apa arti data yang mengikutinya. AI kunci yang digunakan dalam logistik:</a:t>
            </a:r>
            <a:endParaRPr lang="en-US" sz="1450" dirty="0"/>
          </a:p>
        </p:txBody>
      </p:sp>
      <p:graphicFrame>
        <p:nvGraphicFramePr>
          <p:cNvPr id="7" name="Table 0"/>
          <p:cNvGraphicFramePr>
            <a:graphicFrameLocks noGrp="1"/>
          </p:cNvGraphicFramePr>
          <p:nvPr/>
        </p:nvGraphicFramePr>
        <p:xfrm>
          <a:off x="661475" y="2019002"/>
          <a:ext cx="10868745" cy="4139899"/>
        </p:xfrm>
        <a:graphic>
          <a:graphicData uri="http://schemas.openxmlformats.org/drawingml/2006/table">
            <a:tbl>
              <a:tblPr/>
              <a:tblGrid>
                <a:gridCol w="2717186"/>
                <a:gridCol w="3804061"/>
                <a:gridCol w="4347498"/>
              </a:tblGrid>
              <a:tr h="530807">
                <a:tc>
                  <a:txBody>
                    <a:bodyPr/>
                    <a:lstStyle/>
                    <a:p>
                      <a:pPr marL="0" indent="0">
                        <a:buNone/>
                      </a:pPr>
                      <a:r>
                        <a:rPr lang="en-US" sz="1450" b="1" dirty="0">
                          <a:solidFill>
                            <a:srgbClr val="2C2821"/>
                          </a:solidFill>
                          <a:latin typeface="Lora" pitchFamily="34" charset="0"/>
                          <a:ea typeface="Lora" pitchFamily="34" charset="-122"/>
                          <a:cs typeface="Lora" pitchFamily="34" charset="-120"/>
                        </a:rPr>
                        <a:t>AI (Prefiks)</a:t>
                      </a:r>
                      <a:endParaRPr lang="en-US" sz="1450" dirty="0">
                        <a:latin typeface="Lora" pitchFamily="34" charset="0"/>
                        <a:ea typeface="Lora" pitchFamily="34" charset="0"/>
                        <a:cs typeface="Lora" pitchFamily="34" charset="0"/>
                      </a:endParaRPr>
                    </a:p>
                  </a:txBody>
                  <a:tcPr marL="186065" marR="186065" marT="6350" marB="6350" anchor="ctr">
                    <a:lnL w="12700" cap="flat" cmpd="sng" algn="ctr">
                      <a:solidFill>
                        <a:srgbClr val="D6D3CC"/>
                      </a:solidFill>
                      <a:prstDash val="solid"/>
                      <a:round/>
                      <a:headEnd type="none" w="med" len="med"/>
                      <a:tailEnd type="none" w="med" len="med"/>
                    </a:lnL>
                    <a:lnR w="12700" cap="flat" cmpd="sng" algn="ctr">
                      <a:solidFill>
                        <a:srgbClr val="FCFBF8"/>
                      </a:solidFill>
                      <a:prstDash val="solid"/>
                      <a:round/>
                      <a:headEnd type="none" w="med" len="med"/>
                      <a:tailEnd type="none" w="med" len="med"/>
                    </a:lnR>
                    <a:lnT w="12700" cap="flat" cmpd="sng" algn="ctr">
                      <a:solidFill>
                        <a:srgbClr val="D6D3CC"/>
                      </a:solidFill>
                      <a:prstDash val="solid"/>
                      <a:round/>
                      <a:headEnd type="none" w="med" len="med"/>
                      <a:tailEnd type="none" w="med" len="med"/>
                    </a:lnT>
                    <a:lnB w="12700" cap="flat" cmpd="sng" algn="ctr">
                      <a:solidFill>
                        <a:srgbClr val="D6D3CC"/>
                      </a:solidFill>
                      <a:prstDash val="solid"/>
                      <a:round/>
                      <a:headEnd type="none" w="med" len="med"/>
                      <a:tailEnd type="none" w="med" len="med"/>
                    </a:lnB>
                    <a:solidFill>
                      <a:srgbClr val="FCFBF8"/>
                    </a:solidFill>
                  </a:tcPr>
                </a:tc>
                <a:tc>
                  <a:txBody>
                    <a:bodyPr/>
                    <a:lstStyle/>
                    <a:p>
                      <a:pPr marL="0" indent="0">
                        <a:buNone/>
                      </a:pPr>
                      <a:r>
                        <a:rPr lang="en-US" sz="1450" b="1" dirty="0">
                          <a:solidFill>
                            <a:srgbClr val="2C2821"/>
                          </a:solidFill>
                          <a:latin typeface="Lora" pitchFamily="34" charset="0"/>
                          <a:ea typeface="Lora" pitchFamily="34" charset="-122"/>
                          <a:cs typeface="Lora" pitchFamily="34" charset="-120"/>
                        </a:rPr>
                        <a:t>Elemen Data</a:t>
                      </a:r>
                      <a:endParaRPr lang="en-US" sz="1450" dirty="0">
                        <a:latin typeface="Lora" pitchFamily="34" charset="0"/>
                        <a:ea typeface="Lora" pitchFamily="34" charset="0"/>
                        <a:cs typeface="Lora" pitchFamily="34" charset="0"/>
                      </a:endParaRPr>
                    </a:p>
                  </a:txBody>
                  <a:tcPr marL="186065" marR="186065" marT="6350" marB="6350" anchor="ctr">
                    <a:lnL w="12700" cap="flat" cmpd="sng" algn="ctr">
                      <a:solidFill>
                        <a:srgbClr val="FCFBF8"/>
                      </a:solidFill>
                      <a:prstDash val="solid"/>
                      <a:round/>
                      <a:headEnd type="none" w="med" len="med"/>
                      <a:tailEnd type="none" w="med" len="med"/>
                    </a:lnL>
                    <a:lnR w="12700" cap="flat" cmpd="sng" algn="ctr">
                      <a:solidFill>
                        <a:srgbClr val="FCFBF8"/>
                      </a:solidFill>
                      <a:prstDash val="solid"/>
                      <a:round/>
                      <a:headEnd type="none" w="med" len="med"/>
                      <a:tailEnd type="none" w="med" len="med"/>
                    </a:lnR>
                    <a:lnT w="12700" cap="flat" cmpd="sng" algn="ctr">
                      <a:solidFill>
                        <a:srgbClr val="D6D3CC"/>
                      </a:solidFill>
                      <a:prstDash val="solid"/>
                      <a:round/>
                      <a:headEnd type="none" w="med" len="med"/>
                      <a:tailEnd type="none" w="med" len="med"/>
                    </a:lnT>
                    <a:lnB w="12700" cap="flat" cmpd="sng" algn="ctr">
                      <a:solidFill>
                        <a:srgbClr val="D6D3CC"/>
                      </a:solidFill>
                      <a:prstDash val="solid"/>
                      <a:round/>
                      <a:headEnd type="none" w="med" len="med"/>
                      <a:tailEnd type="none" w="med" len="med"/>
                    </a:lnB>
                    <a:solidFill>
                      <a:srgbClr val="FCFBF8"/>
                    </a:solidFill>
                  </a:tcPr>
                </a:tc>
                <a:tc>
                  <a:txBody>
                    <a:bodyPr/>
                    <a:lstStyle/>
                    <a:p>
                      <a:pPr marL="0" indent="0">
                        <a:buNone/>
                      </a:pPr>
                      <a:r>
                        <a:rPr lang="en-US" sz="1450" b="1" dirty="0">
                          <a:solidFill>
                            <a:srgbClr val="2C2821"/>
                          </a:solidFill>
                          <a:latin typeface="Lora" pitchFamily="34" charset="0"/>
                          <a:ea typeface="Lora" pitchFamily="34" charset="-122"/>
                          <a:cs typeface="Lora" pitchFamily="34" charset="-120"/>
                        </a:rPr>
                        <a:t>Peran dalam Logistik</a:t>
                      </a:r>
                      <a:endParaRPr lang="en-US" sz="1450" dirty="0">
                        <a:latin typeface="Lora" pitchFamily="34" charset="0"/>
                        <a:ea typeface="Lora" pitchFamily="34" charset="0"/>
                        <a:cs typeface="Lora" pitchFamily="34" charset="0"/>
                      </a:endParaRPr>
                    </a:p>
                  </a:txBody>
                  <a:tcPr marL="186065" marR="186065" marT="6350" marB="6350" anchor="ctr">
                    <a:lnL w="12700" cap="flat" cmpd="sng" algn="ctr">
                      <a:solidFill>
                        <a:srgbClr val="FCFBF8"/>
                      </a:solidFill>
                      <a:prstDash val="solid"/>
                      <a:round/>
                      <a:headEnd type="none" w="med" len="med"/>
                      <a:tailEnd type="none" w="med" len="med"/>
                    </a:lnL>
                    <a:lnR w="12700" cap="flat" cmpd="sng" algn="ctr">
                      <a:solidFill>
                        <a:srgbClr val="D6D3CC"/>
                      </a:solidFill>
                      <a:prstDash val="solid"/>
                      <a:round/>
                      <a:headEnd type="none" w="med" len="med"/>
                      <a:tailEnd type="none" w="med" len="med"/>
                    </a:lnR>
                    <a:lnT w="12700" cap="flat" cmpd="sng" algn="ctr">
                      <a:solidFill>
                        <a:srgbClr val="D6D3CC"/>
                      </a:solidFill>
                      <a:prstDash val="solid"/>
                      <a:round/>
                      <a:headEnd type="none" w="med" len="med"/>
                      <a:tailEnd type="none" w="med" len="med"/>
                    </a:lnT>
                    <a:lnB w="12700" cap="flat" cmpd="sng" algn="ctr">
                      <a:solidFill>
                        <a:srgbClr val="D6D3CC"/>
                      </a:solidFill>
                      <a:prstDash val="solid"/>
                      <a:round/>
                      <a:headEnd type="none" w="med" len="med"/>
                      <a:tailEnd type="none" w="med" len="med"/>
                    </a:lnB>
                    <a:solidFill>
                      <a:srgbClr val="FCFBF8"/>
                    </a:solidFill>
                  </a:tcPr>
                </a:tc>
              </a:tr>
              <a:tr h="1124517">
                <a:tc>
                  <a:txBody>
                    <a:bodyPr/>
                    <a:lstStyle/>
                    <a:p>
                      <a:pPr marL="0" indent="0">
                        <a:buNone/>
                      </a:pPr>
                      <a:r>
                        <a:rPr lang="en-US" sz="1450" dirty="0">
                          <a:solidFill>
                            <a:srgbClr val="2C2821"/>
                          </a:solidFill>
                          <a:latin typeface="Lora" pitchFamily="34" charset="0"/>
                          <a:ea typeface="Lora" pitchFamily="34" charset="-122"/>
                          <a:cs typeface="Lora" pitchFamily="34" charset="-120"/>
                        </a:rPr>
                        <a:t>(01)</a:t>
                      </a:r>
                      <a:endParaRPr lang="en-US" sz="1450" dirty="0">
                        <a:latin typeface="Lora" pitchFamily="34" charset="0"/>
                        <a:ea typeface="Lora" pitchFamily="34" charset="0"/>
                        <a:cs typeface="Lora" pitchFamily="34" charset="0"/>
                      </a:endParaRPr>
                    </a:p>
                  </a:txBody>
                  <a:tcPr marL="186065" marR="186065" marT="6350" marB="6350" anchor="ctr">
                    <a:lnL w="12700" cap="flat" cmpd="sng" algn="ctr">
                      <a:solidFill>
                        <a:srgbClr val="D6D3CC"/>
                      </a:solidFill>
                      <a:prstDash val="solid"/>
                      <a:round/>
                      <a:headEnd type="none" w="med" len="med"/>
                      <a:tailEnd type="none" w="med" len="med"/>
                    </a:lnL>
                    <a:lnR w="12700" cap="flat" cmpd="sng" algn="ctr">
                      <a:solidFill>
                        <a:srgbClr val="FCFBF8"/>
                      </a:solidFill>
                      <a:prstDash val="solid"/>
                      <a:round/>
                      <a:headEnd type="none" w="med" len="med"/>
                      <a:tailEnd type="none" w="med" len="med"/>
                    </a:lnR>
                    <a:lnT w="12700" cap="flat" cmpd="sng" algn="ctr">
                      <a:solidFill>
                        <a:srgbClr val="D6D3CC"/>
                      </a:solidFill>
                      <a:prstDash val="solid"/>
                      <a:round/>
                      <a:headEnd type="none" w="med" len="med"/>
                      <a:tailEnd type="none" w="med" len="med"/>
                    </a:lnT>
                    <a:lnB w="12700" cap="flat" cmpd="sng" algn="ctr">
                      <a:solidFill>
                        <a:srgbClr val="D6D3CC"/>
                      </a:solidFill>
                      <a:prstDash val="solid"/>
                      <a:round/>
                      <a:headEnd type="none" w="med" len="med"/>
                      <a:tailEnd type="none" w="med" len="med"/>
                    </a:lnB>
                    <a:solidFill>
                      <a:srgbClr val="FCFBF8"/>
                    </a:solidFill>
                  </a:tcPr>
                </a:tc>
                <a:tc>
                  <a:txBody>
                    <a:bodyPr/>
                    <a:lstStyle/>
                    <a:p>
                      <a:pPr marL="0" indent="0">
                        <a:buNone/>
                      </a:pPr>
                      <a:r>
                        <a:rPr lang="en-US" sz="1450" dirty="0">
                          <a:solidFill>
                            <a:srgbClr val="2C2821"/>
                          </a:solidFill>
                          <a:latin typeface="Lora" pitchFamily="34" charset="0"/>
                          <a:ea typeface="Lora" pitchFamily="34" charset="-122"/>
                          <a:cs typeface="Lora" pitchFamily="34" charset="-120"/>
                        </a:rPr>
                        <a:t>GTIN</a:t>
                      </a:r>
                      <a:endParaRPr lang="en-US" sz="1450" dirty="0">
                        <a:latin typeface="Lora" pitchFamily="34" charset="0"/>
                        <a:ea typeface="Lora" pitchFamily="34" charset="0"/>
                        <a:cs typeface="Lora" pitchFamily="34" charset="0"/>
                      </a:endParaRPr>
                    </a:p>
                  </a:txBody>
                  <a:tcPr marL="186065" marR="186065" marT="6350" marB="6350" anchor="ctr">
                    <a:lnL w="12700" cap="flat" cmpd="sng" algn="ctr">
                      <a:solidFill>
                        <a:srgbClr val="FCFBF8"/>
                      </a:solidFill>
                      <a:prstDash val="solid"/>
                      <a:round/>
                      <a:headEnd type="none" w="med" len="med"/>
                      <a:tailEnd type="none" w="med" len="med"/>
                    </a:lnL>
                    <a:lnR w="12700" cap="flat" cmpd="sng" algn="ctr">
                      <a:solidFill>
                        <a:srgbClr val="FCFBF8"/>
                      </a:solidFill>
                      <a:prstDash val="solid"/>
                      <a:round/>
                      <a:headEnd type="none" w="med" len="med"/>
                      <a:tailEnd type="none" w="med" len="med"/>
                    </a:lnR>
                    <a:lnT w="12700" cap="flat" cmpd="sng" algn="ctr">
                      <a:solidFill>
                        <a:srgbClr val="D6D3CC"/>
                      </a:solidFill>
                      <a:prstDash val="solid"/>
                      <a:round/>
                      <a:headEnd type="none" w="med" len="med"/>
                      <a:tailEnd type="none" w="med" len="med"/>
                    </a:lnT>
                    <a:lnB w="12700" cap="flat" cmpd="sng" algn="ctr">
                      <a:solidFill>
                        <a:srgbClr val="D6D3CC"/>
                      </a:solidFill>
                      <a:prstDash val="solid"/>
                      <a:round/>
                      <a:headEnd type="none" w="med" len="med"/>
                      <a:tailEnd type="none" w="med" len="med"/>
                    </a:lnB>
                    <a:solidFill>
                      <a:srgbClr val="FCFBF8"/>
                    </a:solidFill>
                  </a:tcPr>
                </a:tc>
                <a:tc>
                  <a:txBody>
                    <a:bodyPr/>
                    <a:lstStyle/>
                    <a:p>
                      <a:pPr marL="0" indent="0">
                        <a:buNone/>
                      </a:pPr>
                      <a:r>
                        <a:rPr lang="en-US" sz="1450" dirty="0">
                          <a:solidFill>
                            <a:srgbClr val="2C2821"/>
                          </a:solidFill>
                          <a:latin typeface="Lora" pitchFamily="34" charset="0"/>
                          <a:ea typeface="Lora" pitchFamily="34" charset="-122"/>
                          <a:cs typeface="Lora" pitchFamily="34" charset="-120"/>
                        </a:rPr>
                        <a:t>Pengidentifikasi unik untuk jenis / varian produk — inti untuk inventaris dan pemesanan.</a:t>
                      </a:r>
                      <a:endParaRPr lang="en-US" sz="1450" dirty="0">
                        <a:latin typeface="Lora" pitchFamily="34" charset="0"/>
                        <a:ea typeface="Lora" pitchFamily="34" charset="0"/>
                        <a:cs typeface="Lora" pitchFamily="34" charset="0"/>
                      </a:endParaRPr>
                    </a:p>
                  </a:txBody>
                  <a:tcPr marL="186065" marR="186065" marT="6350" marB="6350" anchor="ctr">
                    <a:lnL w="12700" cap="flat" cmpd="sng" algn="ctr">
                      <a:solidFill>
                        <a:srgbClr val="FCFBF8"/>
                      </a:solidFill>
                      <a:prstDash val="solid"/>
                      <a:round/>
                      <a:headEnd type="none" w="med" len="med"/>
                      <a:tailEnd type="none" w="med" len="med"/>
                    </a:lnL>
                    <a:lnR w="12700" cap="flat" cmpd="sng" algn="ctr">
                      <a:solidFill>
                        <a:srgbClr val="D6D3CC"/>
                      </a:solidFill>
                      <a:prstDash val="solid"/>
                      <a:round/>
                      <a:headEnd type="none" w="med" len="med"/>
                      <a:tailEnd type="none" w="med" len="med"/>
                    </a:lnR>
                    <a:lnT w="12700" cap="flat" cmpd="sng" algn="ctr">
                      <a:solidFill>
                        <a:srgbClr val="D6D3CC"/>
                      </a:solidFill>
                      <a:prstDash val="solid"/>
                      <a:round/>
                      <a:headEnd type="none" w="med" len="med"/>
                      <a:tailEnd type="none" w="med" len="med"/>
                    </a:lnT>
                    <a:lnB w="12700" cap="flat" cmpd="sng" algn="ctr">
                      <a:solidFill>
                        <a:srgbClr val="D6D3CC"/>
                      </a:solidFill>
                      <a:prstDash val="solid"/>
                      <a:round/>
                      <a:headEnd type="none" w="med" len="med"/>
                      <a:tailEnd type="none" w="med" len="med"/>
                    </a:lnB>
                    <a:solidFill>
                      <a:srgbClr val="FCFBF8"/>
                    </a:solidFill>
                  </a:tcPr>
                </a:tc>
              </a:tr>
              <a:tr h="829250">
                <a:tc>
                  <a:txBody>
                    <a:bodyPr/>
                    <a:lstStyle/>
                    <a:p>
                      <a:pPr marL="0" indent="0">
                        <a:buNone/>
                      </a:pPr>
                      <a:r>
                        <a:rPr lang="en-US" sz="1450" dirty="0">
                          <a:solidFill>
                            <a:srgbClr val="2C2821"/>
                          </a:solidFill>
                          <a:latin typeface="Lora" pitchFamily="34" charset="0"/>
                          <a:ea typeface="Lora" pitchFamily="34" charset="-122"/>
                          <a:cs typeface="Lora" pitchFamily="34" charset="-120"/>
                        </a:rPr>
                        <a:t>(10)</a:t>
                      </a:r>
                      <a:endParaRPr lang="en-US" sz="1450" dirty="0">
                        <a:latin typeface="Lora" pitchFamily="34" charset="0"/>
                        <a:ea typeface="Lora" pitchFamily="34" charset="0"/>
                        <a:cs typeface="Lora" pitchFamily="34" charset="0"/>
                      </a:endParaRPr>
                    </a:p>
                  </a:txBody>
                  <a:tcPr marL="186065" marR="186065" marT="6350" marB="6350" anchor="ctr">
                    <a:lnL w="12700" cap="flat" cmpd="sng" algn="ctr">
                      <a:solidFill>
                        <a:srgbClr val="D6D3CC"/>
                      </a:solidFill>
                      <a:prstDash val="solid"/>
                      <a:round/>
                      <a:headEnd type="none" w="med" len="med"/>
                      <a:tailEnd type="none" w="med" len="med"/>
                    </a:lnL>
                    <a:lnR w="12700" cap="flat" cmpd="sng" algn="ctr">
                      <a:solidFill>
                        <a:srgbClr val="FCFBF8"/>
                      </a:solidFill>
                      <a:prstDash val="solid"/>
                      <a:round/>
                      <a:headEnd type="none" w="med" len="med"/>
                      <a:tailEnd type="none" w="med" len="med"/>
                    </a:lnR>
                    <a:lnT w="12700" cap="flat" cmpd="sng" algn="ctr">
                      <a:solidFill>
                        <a:srgbClr val="D6D3CC"/>
                      </a:solidFill>
                      <a:prstDash val="solid"/>
                      <a:round/>
                      <a:headEnd type="none" w="med" len="med"/>
                      <a:tailEnd type="none" w="med" len="med"/>
                    </a:lnT>
                    <a:lnB w="12700" cap="flat" cmpd="sng" algn="ctr">
                      <a:solidFill>
                        <a:srgbClr val="D6D3CC"/>
                      </a:solidFill>
                      <a:prstDash val="solid"/>
                      <a:round/>
                      <a:headEnd type="none" w="med" len="med"/>
                      <a:tailEnd type="none" w="med" len="med"/>
                    </a:lnB>
                    <a:solidFill>
                      <a:srgbClr val="FCFBF8"/>
                    </a:solidFill>
                  </a:tcPr>
                </a:tc>
                <a:tc>
                  <a:txBody>
                    <a:bodyPr/>
                    <a:lstStyle/>
                    <a:p>
                      <a:pPr marL="0" indent="0">
                        <a:buNone/>
                      </a:pPr>
                      <a:r>
                        <a:rPr lang="en-US" sz="1450" dirty="0">
                          <a:solidFill>
                            <a:srgbClr val="2C2821"/>
                          </a:solidFill>
                          <a:latin typeface="Lora" pitchFamily="34" charset="0"/>
                          <a:ea typeface="Lora" pitchFamily="34" charset="-122"/>
                          <a:cs typeface="Lora" pitchFamily="34" charset="-120"/>
                        </a:rPr>
                        <a:t>Batch / Lot</a:t>
                      </a:r>
                      <a:endParaRPr lang="en-US" sz="1450" dirty="0">
                        <a:latin typeface="Lora" pitchFamily="34" charset="0"/>
                        <a:ea typeface="Lora" pitchFamily="34" charset="0"/>
                        <a:cs typeface="Lora" pitchFamily="34" charset="0"/>
                      </a:endParaRPr>
                    </a:p>
                  </a:txBody>
                  <a:tcPr marL="186065" marR="186065" marT="6350" marB="6350" anchor="ctr">
                    <a:lnL w="12700" cap="flat" cmpd="sng" algn="ctr">
                      <a:solidFill>
                        <a:srgbClr val="FCFBF8"/>
                      </a:solidFill>
                      <a:prstDash val="solid"/>
                      <a:round/>
                      <a:headEnd type="none" w="med" len="med"/>
                      <a:tailEnd type="none" w="med" len="med"/>
                    </a:lnL>
                    <a:lnR w="12700" cap="flat" cmpd="sng" algn="ctr">
                      <a:solidFill>
                        <a:srgbClr val="FCFBF8"/>
                      </a:solidFill>
                      <a:prstDash val="solid"/>
                      <a:round/>
                      <a:headEnd type="none" w="med" len="med"/>
                      <a:tailEnd type="none" w="med" len="med"/>
                    </a:lnR>
                    <a:lnT w="12700" cap="flat" cmpd="sng" algn="ctr">
                      <a:solidFill>
                        <a:srgbClr val="D6D3CC"/>
                      </a:solidFill>
                      <a:prstDash val="solid"/>
                      <a:round/>
                      <a:headEnd type="none" w="med" len="med"/>
                      <a:tailEnd type="none" w="med" len="med"/>
                    </a:lnT>
                    <a:lnB w="12700" cap="flat" cmpd="sng" algn="ctr">
                      <a:solidFill>
                        <a:srgbClr val="D6D3CC"/>
                      </a:solidFill>
                      <a:prstDash val="solid"/>
                      <a:round/>
                      <a:headEnd type="none" w="med" len="med"/>
                      <a:tailEnd type="none" w="med" len="med"/>
                    </a:lnB>
                    <a:solidFill>
                      <a:srgbClr val="FCFBF8"/>
                    </a:solidFill>
                  </a:tcPr>
                </a:tc>
                <a:tc>
                  <a:txBody>
                    <a:bodyPr/>
                    <a:lstStyle/>
                    <a:p>
                      <a:pPr marL="0" indent="0">
                        <a:buNone/>
                      </a:pPr>
                      <a:r>
                        <a:rPr lang="en-US" sz="1450" dirty="0">
                          <a:solidFill>
                            <a:srgbClr val="2C2821"/>
                          </a:solidFill>
                          <a:latin typeface="Lora" pitchFamily="34" charset="0"/>
                          <a:ea typeface="Lora" pitchFamily="34" charset="-122"/>
                          <a:cs typeface="Lora" pitchFamily="34" charset="-120"/>
                        </a:rPr>
                        <a:t>Ketertelusuran untuk penarikan kembali dan pelacakan produksi.</a:t>
                      </a:r>
                      <a:endParaRPr lang="en-US" sz="1450" dirty="0">
                        <a:latin typeface="Lora" pitchFamily="34" charset="0"/>
                        <a:ea typeface="Lora" pitchFamily="34" charset="0"/>
                        <a:cs typeface="Lora" pitchFamily="34" charset="0"/>
                      </a:endParaRPr>
                    </a:p>
                  </a:txBody>
                  <a:tcPr marL="186065" marR="186065" marT="6350" marB="6350" anchor="ctr">
                    <a:lnL w="12700" cap="flat" cmpd="sng" algn="ctr">
                      <a:solidFill>
                        <a:srgbClr val="FCFBF8"/>
                      </a:solidFill>
                      <a:prstDash val="solid"/>
                      <a:round/>
                      <a:headEnd type="none" w="med" len="med"/>
                      <a:tailEnd type="none" w="med" len="med"/>
                    </a:lnL>
                    <a:lnR w="12700" cap="flat" cmpd="sng" algn="ctr">
                      <a:solidFill>
                        <a:srgbClr val="D6D3CC"/>
                      </a:solidFill>
                      <a:prstDash val="solid"/>
                      <a:round/>
                      <a:headEnd type="none" w="med" len="med"/>
                      <a:tailEnd type="none" w="med" len="med"/>
                    </a:lnR>
                    <a:lnT w="12700" cap="flat" cmpd="sng" algn="ctr">
                      <a:solidFill>
                        <a:srgbClr val="D6D3CC"/>
                      </a:solidFill>
                      <a:prstDash val="solid"/>
                      <a:round/>
                      <a:headEnd type="none" w="med" len="med"/>
                      <a:tailEnd type="none" w="med" len="med"/>
                    </a:lnT>
                    <a:lnB w="12700" cap="flat" cmpd="sng" algn="ctr">
                      <a:solidFill>
                        <a:srgbClr val="D6D3CC"/>
                      </a:solidFill>
                      <a:prstDash val="solid"/>
                      <a:round/>
                      <a:headEnd type="none" w="med" len="med"/>
                      <a:tailEnd type="none" w="med" len="med"/>
                    </a:lnB>
                    <a:solidFill>
                      <a:srgbClr val="FCFBF8"/>
                    </a:solidFill>
                  </a:tcPr>
                </a:tc>
              </a:tr>
              <a:tr h="829250">
                <a:tc>
                  <a:txBody>
                    <a:bodyPr/>
                    <a:lstStyle/>
                    <a:p>
                      <a:pPr marL="0" indent="0">
                        <a:buNone/>
                      </a:pPr>
                      <a:r>
                        <a:rPr lang="en-US" sz="1450" dirty="0">
                          <a:solidFill>
                            <a:srgbClr val="2C2821"/>
                          </a:solidFill>
                          <a:latin typeface="Lora" pitchFamily="34" charset="0"/>
                          <a:ea typeface="Lora" pitchFamily="34" charset="-122"/>
                          <a:cs typeface="Lora" pitchFamily="34" charset="-120"/>
                        </a:rPr>
                        <a:t>(17)</a:t>
                      </a:r>
                      <a:endParaRPr lang="en-US" sz="1450" dirty="0">
                        <a:latin typeface="Lora" pitchFamily="34" charset="0"/>
                        <a:ea typeface="Lora" pitchFamily="34" charset="0"/>
                        <a:cs typeface="Lora" pitchFamily="34" charset="0"/>
                      </a:endParaRPr>
                    </a:p>
                  </a:txBody>
                  <a:tcPr marL="186065" marR="186065" marT="6350" marB="6350" anchor="ctr">
                    <a:lnL w="12700" cap="flat" cmpd="sng" algn="ctr">
                      <a:solidFill>
                        <a:srgbClr val="D6D3CC"/>
                      </a:solidFill>
                      <a:prstDash val="solid"/>
                      <a:round/>
                      <a:headEnd type="none" w="med" len="med"/>
                      <a:tailEnd type="none" w="med" len="med"/>
                    </a:lnL>
                    <a:lnR w="12700" cap="flat" cmpd="sng" algn="ctr">
                      <a:solidFill>
                        <a:srgbClr val="FCFBF8"/>
                      </a:solidFill>
                      <a:prstDash val="solid"/>
                      <a:round/>
                      <a:headEnd type="none" w="med" len="med"/>
                      <a:tailEnd type="none" w="med" len="med"/>
                    </a:lnR>
                    <a:lnT w="12700" cap="flat" cmpd="sng" algn="ctr">
                      <a:solidFill>
                        <a:srgbClr val="D6D3CC"/>
                      </a:solidFill>
                      <a:prstDash val="solid"/>
                      <a:round/>
                      <a:headEnd type="none" w="med" len="med"/>
                      <a:tailEnd type="none" w="med" len="med"/>
                    </a:lnT>
                    <a:lnB w="12700" cap="flat" cmpd="sng" algn="ctr">
                      <a:solidFill>
                        <a:srgbClr val="D6D3CC"/>
                      </a:solidFill>
                      <a:prstDash val="solid"/>
                      <a:round/>
                      <a:headEnd type="none" w="med" len="med"/>
                      <a:tailEnd type="none" w="med" len="med"/>
                    </a:lnB>
                    <a:solidFill>
                      <a:srgbClr val="FCFBF8"/>
                    </a:solidFill>
                  </a:tcPr>
                </a:tc>
                <a:tc>
                  <a:txBody>
                    <a:bodyPr/>
                    <a:lstStyle/>
                    <a:p>
                      <a:pPr marL="0" indent="0">
                        <a:buNone/>
                      </a:pPr>
                      <a:r>
                        <a:rPr lang="en-US" sz="1450" dirty="0">
                          <a:solidFill>
                            <a:srgbClr val="2C2821"/>
                          </a:solidFill>
                          <a:latin typeface="Lora" pitchFamily="34" charset="0"/>
                          <a:ea typeface="Lora" pitchFamily="34" charset="-122"/>
                          <a:cs typeface="Lora" pitchFamily="34" charset="-120"/>
                        </a:rPr>
                        <a:t>Tanggal Kedaluwarsa</a:t>
                      </a:r>
                      <a:endParaRPr lang="en-US" sz="1450" dirty="0">
                        <a:latin typeface="Lora" pitchFamily="34" charset="0"/>
                        <a:ea typeface="Lora" pitchFamily="34" charset="0"/>
                        <a:cs typeface="Lora" pitchFamily="34" charset="0"/>
                      </a:endParaRPr>
                    </a:p>
                  </a:txBody>
                  <a:tcPr marL="186065" marR="186065" marT="6350" marB="6350" anchor="ctr">
                    <a:lnL w="12700" cap="flat" cmpd="sng" algn="ctr">
                      <a:solidFill>
                        <a:srgbClr val="FCFBF8"/>
                      </a:solidFill>
                      <a:prstDash val="solid"/>
                      <a:round/>
                      <a:headEnd type="none" w="med" len="med"/>
                      <a:tailEnd type="none" w="med" len="med"/>
                    </a:lnL>
                    <a:lnR w="12700" cap="flat" cmpd="sng" algn="ctr">
                      <a:solidFill>
                        <a:srgbClr val="FCFBF8"/>
                      </a:solidFill>
                      <a:prstDash val="solid"/>
                      <a:round/>
                      <a:headEnd type="none" w="med" len="med"/>
                      <a:tailEnd type="none" w="med" len="med"/>
                    </a:lnR>
                    <a:lnT w="12700" cap="flat" cmpd="sng" algn="ctr">
                      <a:solidFill>
                        <a:srgbClr val="D6D3CC"/>
                      </a:solidFill>
                      <a:prstDash val="solid"/>
                      <a:round/>
                      <a:headEnd type="none" w="med" len="med"/>
                      <a:tailEnd type="none" w="med" len="med"/>
                    </a:lnT>
                    <a:lnB w="12700" cap="flat" cmpd="sng" algn="ctr">
                      <a:solidFill>
                        <a:srgbClr val="D6D3CC"/>
                      </a:solidFill>
                      <a:prstDash val="solid"/>
                      <a:round/>
                      <a:headEnd type="none" w="med" len="med"/>
                      <a:tailEnd type="none" w="med" len="med"/>
                    </a:lnB>
                    <a:solidFill>
                      <a:srgbClr val="FCFBF8"/>
                    </a:solidFill>
                  </a:tcPr>
                </a:tc>
                <a:tc>
                  <a:txBody>
                    <a:bodyPr/>
                    <a:lstStyle/>
                    <a:p>
                      <a:pPr marL="0" indent="0">
                        <a:buNone/>
                      </a:pPr>
                      <a:r>
                        <a:rPr lang="en-US" sz="1450" dirty="0">
                          <a:solidFill>
                            <a:srgbClr val="2C2821"/>
                          </a:solidFill>
                          <a:latin typeface="Lora" pitchFamily="34" charset="0"/>
                          <a:ea typeface="Lora" pitchFamily="34" charset="-122"/>
                          <a:cs typeface="Lora" pitchFamily="34" charset="-120"/>
                        </a:rPr>
                        <a:t>Pengendalian masa berlaku (YYMMDD) — kritis untuk cold chain dan keamanan pangan.</a:t>
                      </a:r>
                      <a:endParaRPr lang="en-US" sz="1450" dirty="0">
                        <a:latin typeface="Lora" pitchFamily="34" charset="0"/>
                        <a:ea typeface="Lora" pitchFamily="34" charset="0"/>
                        <a:cs typeface="Lora" pitchFamily="34" charset="0"/>
                      </a:endParaRPr>
                    </a:p>
                  </a:txBody>
                  <a:tcPr marL="186065" marR="186065" marT="6350" marB="6350" anchor="ctr">
                    <a:lnL w="12700" cap="flat" cmpd="sng" algn="ctr">
                      <a:solidFill>
                        <a:srgbClr val="FCFBF8"/>
                      </a:solidFill>
                      <a:prstDash val="solid"/>
                      <a:round/>
                      <a:headEnd type="none" w="med" len="med"/>
                      <a:tailEnd type="none" w="med" len="med"/>
                    </a:lnL>
                    <a:lnR w="12700" cap="flat" cmpd="sng" algn="ctr">
                      <a:solidFill>
                        <a:srgbClr val="D6D3CC"/>
                      </a:solidFill>
                      <a:prstDash val="solid"/>
                      <a:round/>
                      <a:headEnd type="none" w="med" len="med"/>
                      <a:tailEnd type="none" w="med" len="med"/>
                    </a:lnR>
                    <a:lnT w="12700" cap="flat" cmpd="sng" algn="ctr">
                      <a:solidFill>
                        <a:srgbClr val="D6D3CC"/>
                      </a:solidFill>
                      <a:prstDash val="solid"/>
                      <a:round/>
                      <a:headEnd type="none" w="med" len="med"/>
                      <a:tailEnd type="none" w="med" len="med"/>
                    </a:lnT>
                    <a:lnB w="12700" cap="flat" cmpd="sng" algn="ctr">
                      <a:solidFill>
                        <a:srgbClr val="D6D3CC"/>
                      </a:solidFill>
                      <a:prstDash val="solid"/>
                      <a:round/>
                      <a:headEnd type="none" w="med" len="med"/>
                      <a:tailEnd type="none" w="med" len="med"/>
                    </a:lnB>
                    <a:solidFill>
                      <a:srgbClr val="FCFBF8"/>
                    </a:solidFill>
                  </a:tcPr>
                </a:tc>
              </a:tr>
              <a:tr h="826075">
                <a:tc>
                  <a:txBody>
                    <a:bodyPr/>
                    <a:lstStyle/>
                    <a:p>
                      <a:pPr marL="0" indent="0">
                        <a:buNone/>
                      </a:pPr>
                      <a:r>
                        <a:rPr lang="en-US" sz="1450" dirty="0">
                          <a:solidFill>
                            <a:srgbClr val="2C2821"/>
                          </a:solidFill>
                          <a:latin typeface="Lora" pitchFamily="34" charset="0"/>
                          <a:ea typeface="Lora" pitchFamily="34" charset="-122"/>
                          <a:cs typeface="Lora" pitchFamily="34" charset="-120"/>
                        </a:rPr>
                        <a:t>(21)</a:t>
                      </a:r>
                      <a:endParaRPr lang="en-US" sz="1450" dirty="0">
                        <a:latin typeface="Lora" pitchFamily="34" charset="0"/>
                        <a:ea typeface="Lora" pitchFamily="34" charset="0"/>
                        <a:cs typeface="Lora" pitchFamily="34" charset="0"/>
                      </a:endParaRPr>
                    </a:p>
                  </a:txBody>
                  <a:tcPr marL="186065" marR="186065" marT="6350" marB="6350" anchor="ctr">
                    <a:lnL w="12700" cap="flat" cmpd="sng" algn="ctr">
                      <a:solidFill>
                        <a:srgbClr val="D6D3CC"/>
                      </a:solidFill>
                      <a:prstDash val="solid"/>
                      <a:round/>
                      <a:headEnd type="none" w="med" len="med"/>
                      <a:tailEnd type="none" w="med" len="med"/>
                    </a:lnL>
                    <a:lnR w="12700" cap="flat" cmpd="sng" algn="ctr">
                      <a:solidFill>
                        <a:srgbClr val="FCFBF8"/>
                      </a:solidFill>
                      <a:prstDash val="solid"/>
                      <a:round/>
                      <a:headEnd type="none" w="med" len="med"/>
                      <a:tailEnd type="none" w="med" len="med"/>
                    </a:lnR>
                    <a:lnT w="12700" cap="flat" cmpd="sng" algn="ctr">
                      <a:solidFill>
                        <a:srgbClr val="D6D3CC"/>
                      </a:solidFill>
                      <a:prstDash val="solid"/>
                      <a:round/>
                      <a:headEnd type="none" w="med" len="med"/>
                      <a:tailEnd type="none" w="med" len="med"/>
                    </a:lnT>
                    <a:lnB w="12700" cap="flat" cmpd="sng" algn="ctr">
                      <a:solidFill>
                        <a:srgbClr val="D6D3CC"/>
                      </a:solidFill>
                      <a:prstDash val="solid"/>
                      <a:round/>
                      <a:headEnd type="none" w="med" len="med"/>
                      <a:tailEnd type="none" w="med" len="med"/>
                    </a:lnB>
                    <a:solidFill>
                      <a:srgbClr val="FCFBF8"/>
                    </a:solidFill>
                  </a:tcPr>
                </a:tc>
                <a:tc>
                  <a:txBody>
                    <a:bodyPr/>
                    <a:lstStyle/>
                    <a:p>
                      <a:pPr marL="0" indent="0">
                        <a:buNone/>
                      </a:pPr>
                      <a:r>
                        <a:rPr lang="en-US" sz="1450" dirty="0">
                          <a:solidFill>
                            <a:srgbClr val="2C2821"/>
                          </a:solidFill>
                          <a:latin typeface="Lora" pitchFamily="34" charset="0"/>
                          <a:ea typeface="Lora" pitchFamily="34" charset="-122"/>
                          <a:cs typeface="Lora" pitchFamily="34" charset="-120"/>
                        </a:rPr>
                        <a:t>Nomor Seri</a:t>
                      </a:r>
                      <a:endParaRPr lang="en-US" sz="1450" dirty="0">
                        <a:latin typeface="Lora" pitchFamily="34" charset="0"/>
                        <a:ea typeface="Lora" pitchFamily="34" charset="0"/>
                        <a:cs typeface="Lora" pitchFamily="34" charset="0"/>
                      </a:endParaRPr>
                    </a:p>
                  </a:txBody>
                  <a:tcPr marL="186065" marR="186065" marT="6350" marB="6350" anchor="ctr">
                    <a:lnL w="12700" cap="flat" cmpd="sng" algn="ctr">
                      <a:solidFill>
                        <a:srgbClr val="FCFBF8"/>
                      </a:solidFill>
                      <a:prstDash val="solid"/>
                      <a:round/>
                      <a:headEnd type="none" w="med" len="med"/>
                      <a:tailEnd type="none" w="med" len="med"/>
                    </a:lnL>
                    <a:lnR w="12700" cap="flat" cmpd="sng" algn="ctr">
                      <a:solidFill>
                        <a:srgbClr val="FCFBF8"/>
                      </a:solidFill>
                      <a:prstDash val="solid"/>
                      <a:round/>
                      <a:headEnd type="none" w="med" len="med"/>
                      <a:tailEnd type="none" w="med" len="med"/>
                    </a:lnR>
                    <a:lnT w="12700" cap="flat" cmpd="sng" algn="ctr">
                      <a:solidFill>
                        <a:srgbClr val="D6D3CC"/>
                      </a:solidFill>
                      <a:prstDash val="solid"/>
                      <a:round/>
                      <a:headEnd type="none" w="med" len="med"/>
                      <a:tailEnd type="none" w="med" len="med"/>
                    </a:lnT>
                    <a:lnB w="12700" cap="flat" cmpd="sng" algn="ctr">
                      <a:solidFill>
                        <a:srgbClr val="D6D3CC"/>
                      </a:solidFill>
                      <a:prstDash val="solid"/>
                      <a:round/>
                      <a:headEnd type="none" w="med" len="med"/>
                      <a:tailEnd type="none" w="med" len="med"/>
                    </a:lnB>
                    <a:solidFill>
                      <a:srgbClr val="FCFBF8"/>
                    </a:solidFill>
                  </a:tcPr>
                </a:tc>
                <a:tc>
                  <a:txBody>
                    <a:bodyPr/>
                    <a:lstStyle/>
                    <a:p>
                      <a:pPr marL="0" indent="0">
                        <a:buNone/>
                      </a:pPr>
                      <a:r>
                        <a:rPr lang="en-US" sz="1450" dirty="0">
                          <a:solidFill>
                            <a:srgbClr val="2C2821"/>
                          </a:solidFill>
                          <a:latin typeface="Lora" pitchFamily="34" charset="0"/>
                          <a:ea typeface="Lora" pitchFamily="34" charset="-122"/>
                          <a:cs typeface="Lora" pitchFamily="34" charset="-120"/>
                        </a:rPr>
                        <a:t>Keunikan tingkat unit untuk garansi, pengembalian, dan pelacakan siklus hidup.</a:t>
                      </a:r>
                      <a:endParaRPr lang="en-US" sz="1450" dirty="0">
                        <a:latin typeface="Lora" pitchFamily="34" charset="0"/>
                        <a:ea typeface="Lora" pitchFamily="34" charset="0"/>
                        <a:cs typeface="Lora" pitchFamily="34" charset="0"/>
                      </a:endParaRPr>
                    </a:p>
                  </a:txBody>
                  <a:tcPr marL="186065" marR="186065" marT="6350" marB="6350" anchor="ctr">
                    <a:lnL w="12700" cap="flat" cmpd="sng" algn="ctr">
                      <a:solidFill>
                        <a:srgbClr val="FCFBF8"/>
                      </a:solidFill>
                      <a:prstDash val="solid"/>
                      <a:round/>
                      <a:headEnd type="none" w="med" len="med"/>
                      <a:tailEnd type="none" w="med" len="med"/>
                    </a:lnL>
                    <a:lnR w="12700" cap="flat" cmpd="sng" algn="ctr">
                      <a:solidFill>
                        <a:srgbClr val="D6D3CC"/>
                      </a:solidFill>
                      <a:prstDash val="solid"/>
                      <a:round/>
                      <a:headEnd type="none" w="med" len="med"/>
                      <a:tailEnd type="none" w="med" len="med"/>
                    </a:lnR>
                    <a:lnT w="12700" cap="flat" cmpd="sng" algn="ctr">
                      <a:solidFill>
                        <a:srgbClr val="D6D3CC"/>
                      </a:solidFill>
                      <a:prstDash val="solid"/>
                      <a:round/>
                      <a:headEnd type="none" w="med" len="med"/>
                      <a:tailEnd type="none" w="med" len="med"/>
                    </a:lnT>
                    <a:lnB w="12700" cap="flat" cmpd="sng" algn="ctr">
                      <a:solidFill>
                        <a:srgbClr val="D6D3CC"/>
                      </a:solidFill>
                      <a:prstDash val="solid"/>
                      <a:round/>
                      <a:headEnd type="none" w="med" len="med"/>
                      <a:tailEnd type="none" w="med" len="med"/>
                    </a:lnB>
                    <a:solidFill>
                      <a:srgbClr val="FCFBF8"/>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780554"/>
            <a:ext cx="10868745" cy="472480"/>
          </a:xfrm>
          <a:prstGeom prst="rect">
            <a:avLst/>
          </a:prstGeom>
          <a:noFill/>
        </p:spPr>
        <p:txBody>
          <a:bodyPr wrap="none" lIns="0" tIns="0" rIns="0" bIns="0" rtlCol="0" anchor="t"/>
          <a:lstStyle/>
          <a:p>
            <a:pPr marL="0" indent="0" algn="l">
              <a:lnSpc>
                <a:spcPct val="104000"/>
              </a:lnSpc>
              <a:buNone/>
            </a:pPr>
            <a:r>
              <a:rPr lang="en-US" sz="2950" dirty="0">
                <a:solidFill>
                  <a:srgbClr val="233E32"/>
                </a:solidFill>
                <a:latin typeface="Alice" pitchFamily="34" charset="0"/>
                <a:ea typeface="Alice" pitchFamily="34" charset="-122"/>
                <a:cs typeface="Alice" pitchFamily="34" charset="-120"/>
              </a:rPr>
              <a:t>Klasifikasi Barcode: 1D vs 2D (Evolusi GS1)</a:t>
            </a:r>
            <a:endParaRPr lang="en-US" sz="2950" dirty="0"/>
          </a:p>
        </p:txBody>
      </p:sp>
      <p:pic>
        <p:nvPicPr>
          <p:cNvPr id="3" name="Image 0" descr="preencoded.png"/>
          <p:cNvPicPr>
            <a:picLocks noChangeAspect="1"/>
          </p:cNvPicPr>
          <p:nvPr/>
        </p:nvPicPr>
        <p:blipFill>
          <a:blip r:embed="rId1"/>
          <a:stretch>
            <a:fillRect/>
          </a:stretch>
        </p:blipFill>
        <p:spPr>
          <a:xfrm>
            <a:off x="661475" y="1850926"/>
            <a:ext cx="6903269" cy="3911898"/>
          </a:xfrm>
          <a:prstGeom prst="rect">
            <a:avLst/>
          </a:prstGeom>
        </p:spPr>
      </p:pic>
      <p:sp>
        <p:nvSpPr>
          <p:cNvPr id="4" name="Text 1"/>
          <p:cNvSpPr/>
          <p:nvPr/>
        </p:nvSpPr>
        <p:spPr>
          <a:xfrm>
            <a:off x="8032251" y="1725513"/>
            <a:ext cx="3504219" cy="295275"/>
          </a:xfrm>
          <a:prstGeom prst="rect">
            <a:avLst/>
          </a:prstGeom>
          <a:noFill/>
        </p:spPr>
        <p:txBody>
          <a:bodyPr wrap="none" lIns="0" tIns="0" rIns="0" bIns="0" rtlCol="0" anchor="t"/>
          <a:lstStyle/>
          <a:p>
            <a:pPr marL="0" indent="0" algn="l">
              <a:lnSpc>
                <a:spcPct val="104000"/>
              </a:lnSpc>
              <a:buNone/>
            </a:pPr>
            <a:r>
              <a:rPr lang="en-US" sz="1850" dirty="0">
                <a:solidFill>
                  <a:srgbClr val="233E32"/>
                </a:solidFill>
                <a:latin typeface="Alice" pitchFamily="34" charset="0"/>
                <a:ea typeface="Alice" pitchFamily="34" charset="-122"/>
                <a:cs typeface="Alice" pitchFamily="34" charset="-120"/>
              </a:rPr>
              <a:t>GS1‑128 (1D)</a:t>
            </a:r>
            <a:endParaRPr lang="en-US" sz="1850" dirty="0"/>
          </a:p>
        </p:txBody>
      </p:sp>
      <p:sp>
        <p:nvSpPr>
          <p:cNvPr id="5" name="Text 2"/>
          <p:cNvSpPr/>
          <p:nvPr/>
        </p:nvSpPr>
        <p:spPr>
          <a:xfrm>
            <a:off x="8032251" y="2209800"/>
            <a:ext cx="3504219" cy="1209675"/>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Barcode linear untuk bidang AI terstruktur; sangat cocok untuk pemindai industri berkecepatan tinggi dan jarak label yang jauh.</a:t>
            </a:r>
            <a:endParaRPr lang="en-US" sz="1450" dirty="0"/>
          </a:p>
        </p:txBody>
      </p:sp>
      <p:sp>
        <p:nvSpPr>
          <p:cNvPr id="6" name="Text 3"/>
          <p:cNvSpPr/>
          <p:nvPr/>
        </p:nvSpPr>
        <p:spPr>
          <a:xfrm>
            <a:off x="8032251" y="3608487"/>
            <a:ext cx="3504219" cy="295275"/>
          </a:xfrm>
          <a:prstGeom prst="rect">
            <a:avLst/>
          </a:prstGeom>
          <a:noFill/>
        </p:spPr>
        <p:txBody>
          <a:bodyPr wrap="none" lIns="0" tIns="0" rIns="0" bIns="0" rtlCol="0" anchor="t"/>
          <a:lstStyle/>
          <a:p>
            <a:pPr marL="0" indent="0" algn="l">
              <a:lnSpc>
                <a:spcPct val="104000"/>
              </a:lnSpc>
              <a:buNone/>
            </a:pPr>
            <a:r>
              <a:rPr lang="en-US" sz="1850" dirty="0">
                <a:solidFill>
                  <a:srgbClr val="233E32"/>
                </a:solidFill>
                <a:latin typeface="Alice" pitchFamily="34" charset="0"/>
                <a:ea typeface="Alice" pitchFamily="34" charset="-122"/>
                <a:cs typeface="Alice" pitchFamily="34" charset="-120"/>
              </a:rPr>
              <a:t>GS1 Digital Link / 2D (QR)</a:t>
            </a:r>
            <a:endParaRPr lang="en-US" sz="1850" dirty="0"/>
          </a:p>
        </p:txBody>
      </p:sp>
      <p:sp>
        <p:nvSpPr>
          <p:cNvPr id="7" name="Text 4"/>
          <p:cNvSpPr/>
          <p:nvPr/>
        </p:nvSpPr>
        <p:spPr>
          <a:xfrm>
            <a:off x="8032251" y="4092773"/>
            <a:ext cx="3504219" cy="1814513"/>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Mengodekan data terstruktur dan URL. Dapat dibaca oleh pemindai industri dan ponsel pintar — menjembatani sistem rantai pasok dengan layanan web (halaman produk, API ketertelusuran).</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69020"/>
            <a:ext cx="6296860" cy="856456"/>
          </a:xfrm>
          <a:prstGeom prst="rect">
            <a:avLst/>
          </a:prstGeom>
          <a:noFill/>
        </p:spPr>
        <p:txBody>
          <a:bodyPr wrap="square" lIns="0" tIns="0" rIns="0" bIns="0" rtlCol="0" anchor="t">
            <a:normAutofit/>
          </a:bodyPr>
          <a:lstStyle/>
          <a:p>
            <a:pPr marL="0" indent="0" algn="l">
              <a:lnSpc>
                <a:spcPct val="104000"/>
              </a:lnSpc>
              <a:buNone/>
            </a:pPr>
            <a:r>
              <a:rPr lang="en-US" sz="2650" dirty="0">
                <a:solidFill>
                  <a:srgbClr val="233E32"/>
                </a:solidFill>
                <a:latin typeface="Alice" pitchFamily="34" charset="0"/>
                <a:ea typeface="Alice" pitchFamily="34" charset="-122"/>
                <a:cs typeface="Alice" pitchFamily="34" charset="-120"/>
              </a:rPr>
              <a:t>SSCC — Paspor Unit Penanganan Logistik</a:t>
            </a:r>
            <a:endParaRPr lang="en-US" sz="2650" dirty="0"/>
          </a:p>
        </p:txBody>
      </p:sp>
      <p:sp>
        <p:nvSpPr>
          <p:cNvPr id="4" name="Text 1"/>
          <p:cNvSpPr/>
          <p:nvPr/>
        </p:nvSpPr>
        <p:spPr>
          <a:xfrm>
            <a:off x="661475" y="1658243"/>
            <a:ext cx="6296860" cy="783729"/>
          </a:xfrm>
          <a:prstGeom prst="rect">
            <a:avLst/>
          </a:prstGeom>
          <a:noFill/>
        </p:spPr>
        <p:txBody>
          <a:bodyPr wrap="square" lIns="0" tIns="0" rIns="0" bIns="0" rtlCol="0" anchor="t">
            <a:normAutofit/>
          </a:bodyPr>
          <a:lstStyle/>
          <a:p>
            <a:pPr marL="0" indent="0" algn="l">
              <a:lnSpc>
                <a:spcPct val="127000"/>
              </a:lnSpc>
              <a:buNone/>
            </a:pPr>
            <a:r>
              <a:rPr lang="en-US" sz="1300" dirty="0">
                <a:solidFill>
                  <a:srgbClr val="2C2821"/>
                </a:solidFill>
                <a:latin typeface="Lora" pitchFamily="34" charset="0"/>
                <a:ea typeface="Lora" pitchFamily="34" charset="-122"/>
                <a:cs typeface="Lora" pitchFamily="34" charset="-120"/>
              </a:rPr>
              <a:t>SSCC adalah identifier 18 digit yang diberikan kepada unit logistik (pallet, karton luar). Ini BUKAN ID produk — SSCC mengidentifikasi kontainer pengiriman dan menghubungkannya ke manifest di WMS/TMS.</a:t>
            </a:r>
            <a:endParaRPr lang="en-US" sz="1300" dirty="0"/>
          </a:p>
        </p:txBody>
      </p:sp>
      <p:pic>
        <p:nvPicPr>
          <p:cNvPr id="5"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616597"/>
            <a:ext cx="6296860" cy="1758553"/>
          </a:xfrm>
          <a:prstGeom prst="rect">
            <a:avLst/>
          </a:prstGeom>
        </p:spPr>
      </p:pic>
      <p:sp>
        <p:nvSpPr>
          <p:cNvPr id="6" name="Text 2"/>
          <p:cNvSpPr/>
          <p:nvPr/>
        </p:nvSpPr>
        <p:spPr>
          <a:xfrm>
            <a:off x="3707166" y="2745085"/>
            <a:ext cx="205477" cy="256877"/>
          </a:xfrm>
          <a:prstGeom prst="rect">
            <a:avLst/>
          </a:prstGeom>
          <a:noFill/>
        </p:spPr>
        <p:txBody>
          <a:bodyPr wrap="none" lIns="0" tIns="0" rIns="0" bIns="0" rtlCol="0" anchor="ctr"/>
          <a:lstStyle/>
          <a:p>
            <a:pPr marL="0" indent="0" algn="ctr">
              <a:lnSpc>
                <a:spcPct val="100000"/>
              </a:lnSpc>
              <a:buNone/>
            </a:pPr>
            <a:r>
              <a:rPr lang="en-US" sz="1600" dirty="0">
                <a:solidFill>
                  <a:srgbClr val="FFFFFF"/>
                </a:solidFill>
                <a:latin typeface="Alice" pitchFamily="34" charset="0"/>
                <a:ea typeface="Alice" pitchFamily="34" charset="-122"/>
                <a:cs typeface="Alice" pitchFamily="34" charset="-120"/>
              </a:rPr>
              <a:t>1</a:t>
            </a:r>
            <a:endParaRPr lang="en-US" sz="1600" dirty="0"/>
          </a:p>
        </p:txBody>
      </p:sp>
      <p:sp>
        <p:nvSpPr>
          <p:cNvPr id="7" name="Text 3"/>
          <p:cNvSpPr/>
          <p:nvPr/>
        </p:nvSpPr>
        <p:spPr>
          <a:xfrm>
            <a:off x="851772" y="3301702"/>
            <a:ext cx="5916266" cy="267593"/>
          </a:xfrm>
          <a:prstGeom prst="rect">
            <a:avLst/>
          </a:prstGeom>
          <a:noFill/>
        </p:spPr>
        <p:txBody>
          <a:bodyPr wrap="none" lIns="0" tIns="0" rIns="0" bIns="0" rtlCol="0" anchor="t"/>
          <a:lstStyle/>
          <a:p>
            <a:pPr marL="0" indent="0" algn="l">
              <a:lnSpc>
                <a:spcPct val="104000"/>
              </a:lnSpc>
              <a:buNone/>
            </a:pPr>
            <a:r>
              <a:rPr lang="en-US" sz="1650" dirty="0">
                <a:solidFill>
                  <a:srgbClr val="2C2821"/>
                </a:solidFill>
                <a:latin typeface="Alice" pitchFamily="34" charset="0"/>
                <a:ea typeface="Alice" pitchFamily="34" charset="-122"/>
                <a:cs typeface="Alice" pitchFamily="34" charset="-120"/>
              </a:rPr>
              <a:t>Penggunaan Utama</a:t>
            </a:r>
            <a:endParaRPr lang="en-US" sz="1650" dirty="0"/>
          </a:p>
        </p:txBody>
      </p:sp>
      <p:sp>
        <p:nvSpPr>
          <p:cNvPr id="8" name="Text 4"/>
          <p:cNvSpPr/>
          <p:nvPr/>
        </p:nvSpPr>
        <p:spPr>
          <a:xfrm>
            <a:off x="851772" y="3662363"/>
            <a:ext cx="5916266" cy="522486"/>
          </a:xfrm>
          <a:prstGeom prst="rect">
            <a:avLst/>
          </a:prstGeom>
          <a:noFill/>
        </p:spPr>
        <p:txBody>
          <a:bodyPr wrap="square" lIns="0" tIns="0" rIns="0" bIns="0" rtlCol="0" anchor="t">
            <a:normAutofit/>
          </a:bodyPr>
          <a:lstStyle/>
          <a:p>
            <a:pPr marL="0" indent="0" algn="l">
              <a:lnSpc>
                <a:spcPct val="127000"/>
              </a:lnSpc>
              <a:buNone/>
            </a:pPr>
            <a:r>
              <a:rPr lang="en-US" sz="1300" dirty="0">
                <a:solidFill>
                  <a:srgbClr val="2C2821"/>
                </a:solidFill>
                <a:latin typeface="Lora" pitchFamily="34" charset="0"/>
                <a:ea typeface="Lora" pitchFamily="34" charset="-122"/>
                <a:cs typeface="Lora" pitchFamily="34" charset="-120"/>
              </a:rPr>
              <a:t>Scanning inbound/outbound, rekonsiliasi ASN, cross-docking, traceability tanpa membuka kemasan.</a:t>
            </a:r>
            <a:endParaRPr lang="en-US" sz="1300" dirty="0"/>
          </a:p>
        </p:txBody>
      </p:sp>
      <p:pic>
        <p:nvPicPr>
          <p:cNvPr id="9" name="Image 2"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4530328"/>
            <a:ext cx="6296860" cy="1758553"/>
          </a:xfrm>
          <a:prstGeom prst="rect">
            <a:avLst/>
          </a:prstGeom>
        </p:spPr>
      </p:pic>
      <p:sp>
        <p:nvSpPr>
          <p:cNvPr id="10" name="Text 5"/>
          <p:cNvSpPr/>
          <p:nvPr/>
        </p:nvSpPr>
        <p:spPr>
          <a:xfrm>
            <a:off x="3707166" y="4658816"/>
            <a:ext cx="205477" cy="256877"/>
          </a:xfrm>
          <a:prstGeom prst="rect">
            <a:avLst/>
          </a:prstGeom>
          <a:noFill/>
        </p:spPr>
        <p:txBody>
          <a:bodyPr wrap="none" lIns="0" tIns="0" rIns="0" bIns="0" rtlCol="0" anchor="ctr"/>
          <a:lstStyle/>
          <a:p>
            <a:pPr marL="0" indent="0" algn="ctr">
              <a:lnSpc>
                <a:spcPct val="100000"/>
              </a:lnSpc>
              <a:buNone/>
            </a:pPr>
            <a:r>
              <a:rPr lang="en-US" sz="1600" dirty="0">
                <a:solidFill>
                  <a:srgbClr val="FFFFFF"/>
                </a:solidFill>
                <a:latin typeface="Alice" pitchFamily="34" charset="0"/>
                <a:ea typeface="Alice" pitchFamily="34" charset="-122"/>
                <a:cs typeface="Alice" pitchFamily="34" charset="-120"/>
              </a:rPr>
              <a:t>2</a:t>
            </a:r>
            <a:endParaRPr lang="en-US" sz="1600" dirty="0"/>
          </a:p>
        </p:txBody>
      </p:sp>
      <p:sp>
        <p:nvSpPr>
          <p:cNvPr id="11" name="Text 6"/>
          <p:cNvSpPr/>
          <p:nvPr/>
        </p:nvSpPr>
        <p:spPr>
          <a:xfrm>
            <a:off x="851772" y="5215434"/>
            <a:ext cx="5916266" cy="267593"/>
          </a:xfrm>
          <a:prstGeom prst="rect">
            <a:avLst/>
          </a:prstGeom>
          <a:noFill/>
        </p:spPr>
        <p:txBody>
          <a:bodyPr wrap="none" lIns="0" tIns="0" rIns="0" bIns="0" rtlCol="0" anchor="t"/>
          <a:lstStyle/>
          <a:p>
            <a:pPr marL="0" indent="0" algn="l">
              <a:lnSpc>
                <a:spcPct val="104000"/>
              </a:lnSpc>
              <a:buNone/>
            </a:pPr>
            <a:r>
              <a:rPr lang="en-US" sz="1650" dirty="0">
                <a:solidFill>
                  <a:srgbClr val="2C2821"/>
                </a:solidFill>
                <a:latin typeface="Alice" pitchFamily="34" charset="0"/>
                <a:ea typeface="Alice" pitchFamily="34" charset="-122"/>
                <a:cs typeface="Alice" pitchFamily="34" charset="-120"/>
              </a:rPr>
              <a:t>Siapa yang Mengalokasikan SSCC?</a:t>
            </a:r>
            <a:endParaRPr lang="en-US" sz="1650" dirty="0"/>
          </a:p>
        </p:txBody>
      </p:sp>
      <p:sp>
        <p:nvSpPr>
          <p:cNvPr id="12" name="Text 7"/>
          <p:cNvSpPr/>
          <p:nvPr/>
        </p:nvSpPr>
        <p:spPr>
          <a:xfrm>
            <a:off x="851772" y="5576094"/>
            <a:ext cx="5916266" cy="522486"/>
          </a:xfrm>
          <a:prstGeom prst="rect">
            <a:avLst/>
          </a:prstGeom>
          <a:noFill/>
        </p:spPr>
        <p:txBody>
          <a:bodyPr wrap="square" lIns="0" tIns="0" rIns="0" bIns="0" rtlCol="0" anchor="t">
            <a:normAutofit/>
          </a:bodyPr>
          <a:lstStyle/>
          <a:p>
            <a:pPr marL="0" indent="0" algn="l">
              <a:lnSpc>
                <a:spcPct val="127000"/>
              </a:lnSpc>
              <a:buNone/>
            </a:pPr>
            <a:r>
              <a:rPr lang="en-US" sz="1300" dirty="0">
                <a:solidFill>
                  <a:srgbClr val="2C2821"/>
                </a:solidFill>
                <a:latin typeface="Lora" pitchFamily="34" charset="0"/>
                <a:ea typeface="Lora" pitchFamily="34" charset="-122"/>
                <a:cs typeface="Lora" pitchFamily="34" charset="-120"/>
              </a:rPr>
              <a:t>Pengirim atau penyedia logistik menggunakan GS1 Company Prefix dan referensi serial internal.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481931"/>
            <a:ext cx="6296860" cy="472480"/>
          </a:xfrm>
          <a:prstGeom prst="rect">
            <a:avLst/>
          </a:prstGeom>
          <a:noFill/>
        </p:spPr>
        <p:txBody>
          <a:bodyPr wrap="none" lIns="0" tIns="0" rIns="0" bIns="0" rtlCol="0" anchor="t"/>
          <a:lstStyle/>
          <a:p>
            <a:pPr marL="0" indent="0" algn="l">
              <a:lnSpc>
                <a:spcPct val="104000"/>
              </a:lnSpc>
              <a:buNone/>
            </a:pPr>
            <a:r>
              <a:rPr lang="en-US" sz="2950" dirty="0">
                <a:solidFill>
                  <a:srgbClr val="233E32"/>
                </a:solidFill>
                <a:latin typeface="Alice" pitchFamily="34" charset="0"/>
                <a:ea typeface="Alice" pitchFamily="34" charset="-122"/>
                <a:cs typeface="Alice" pitchFamily="34" charset="-120"/>
              </a:rPr>
              <a:t>Format SSCC — Anatomi 18 Digit</a:t>
            </a:r>
            <a:endParaRPr lang="en-US" sz="2950" dirty="0"/>
          </a:p>
        </p:txBody>
      </p:sp>
      <p:sp>
        <p:nvSpPr>
          <p:cNvPr id="4" name="Text 1"/>
          <p:cNvSpPr/>
          <p:nvPr/>
        </p:nvSpPr>
        <p:spPr>
          <a:xfrm>
            <a:off x="661475" y="2237879"/>
            <a:ext cx="6906444" cy="241895"/>
          </a:xfrm>
          <a:prstGeom prst="rect">
            <a:avLst/>
          </a:prstGeom>
          <a:noFill/>
        </p:spPr>
        <p:txBody>
          <a:bodyPr wrap="none" lIns="0" tIns="0" rIns="0" bIns="0" rtlCol="0" anchor="t"/>
          <a:lstStyle/>
          <a:p>
            <a:pPr marL="0" indent="0" algn="l">
              <a:lnSpc>
                <a:spcPct val="133000"/>
              </a:lnSpc>
              <a:buNone/>
            </a:pPr>
            <a:r>
              <a:rPr lang="en-US" sz="1150" dirty="0">
                <a:solidFill>
                  <a:srgbClr val="2C2821"/>
                </a:solidFill>
                <a:latin typeface="Lora" pitchFamily="34" charset="0"/>
                <a:ea typeface="Lora" pitchFamily="34" charset="-122"/>
                <a:cs typeface="Lora" pitchFamily="34" charset="-120"/>
              </a:rPr>
              <a:t>(00) + Digit Ekstensi (1) + GS1 Company Prefix (7–10) + Referensi Serial + Digit Cek (1)</a:t>
            </a:r>
            <a:endParaRPr lang="en-US" sz="1150" dirty="0"/>
          </a:p>
        </p:txBody>
      </p:sp>
      <p:sp>
        <p:nvSpPr>
          <p:cNvPr id="5" name="Text 2"/>
          <p:cNvSpPr/>
          <p:nvPr/>
        </p:nvSpPr>
        <p:spPr>
          <a:xfrm>
            <a:off x="661475" y="2692400"/>
            <a:ext cx="6296860" cy="2683669"/>
          </a:xfrm>
          <a:prstGeom prst="rect">
            <a:avLst/>
          </a:prstGeom>
          <a:noFill/>
        </p:spPr>
        <p:txBody>
          <a:bodyPr wrap="square" lIns="0" tIns="0" rIns="0" bIns="0" rtlCol="0" anchor="t">
            <a:normAutofit/>
          </a:bodyPr>
          <a:lstStyle/>
          <a:p>
            <a:pPr marL="294640" indent="-294640" algn="l">
              <a:lnSpc>
                <a:spcPct val="133000"/>
              </a:lnSpc>
              <a:buSzPct val="100000"/>
              <a:buChar char="•"/>
            </a:pPr>
            <a:r>
              <a:rPr lang="en-US" sz="1450" dirty="0">
                <a:solidFill>
                  <a:srgbClr val="2C2821"/>
                </a:solidFill>
                <a:latin typeface="Lora" pitchFamily="34" charset="0"/>
                <a:ea typeface="Lora" pitchFamily="34" charset="-122"/>
                <a:cs typeface="Lora" pitchFamily="34" charset="-120"/>
              </a:rPr>
              <a:t>AI (00): menunjukkan bidang SSCC pada label.</a:t>
            </a:r>
            <a:endParaRPr lang="en-US" sz="1450" dirty="0"/>
          </a:p>
          <a:p>
            <a:pPr marL="294640" indent="-294640" algn="l">
              <a:lnSpc>
                <a:spcPct val="133000"/>
              </a:lnSpc>
              <a:buSzPct val="100000"/>
              <a:buChar char="•"/>
            </a:pPr>
            <a:r>
              <a:rPr lang="en-US" sz="1450" dirty="0">
                <a:solidFill>
                  <a:srgbClr val="2C2821"/>
                </a:solidFill>
                <a:latin typeface="Lora" pitchFamily="34" charset="0"/>
                <a:ea typeface="Lora" pitchFamily="34" charset="-122"/>
                <a:cs typeface="Lora" pitchFamily="34" charset="-120"/>
              </a:rPr>
              <a:t>Digit ekstensi: allocator internal untuk rentang penomoran yang diperluas.</a:t>
            </a:r>
            <a:endParaRPr lang="en-US" sz="1450" dirty="0"/>
          </a:p>
          <a:p>
            <a:pPr marL="294640" indent="-294640" algn="l">
              <a:lnSpc>
                <a:spcPct val="133000"/>
              </a:lnSpc>
              <a:buSzPct val="100000"/>
              <a:buChar char="•"/>
            </a:pPr>
            <a:r>
              <a:rPr lang="en-US" sz="1450" dirty="0">
                <a:solidFill>
                  <a:srgbClr val="2C2821"/>
                </a:solidFill>
                <a:latin typeface="Lora" pitchFamily="34" charset="0"/>
                <a:ea typeface="Lora" pitchFamily="34" charset="-122"/>
                <a:cs typeface="Lora" pitchFamily="34" charset="-120"/>
              </a:rPr>
              <a:t>Company Prefix: diterbitkan oleh GS1 Indonesia — menghubungkan SSCC ke organisasi.</a:t>
            </a:r>
            <a:endParaRPr lang="en-US" sz="1450" dirty="0"/>
          </a:p>
          <a:p>
            <a:pPr marL="294640" indent="-294640" algn="l">
              <a:lnSpc>
                <a:spcPct val="133000"/>
              </a:lnSpc>
              <a:buSzPct val="100000"/>
              <a:buChar char="•"/>
            </a:pPr>
            <a:r>
              <a:rPr lang="en-US" sz="1450" dirty="0">
                <a:solidFill>
                  <a:srgbClr val="2C2821"/>
                </a:solidFill>
                <a:latin typeface="Lora" pitchFamily="34" charset="0"/>
                <a:ea typeface="Lora" pitchFamily="34" charset="-122"/>
                <a:cs typeface="Lora" pitchFamily="34" charset="-120"/>
              </a:rPr>
              <a:t>Referensi serial: urutan unik untuk setiap unit logistik.</a:t>
            </a:r>
            <a:endParaRPr lang="en-US" sz="1450" dirty="0"/>
          </a:p>
          <a:p>
            <a:pPr marL="294640" indent="-294640" algn="l">
              <a:lnSpc>
                <a:spcPct val="133000"/>
              </a:lnSpc>
              <a:buSzPct val="100000"/>
              <a:buChar char="•"/>
            </a:pPr>
            <a:r>
              <a:rPr lang="en-US" sz="1450" dirty="0">
                <a:solidFill>
                  <a:srgbClr val="2C2821"/>
                </a:solidFill>
                <a:latin typeface="Lora" pitchFamily="34" charset="0"/>
                <a:ea typeface="Lora" pitchFamily="34" charset="-122"/>
                <a:cs typeface="Lora" pitchFamily="34" charset="-120"/>
              </a:rPr>
              <a:t>Digit cek: algoritma mod 10 untuk mendeteksi kesalahan pengetikan/pemindaian.</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721618"/>
            <a:ext cx="10868745" cy="472480"/>
          </a:xfrm>
          <a:prstGeom prst="rect">
            <a:avLst/>
          </a:prstGeom>
          <a:noFill/>
        </p:spPr>
        <p:txBody>
          <a:bodyPr wrap="none" lIns="0" tIns="0" rIns="0" bIns="0" rtlCol="0" anchor="t"/>
          <a:lstStyle/>
          <a:p>
            <a:pPr marL="0" indent="0" algn="l">
              <a:lnSpc>
                <a:spcPct val="104000"/>
              </a:lnSpc>
              <a:buNone/>
            </a:pPr>
            <a:r>
              <a:rPr lang="en-US" sz="2950" dirty="0">
                <a:solidFill>
                  <a:srgbClr val="233E32"/>
                </a:solidFill>
                <a:latin typeface="Alice" pitchFamily="34" charset="0"/>
                <a:ea typeface="Alice" pitchFamily="34" charset="-122"/>
                <a:cs typeface="Alice" pitchFamily="34" charset="-120"/>
              </a:rPr>
              <a:t>SSCC dalam Alur Inbound WMS (Siap Cross-Dock)</a:t>
            </a:r>
            <a:endParaRPr lang="en-US" sz="2950" dirty="0"/>
          </a:p>
        </p:txBody>
      </p:sp>
      <p:pic>
        <p:nvPicPr>
          <p:cNvPr id="3" name="Image 0" descr="preencoded.png"/>
          <p:cNvPicPr>
            <a:picLocks noChangeAspect="1"/>
          </p:cNvPicPr>
          <p:nvPr/>
        </p:nvPicPr>
        <p:blipFill>
          <a:blip r:embed="rId1"/>
          <a:stretch>
            <a:fillRect/>
          </a:stretch>
        </p:blipFill>
        <p:spPr>
          <a:xfrm>
            <a:off x="661475" y="2430760"/>
            <a:ext cx="4637269" cy="2752328"/>
          </a:xfrm>
          <a:prstGeom prst="rect">
            <a:avLst/>
          </a:prstGeom>
        </p:spPr>
      </p:pic>
      <p:sp>
        <p:nvSpPr>
          <p:cNvPr id="4" name="Text 1"/>
          <p:cNvSpPr/>
          <p:nvPr/>
        </p:nvSpPr>
        <p:spPr>
          <a:xfrm>
            <a:off x="3889092" y="4433638"/>
            <a:ext cx="1152730" cy="444128"/>
          </a:xfrm>
          <a:prstGeom prst="rect">
            <a:avLst/>
          </a:prstGeom>
          <a:noFill/>
        </p:spPr>
        <p:txBody>
          <a:bodyPr wrap="square" lIns="0" tIns="0" rIns="0" bIns="0" rtlCol="0" anchor="t">
            <a:normAutofit/>
          </a:bodyPr>
          <a:lstStyle/>
          <a:p>
            <a:pPr marL="0" indent="0" algn="ctr">
              <a:lnSpc>
                <a:spcPct val="104000"/>
              </a:lnSpc>
              <a:buNone/>
            </a:pPr>
            <a:r>
              <a:rPr lang="en-US" sz="1350" dirty="0">
                <a:solidFill>
                  <a:srgbClr val="2C2821"/>
                </a:solidFill>
                <a:latin typeface="Alice" pitchFamily="34" charset="0"/>
                <a:ea typeface="Alice" pitchFamily="34" charset="-122"/>
                <a:cs typeface="Alice" pitchFamily="34" charset="-120"/>
              </a:rPr>
              <a:t>WMS Merutekan</a:t>
            </a:r>
            <a:endParaRPr lang="en-US" sz="1350" dirty="0"/>
          </a:p>
        </p:txBody>
      </p:sp>
      <p:sp>
        <p:nvSpPr>
          <p:cNvPr id="5" name="Text 2"/>
          <p:cNvSpPr/>
          <p:nvPr/>
        </p:nvSpPr>
        <p:spPr>
          <a:xfrm>
            <a:off x="2436337" y="4544670"/>
            <a:ext cx="1152730" cy="222064"/>
          </a:xfrm>
          <a:prstGeom prst="rect">
            <a:avLst/>
          </a:prstGeom>
          <a:noFill/>
        </p:spPr>
        <p:txBody>
          <a:bodyPr wrap="none" lIns="0" tIns="0" rIns="0" bIns="0" rtlCol="0" anchor="t"/>
          <a:lstStyle/>
          <a:p>
            <a:pPr marL="0" indent="0" algn="ctr">
              <a:lnSpc>
                <a:spcPct val="104000"/>
              </a:lnSpc>
              <a:buNone/>
            </a:pPr>
            <a:r>
              <a:rPr lang="en-US" sz="1350" dirty="0">
                <a:solidFill>
                  <a:srgbClr val="2C2821"/>
                </a:solidFill>
                <a:latin typeface="Alice" pitchFamily="34" charset="0"/>
                <a:ea typeface="Alice" pitchFamily="34" charset="-122"/>
                <a:cs typeface="Alice" pitchFamily="34" charset="-120"/>
              </a:rPr>
              <a:t>Scan SSCC</a:t>
            </a:r>
            <a:endParaRPr lang="en-US" sz="1350" dirty="0"/>
          </a:p>
        </p:txBody>
      </p:sp>
      <p:sp>
        <p:nvSpPr>
          <p:cNvPr id="6" name="Text 3"/>
          <p:cNvSpPr/>
          <p:nvPr/>
        </p:nvSpPr>
        <p:spPr>
          <a:xfrm>
            <a:off x="959895" y="4544670"/>
            <a:ext cx="1152730" cy="222064"/>
          </a:xfrm>
          <a:prstGeom prst="rect">
            <a:avLst/>
          </a:prstGeom>
          <a:noFill/>
        </p:spPr>
        <p:txBody>
          <a:bodyPr wrap="none" lIns="0" tIns="0" rIns="0" bIns="0" rtlCol="0" anchor="t"/>
          <a:lstStyle/>
          <a:p>
            <a:pPr marL="0" indent="0" algn="ctr">
              <a:lnSpc>
                <a:spcPct val="104000"/>
              </a:lnSpc>
              <a:buNone/>
            </a:pPr>
            <a:r>
              <a:rPr lang="en-US" sz="1350" dirty="0">
                <a:solidFill>
                  <a:srgbClr val="2C2821"/>
                </a:solidFill>
                <a:latin typeface="Alice" pitchFamily="34" charset="0"/>
                <a:ea typeface="Alice" pitchFamily="34" charset="-122"/>
                <a:cs typeface="Alice" pitchFamily="34" charset="-120"/>
              </a:rPr>
              <a:t>ASN Dikirim</a:t>
            </a:r>
            <a:endParaRPr lang="en-US" sz="1350" dirty="0"/>
          </a:p>
        </p:txBody>
      </p:sp>
      <p:sp>
        <p:nvSpPr>
          <p:cNvPr id="7" name="Text 4"/>
          <p:cNvSpPr/>
          <p:nvPr/>
        </p:nvSpPr>
        <p:spPr>
          <a:xfrm>
            <a:off x="5766251" y="1647627"/>
            <a:ext cx="6379804" cy="302419"/>
          </a:xfrm>
          <a:prstGeom prst="rect">
            <a:avLst/>
          </a:prstGeom>
          <a:noFill/>
        </p:spPr>
        <p:txBody>
          <a:bodyPr wrap="none" lIns="0" tIns="0" rIns="0" bIns="0" rtlCol="0" anchor="t"/>
          <a:lstStyle/>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Urutan praktisnya:</a:t>
            </a:r>
            <a:endParaRPr lang="en-US" sz="1450" dirty="0"/>
          </a:p>
        </p:txBody>
      </p:sp>
      <p:sp>
        <p:nvSpPr>
          <p:cNvPr id="8" name="Text 5"/>
          <p:cNvSpPr/>
          <p:nvPr/>
        </p:nvSpPr>
        <p:spPr>
          <a:xfrm>
            <a:off x="5766251" y="2120106"/>
            <a:ext cx="5770220" cy="2249091"/>
          </a:xfrm>
          <a:prstGeom prst="rect">
            <a:avLst/>
          </a:prstGeom>
          <a:noFill/>
        </p:spPr>
        <p:txBody>
          <a:bodyPr wrap="square" lIns="0" tIns="0" rIns="0" bIns="0" rtlCol="0" anchor="t">
            <a:normAutofit/>
          </a:bodyPr>
          <a:lstStyle/>
          <a:p>
            <a:pPr marL="294640" indent="-294640" algn="l">
              <a:lnSpc>
                <a:spcPct val="133000"/>
              </a:lnSpc>
              <a:buSzPct val="100000"/>
              <a:buFont typeface="+mj-lt"/>
              <a:buAutoNum type="arabicPeriod"/>
            </a:pPr>
            <a:r>
              <a:rPr lang="en-US" sz="1450" dirty="0">
                <a:solidFill>
                  <a:srgbClr val="2C2821"/>
                </a:solidFill>
                <a:latin typeface="Lora" pitchFamily="34" charset="0"/>
                <a:ea typeface="Lora" pitchFamily="34" charset="-122"/>
                <a:cs typeface="Lora" pitchFamily="34" charset="-120"/>
              </a:rPr>
              <a:t>Supplier memberi label palet dengan SSCC dan mengirim ASN (mencakup SSCC, GTIN, jumlah, batch, expiry) melalui API.</a:t>
            </a:r>
            <a:endParaRPr lang="en-US" sz="1450" dirty="0"/>
          </a:p>
          <a:p>
            <a:pPr marL="294640" indent="-294640" algn="l">
              <a:lnSpc>
                <a:spcPct val="133000"/>
              </a:lnSpc>
              <a:buSzPct val="100000"/>
              <a:buFont typeface="+mj-lt"/>
              <a:buAutoNum type="arabicPeriod" startAt="2"/>
            </a:pPr>
            <a:r>
              <a:rPr lang="en-US" sz="1450" dirty="0">
                <a:solidFill>
                  <a:srgbClr val="2C2821"/>
                </a:solidFill>
                <a:latin typeface="Lora" pitchFamily="34" charset="0"/>
                <a:ea typeface="Lora" pitchFamily="34" charset="-122"/>
                <a:cs typeface="Lora" pitchFamily="34" charset="-120"/>
              </a:rPr>
              <a:t>Operator receiving memindai SSCC sekali — handheld atau scanner overhead — di pintu dock.</a:t>
            </a:r>
            <a:endParaRPr lang="en-US" sz="1450" dirty="0"/>
          </a:p>
          <a:p>
            <a:pPr marL="294640" indent="-294640" algn="l">
              <a:lnSpc>
                <a:spcPct val="133000"/>
              </a:lnSpc>
              <a:buSzPct val="100000"/>
              <a:buFont typeface="+mj-lt"/>
              <a:buAutoNum type="arabicPeriod" startAt="3"/>
            </a:pPr>
            <a:r>
              <a:rPr lang="en-US" sz="1450" dirty="0">
                <a:solidFill>
                  <a:srgbClr val="2C2821"/>
                </a:solidFill>
                <a:latin typeface="Lora" pitchFamily="34" charset="0"/>
                <a:ea typeface="Lora" pitchFamily="34" charset="-122"/>
                <a:cs typeface="Lora" pitchFamily="34" charset="-120"/>
              </a:rPr>
              <a:t>WMS memetakan SSCC ke manifest lalu memperbarui inventaris dan routing tanpa membuka palet, sehingga memungkinkan cross-dock cepat atau direct putaway.</a:t>
            </a:r>
            <a:endParaRPr lang="en-US" sz="1450" dirty="0"/>
          </a:p>
        </p:txBody>
      </p:sp>
      <p:sp>
        <p:nvSpPr>
          <p:cNvPr id="9" name="Shape 6"/>
          <p:cNvSpPr/>
          <p:nvPr/>
        </p:nvSpPr>
        <p:spPr>
          <a:xfrm>
            <a:off x="5766251" y="4581823"/>
            <a:ext cx="5770220" cy="1341834"/>
          </a:xfrm>
          <a:prstGeom prst="roundRect">
            <a:avLst>
              <a:gd name="adj" fmla="val 2113"/>
            </a:avLst>
          </a:prstGeom>
          <a:solidFill>
            <a:srgbClr val="D7F4E4"/>
          </a:solidFill>
        </p:spPr>
      </p:sp>
      <p:pic>
        <p:nvPicPr>
          <p:cNvPr id="10" name="Image 1" descr="preencoded.png"/>
          <p:cNvPicPr>
            <a:picLocks noChangeAspect="1"/>
          </p:cNvPicPr>
          <p:nvPr/>
        </p:nvPicPr>
        <p:blipFill>
          <a:blip r:embed="rId2"/>
          <a:stretch>
            <a:fillRect/>
          </a:stretch>
        </p:blipFill>
        <p:spPr>
          <a:xfrm>
            <a:off x="5955258" y="4868565"/>
            <a:ext cx="236234" cy="189012"/>
          </a:xfrm>
          <a:prstGeom prst="rect">
            <a:avLst/>
          </a:prstGeom>
        </p:spPr>
      </p:pic>
      <p:sp>
        <p:nvSpPr>
          <p:cNvPr id="11" name="Text 7"/>
          <p:cNvSpPr/>
          <p:nvPr/>
        </p:nvSpPr>
        <p:spPr>
          <a:xfrm>
            <a:off x="6380499" y="4799112"/>
            <a:ext cx="4966965" cy="907256"/>
          </a:xfrm>
          <a:prstGeom prst="rect">
            <a:avLst/>
          </a:prstGeom>
          <a:noFill/>
        </p:spPr>
        <p:txBody>
          <a:bodyPr wrap="square" lIns="0" tIns="0" rIns="0" bIns="0" rtlCol="0" anchor="t">
            <a:normAutofit/>
          </a:bodyPr>
          <a:lstStyle/>
          <a:p>
            <a:pPr marL="0" indent="0" algn="l">
              <a:lnSpc>
                <a:spcPct val="133000"/>
              </a:lnSpc>
              <a:buNone/>
            </a:pPr>
            <a:r>
              <a:rPr lang="en-US" sz="1450" dirty="0">
                <a:solidFill>
                  <a:srgbClr val="000000"/>
                </a:solidFill>
                <a:latin typeface="Lora" pitchFamily="34" charset="0"/>
                <a:ea typeface="Lora" pitchFamily="34" charset="-122"/>
                <a:cs typeface="Lora" pitchFamily="34" charset="-120"/>
              </a:rPr>
              <a:t>Hasil: Inbound sekali-scan mengurangi waktu receiving dan menghilangkan kebutuhan entri manual per baris item.</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584795"/>
            <a:ext cx="10868745" cy="435670"/>
          </a:xfrm>
          <a:prstGeom prst="rect">
            <a:avLst/>
          </a:prstGeom>
          <a:noFill/>
        </p:spPr>
        <p:txBody>
          <a:bodyPr wrap="none" lIns="0" tIns="0" rIns="0" bIns="0" rtlCol="0" anchor="t"/>
          <a:lstStyle/>
          <a:p>
            <a:pPr marL="0" indent="0" algn="l">
              <a:lnSpc>
                <a:spcPct val="104000"/>
              </a:lnSpc>
              <a:buNone/>
            </a:pPr>
            <a:r>
              <a:rPr lang="en-US" sz="2700" dirty="0">
                <a:solidFill>
                  <a:srgbClr val="233E32"/>
                </a:solidFill>
                <a:latin typeface="Alice" pitchFamily="34" charset="0"/>
                <a:ea typeface="Alice" pitchFamily="34" charset="-122"/>
                <a:cs typeface="Alice" pitchFamily="34" charset="-120"/>
              </a:rPr>
              <a:t>Anatomi e‑Label — Tata Letak Praktis untuk Label Logistik GS1</a:t>
            </a:r>
            <a:endParaRPr lang="en-US" sz="2700" dirty="0"/>
          </a:p>
        </p:txBody>
      </p:sp>
      <p:pic>
        <p:nvPicPr>
          <p:cNvPr id="3" name="Image 0" descr="preencoded.png"/>
          <p:cNvPicPr>
            <a:picLocks noChangeAspect="1"/>
          </p:cNvPicPr>
          <p:nvPr/>
        </p:nvPicPr>
        <p:blipFill>
          <a:blip r:embed="rId1"/>
          <a:stretch>
            <a:fillRect/>
          </a:stretch>
        </p:blipFill>
        <p:spPr>
          <a:xfrm>
            <a:off x="661475" y="1807666"/>
            <a:ext cx="6915870" cy="3919041"/>
          </a:xfrm>
          <a:prstGeom prst="rect">
            <a:avLst/>
          </a:prstGeom>
        </p:spPr>
      </p:pic>
      <p:sp>
        <p:nvSpPr>
          <p:cNvPr id="4" name="Text 1"/>
          <p:cNvSpPr/>
          <p:nvPr/>
        </p:nvSpPr>
        <p:spPr>
          <a:xfrm>
            <a:off x="8008737" y="1422003"/>
            <a:ext cx="3527734" cy="272157"/>
          </a:xfrm>
          <a:prstGeom prst="rect">
            <a:avLst/>
          </a:prstGeom>
          <a:noFill/>
        </p:spPr>
        <p:txBody>
          <a:bodyPr wrap="none" lIns="0" tIns="0" rIns="0" bIns="0" rtlCol="0" anchor="t"/>
          <a:lstStyle/>
          <a:p>
            <a:pPr marL="0" indent="0" algn="l">
              <a:lnSpc>
                <a:spcPct val="104000"/>
              </a:lnSpc>
              <a:buNone/>
            </a:pPr>
            <a:r>
              <a:rPr lang="en-US" sz="1700" dirty="0">
                <a:solidFill>
                  <a:srgbClr val="233E32"/>
                </a:solidFill>
                <a:latin typeface="Alice" pitchFamily="34" charset="0"/>
                <a:ea typeface="Alice" pitchFamily="34" charset="-122"/>
                <a:cs typeface="Alice" pitchFamily="34" charset="-120"/>
              </a:rPr>
              <a:t>Blok Label</a:t>
            </a:r>
            <a:endParaRPr lang="en-US" sz="1700" dirty="0"/>
          </a:p>
        </p:txBody>
      </p:sp>
      <p:sp>
        <p:nvSpPr>
          <p:cNvPr id="5" name="Text 2"/>
          <p:cNvSpPr/>
          <p:nvPr/>
        </p:nvSpPr>
        <p:spPr>
          <a:xfrm>
            <a:off x="8008737" y="1854795"/>
            <a:ext cx="3527734" cy="2790230"/>
          </a:xfrm>
          <a:prstGeom prst="rect">
            <a:avLst/>
          </a:prstGeom>
          <a:noFill/>
        </p:spPr>
        <p:txBody>
          <a:bodyPr wrap="square" lIns="0" tIns="0" rIns="0" bIns="0" rtlCol="0" anchor="t">
            <a:normAutofit/>
          </a:bodyPr>
          <a:lstStyle/>
          <a:p>
            <a:pPr marL="274320" indent="-274320" algn="l">
              <a:lnSpc>
                <a:spcPct val="128000"/>
              </a:lnSpc>
              <a:buSzPct val="100000"/>
              <a:buChar char="•"/>
            </a:pPr>
            <a:r>
              <a:rPr lang="en-US" sz="1350" b="1" dirty="0">
                <a:solidFill>
                  <a:srgbClr val="2C2821"/>
                </a:solidFill>
                <a:latin typeface="Lora Bold" pitchFamily="34" charset="0"/>
                <a:ea typeface="Lora Bold" pitchFamily="34" charset="-122"/>
                <a:cs typeface="Lora Bold" pitchFamily="34" charset="-120"/>
              </a:rPr>
              <a:t>Blok 1 — Terbaca manusia:</a:t>
            </a:r>
            <a:r>
              <a:rPr lang="en-US" sz="1350" dirty="0">
                <a:solidFill>
                  <a:srgbClr val="2C2821"/>
                </a:solidFill>
                <a:latin typeface="Lora" pitchFamily="34" charset="0"/>
                <a:ea typeface="Lora" pitchFamily="34" charset="-122"/>
                <a:cs typeface="Lora" pitchFamily="34" charset="-120"/>
              </a:rPr>
              <a:t> Pengirim, penerima, PO, jumlah palet, berat bruto.</a:t>
            </a:r>
            <a:endParaRPr lang="en-US" sz="1350" dirty="0"/>
          </a:p>
          <a:p>
            <a:pPr marL="274320" indent="-274320" algn="l">
              <a:lnSpc>
                <a:spcPct val="128000"/>
              </a:lnSpc>
              <a:buSzPct val="100000"/>
              <a:buChar char="•"/>
            </a:pPr>
            <a:r>
              <a:rPr lang="en-US" sz="1350" b="1" dirty="0">
                <a:solidFill>
                  <a:srgbClr val="2C2821"/>
                </a:solidFill>
                <a:latin typeface="Lora Bold" pitchFamily="34" charset="0"/>
                <a:ea typeface="Lora Bold" pitchFamily="34" charset="-122"/>
                <a:cs typeface="Lora Bold" pitchFamily="34" charset="-120"/>
              </a:rPr>
              <a:t>Blok 2 — Barcode item GS1‑128:</a:t>
            </a:r>
            <a:r>
              <a:rPr lang="en-US" sz="1350" dirty="0">
                <a:solidFill>
                  <a:srgbClr val="2C2821"/>
                </a:solidFill>
                <a:latin typeface="Lora" pitchFamily="34" charset="0"/>
                <a:ea typeface="Lora" pitchFamily="34" charset="-122"/>
                <a:cs typeface="Lora" pitchFamily="34" charset="-120"/>
              </a:rPr>
              <a:t> Mengkodekan AI seperti (01) GTIN, (10) batch, (17) kedaluwarsa untuk verifikasi item.</a:t>
            </a:r>
            <a:endParaRPr lang="en-US" sz="1350" dirty="0"/>
          </a:p>
          <a:p>
            <a:pPr marL="274320" indent="-274320" algn="l">
              <a:lnSpc>
                <a:spcPct val="128000"/>
              </a:lnSpc>
              <a:buSzPct val="100000"/>
              <a:buChar char="•"/>
            </a:pPr>
            <a:r>
              <a:rPr lang="en-US" sz="1350" b="1" dirty="0">
                <a:solidFill>
                  <a:srgbClr val="2C2821"/>
                </a:solidFill>
                <a:latin typeface="Lora Bold" pitchFamily="34" charset="0"/>
                <a:ea typeface="Lora Bold" pitchFamily="34" charset="-122"/>
                <a:cs typeface="Lora Bold" pitchFamily="34" charset="-120"/>
              </a:rPr>
              <a:t>Blok 3 — SSCC (00):</a:t>
            </a:r>
            <a:r>
              <a:rPr lang="en-US" sz="1350" dirty="0">
                <a:solidFill>
                  <a:srgbClr val="2C2821"/>
                </a:solidFill>
                <a:latin typeface="Lora" pitchFamily="34" charset="0"/>
                <a:ea typeface="Lora" pitchFamily="34" charset="-122"/>
                <a:cs typeface="Lora" pitchFamily="34" charset="-120"/>
              </a:rPr>
              <a:t> Barcode besar di bagian bawah untuk pemindaian forklift jarak jauh; berfungsi sebagai kunci ke manifest lengkap di WMS.</a:t>
            </a:r>
            <a:endParaRPr lang="en-US" sz="1350" dirty="0"/>
          </a:p>
        </p:txBody>
      </p:sp>
      <p:sp>
        <p:nvSpPr>
          <p:cNvPr id="6" name="Text 3"/>
          <p:cNvSpPr/>
          <p:nvPr/>
        </p:nvSpPr>
        <p:spPr>
          <a:xfrm>
            <a:off x="8008737" y="4789587"/>
            <a:ext cx="3527734" cy="1338957"/>
          </a:xfrm>
          <a:prstGeom prst="rect">
            <a:avLst/>
          </a:prstGeom>
          <a:noFill/>
        </p:spPr>
        <p:txBody>
          <a:bodyPr wrap="square" lIns="0" tIns="0" rIns="0" bIns="0" rtlCol="0" anchor="t">
            <a:normAutofit/>
          </a:bodyPr>
          <a:lstStyle/>
          <a:p>
            <a:pPr marL="0" indent="0" algn="l">
              <a:lnSpc>
                <a:spcPct val="128000"/>
              </a:lnSpc>
              <a:buNone/>
            </a:pPr>
            <a:r>
              <a:rPr lang="en-US" sz="1350" dirty="0">
                <a:solidFill>
                  <a:srgbClr val="2C2821"/>
                </a:solidFill>
                <a:latin typeface="Lora" pitchFamily="34" charset="0"/>
                <a:ea typeface="Lora" pitchFamily="34" charset="-122"/>
                <a:cs typeface="Lora" pitchFamily="34" charset="-120"/>
              </a:rPr>
              <a:t>Rancang label dengan pemisahan yang jelas, quiet zone, dan kontras agar pemindai industri dan kamera smartphone dapat membaca dengan andal dalam pencahayaan yang bervariasi.</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807442"/>
            <a:ext cx="6296860" cy="886023"/>
          </a:xfrm>
          <a:prstGeom prst="rect">
            <a:avLst/>
          </a:prstGeom>
          <a:noFill/>
        </p:spPr>
        <p:txBody>
          <a:bodyPr wrap="square" lIns="0" tIns="0" rIns="0" bIns="0" rtlCol="0" anchor="t">
            <a:normAutofit/>
          </a:bodyPr>
          <a:lstStyle/>
          <a:p>
            <a:pPr marL="0" indent="0" algn="l">
              <a:lnSpc>
                <a:spcPct val="104000"/>
              </a:lnSpc>
              <a:buNone/>
            </a:pPr>
            <a:r>
              <a:rPr lang="en-US" sz="2750" dirty="0">
                <a:solidFill>
                  <a:srgbClr val="233E32"/>
                </a:solidFill>
                <a:latin typeface="Alice" pitchFamily="34" charset="0"/>
                <a:ea typeface="Alice" pitchFamily="34" charset="-122"/>
                <a:cs typeface="Alice" pitchFamily="34" charset="-120"/>
              </a:rPr>
              <a:t>Integrasi AIDC ke Proyek Kelompok (Blueprint SRS)</a:t>
            </a:r>
            <a:endParaRPr lang="en-US" sz="2750" dirty="0"/>
          </a:p>
        </p:txBody>
      </p:sp>
      <p:sp>
        <p:nvSpPr>
          <p:cNvPr id="4" name="Text 1"/>
          <p:cNvSpPr/>
          <p:nvPr/>
        </p:nvSpPr>
        <p:spPr>
          <a:xfrm>
            <a:off x="5233360" y="1942604"/>
            <a:ext cx="6906444" cy="274638"/>
          </a:xfrm>
          <a:prstGeom prst="rect">
            <a:avLst/>
          </a:prstGeom>
          <a:noFill/>
        </p:spPr>
        <p:txBody>
          <a:bodyPr wrap="none" lIns="0" tIns="0" rIns="0" bIns="0" rtlCol="0" anchor="t"/>
          <a:lstStyle/>
          <a:p>
            <a:pPr marL="0" indent="0" algn="l">
              <a:lnSpc>
                <a:spcPct val="129000"/>
              </a:lnSpc>
              <a:buNone/>
            </a:pPr>
            <a:r>
              <a:rPr lang="en-US" sz="1350" dirty="0">
                <a:solidFill>
                  <a:srgbClr val="2C2821"/>
                </a:solidFill>
                <a:latin typeface="Lora" pitchFamily="34" charset="0"/>
                <a:ea typeface="Lora" pitchFamily="34" charset="-122"/>
                <a:cs typeface="Lora" pitchFamily="34" charset="-120"/>
              </a:rPr>
              <a:t>Bagaimana Menerapkan Topik Ini di Proyek Kelompok Anda?</a:t>
            </a:r>
            <a:endParaRPr lang="en-US" sz="1350" dirty="0"/>
          </a:p>
        </p:txBody>
      </p:sp>
      <p:pic>
        <p:nvPicPr>
          <p:cNvPr id="5"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590899"/>
            <a:ext cx="1855642" cy="3270548"/>
          </a:xfrm>
          <a:prstGeom prst="rect">
            <a:avLst/>
          </a:prstGeom>
        </p:spPr>
      </p:pic>
      <p:pic>
        <p:nvPicPr>
          <p:cNvPr id="6"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54772" y="2750344"/>
            <a:ext cx="212620" cy="212626"/>
          </a:xfrm>
          <a:prstGeom prst="rect">
            <a:avLst/>
          </a:prstGeom>
        </p:spPr>
      </p:pic>
      <p:sp>
        <p:nvSpPr>
          <p:cNvPr id="7" name="Text 2"/>
          <p:cNvSpPr/>
          <p:nvPr/>
        </p:nvSpPr>
        <p:spPr>
          <a:xfrm>
            <a:off x="5429610" y="3299718"/>
            <a:ext cx="1463142" cy="276920"/>
          </a:xfrm>
          <a:prstGeom prst="rect">
            <a:avLst/>
          </a:prstGeom>
          <a:noFill/>
        </p:spPr>
        <p:txBody>
          <a:bodyPr wrap="none" lIns="0" tIns="0" rIns="0" bIns="0" rtlCol="0" anchor="t"/>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Tim Hardware</a:t>
            </a:r>
            <a:endParaRPr lang="en-US" sz="1700" dirty="0"/>
          </a:p>
        </p:txBody>
      </p:sp>
      <p:sp>
        <p:nvSpPr>
          <p:cNvPr id="8" name="Text 3"/>
          <p:cNvSpPr/>
          <p:nvPr/>
        </p:nvSpPr>
        <p:spPr>
          <a:xfrm>
            <a:off x="5429610" y="3742730"/>
            <a:ext cx="1463142" cy="1922463"/>
          </a:xfrm>
          <a:prstGeom prst="rect">
            <a:avLst/>
          </a:prstGeom>
          <a:noFill/>
        </p:spPr>
        <p:txBody>
          <a:bodyPr wrap="square" lIns="0" tIns="0" rIns="0" bIns="0" rtlCol="0" anchor="t">
            <a:normAutofit/>
          </a:bodyPr>
          <a:lstStyle/>
          <a:p>
            <a:pPr marL="0" indent="0" algn="l">
              <a:lnSpc>
                <a:spcPct val="129000"/>
              </a:lnSpc>
              <a:buNone/>
            </a:pPr>
            <a:r>
              <a:rPr lang="en-US" sz="1350" dirty="0">
                <a:solidFill>
                  <a:srgbClr val="2C2821"/>
                </a:solidFill>
                <a:latin typeface="Lora" pitchFamily="34" charset="0"/>
                <a:ea typeface="Lora" pitchFamily="34" charset="-122"/>
                <a:cs typeface="Lora" pitchFamily="34" charset="-120"/>
              </a:rPr>
              <a:t>Menentukan jenis Industrial PDA Scanner, High-Speed Barcode Reader, atau printer e-Label yang dipakai.</a:t>
            </a:r>
            <a:endParaRPr lang="en-US" sz="1350" dirty="0"/>
          </a:p>
        </p:txBody>
      </p:sp>
      <p:pic>
        <p:nvPicPr>
          <p:cNvPr id="9" name="Image 3"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27538" y="2590899"/>
            <a:ext cx="1788373" cy="3272830"/>
          </a:xfrm>
          <a:prstGeom prst="rect">
            <a:avLst/>
          </a:prstGeom>
        </p:spPr>
      </p:pic>
      <p:pic>
        <p:nvPicPr>
          <p:cNvPr id="10" name="Image 4"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315315" y="2750344"/>
            <a:ext cx="212620" cy="212626"/>
          </a:xfrm>
          <a:prstGeom prst="rect">
            <a:avLst/>
          </a:prstGeom>
        </p:spPr>
      </p:pic>
      <p:sp>
        <p:nvSpPr>
          <p:cNvPr id="11" name="Text 4"/>
          <p:cNvSpPr/>
          <p:nvPr/>
        </p:nvSpPr>
        <p:spPr>
          <a:xfrm>
            <a:off x="7723788" y="3299718"/>
            <a:ext cx="1395874" cy="553839"/>
          </a:xfrm>
          <a:prstGeom prst="rect">
            <a:avLst/>
          </a:prstGeom>
          <a:noFill/>
        </p:spPr>
        <p:txBody>
          <a:bodyPr wrap="square" lIns="0" tIns="0" rIns="0" bIns="0" rtlCol="0" anchor="t">
            <a:normAutofit/>
          </a:bodyPr>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Tim Software (WMS/TMS)</a:t>
            </a:r>
            <a:endParaRPr lang="en-US" sz="1700" dirty="0"/>
          </a:p>
        </p:txBody>
      </p:sp>
      <p:sp>
        <p:nvSpPr>
          <p:cNvPr id="12" name="Text 5"/>
          <p:cNvSpPr/>
          <p:nvPr/>
        </p:nvSpPr>
        <p:spPr>
          <a:xfrm>
            <a:off x="7723788" y="4019649"/>
            <a:ext cx="1395874" cy="1647825"/>
          </a:xfrm>
          <a:prstGeom prst="rect">
            <a:avLst/>
          </a:prstGeom>
          <a:noFill/>
        </p:spPr>
        <p:txBody>
          <a:bodyPr wrap="square" lIns="0" tIns="0" rIns="0" bIns="0" rtlCol="0" anchor="t">
            <a:normAutofit/>
          </a:bodyPr>
          <a:lstStyle/>
          <a:p>
            <a:pPr marL="0" indent="0" algn="l">
              <a:lnSpc>
                <a:spcPct val="129000"/>
              </a:lnSpc>
              <a:buNone/>
            </a:pPr>
            <a:r>
              <a:rPr lang="en-US" sz="1350" dirty="0">
                <a:solidFill>
                  <a:srgbClr val="2C2821"/>
                </a:solidFill>
                <a:latin typeface="Lora" pitchFamily="34" charset="0"/>
                <a:ea typeface="Lora" pitchFamily="34" charset="-122"/>
                <a:cs typeface="Lora" pitchFamily="34" charset="-120"/>
              </a:rPr>
              <a:t>Merancang modul Scanning &amp; Validation pada flowchart receiving/shipping.</a:t>
            </a:r>
            <a:endParaRPr lang="en-US" sz="1350" dirty="0"/>
          </a:p>
        </p:txBody>
      </p:sp>
      <p:pic>
        <p:nvPicPr>
          <p:cNvPr id="13" name="Image 5"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54447" y="2590899"/>
            <a:ext cx="1788373" cy="3272830"/>
          </a:xfrm>
          <a:prstGeom prst="rect">
            <a:avLst/>
          </a:prstGeom>
        </p:spPr>
      </p:pic>
      <p:pic>
        <p:nvPicPr>
          <p:cNvPr id="14" name="Image 6"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542225" y="2750344"/>
            <a:ext cx="212620" cy="212626"/>
          </a:xfrm>
          <a:prstGeom prst="rect">
            <a:avLst/>
          </a:prstGeom>
        </p:spPr>
      </p:pic>
      <p:sp>
        <p:nvSpPr>
          <p:cNvPr id="15" name="Text 6"/>
          <p:cNvSpPr/>
          <p:nvPr/>
        </p:nvSpPr>
        <p:spPr>
          <a:xfrm>
            <a:off x="9950697" y="3299718"/>
            <a:ext cx="1395874" cy="553839"/>
          </a:xfrm>
          <a:prstGeom prst="rect">
            <a:avLst/>
          </a:prstGeom>
          <a:noFill/>
        </p:spPr>
        <p:txBody>
          <a:bodyPr wrap="square" lIns="0" tIns="0" rIns="0" bIns="0" rtlCol="0" anchor="t">
            <a:normAutofit/>
          </a:bodyPr>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Tim Integrasi (PoC)</a:t>
            </a:r>
            <a:endParaRPr lang="en-US" sz="1700" dirty="0"/>
          </a:p>
        </p:txBody>
      </p:sp>
      <p:sp>
        <p:nvSpPr>
          <p:cNvPr id="16" name="Text 7"/>
          <p:cNvSpPr/>
          <p:nvPr/>
        </p:nvSpPr>
        <p:spPr>
          <a:xfrm>
            <a:off x="9950697" y="4019649"/>
            <a:ext cx="1395874" cy="1647825"/>
          </a:xfrm>
          <a:prstGeom prst="rect">
            <a:avLst/>
          </a:prstGeom>
          <a:noFill/>
        </p:spPr>
        <p:txBody>
          <a:bodyPr wrap="square" lIns="0" tIns="0" rIns="0" bIns="0" rtlCol="0" anchor="t">
            <a:normAutofit/>
          </a:bodyPr>
          <a:lstStyle/>
          <a:p>
            <a:pPr marL="0" indent="0" algn="l">
              <a:lnSpc>
                <a:spcPct val="129000"/>
              </a:lnSpc>
              <a:buNone/>
            </a:pPr>
            <a:r>
              <a:rPr lang="en-US" sz="1350" dirty="0">
                <a:solidFill>
                  <a:srgbClr val="2C2821"/>
                </a:solidFill>
                <a:latin typeface="Lora" pitchFamily="34" charset="0"/>
                <a:ea typeface="Lora" pitchFamily="34" charset="-122"/>
                <a:cs typeface="Lora" pitchFamily="34" charset="-120"/>
              </a:rPr>
              <a:t>Merancang struktur payload JSON/API yang membawa parameter kode SSCC dan GTIN.</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658713"/>
            <a:ext cx="6296860" cy="1162844"/>
          </a:xfrm>
          <a:prstGeom prst="rect">
            <a:avLst/>
          </a:prstGeom>
          <a:noFill/>
        </p:spPr>
        <p:txBody>
          <a:bodyPr wrap="square" lIns="0" tIns="0" rIns="0" bIns="0" rtlCol="0" anchor="t">
            <a:normAutofit/>
          </a:bodyPr>
          <a:lstStyle/>
          <a:p>
            <a:pPr marL="0" indent="0" algn="l">
              <a:lnSpc>
                <a:spcPct val="104000"/>
              </a:lnSpc>
              <a:buNone/>
            </a:pPr>
            <a:r>
              <a:rPr lang="en-US" sz="3650" dirty="0">
                <a:solidFill>
                  <a:srgbClr val="233E32"/>
                </a:solidFill>
                <a:latin typeface="Alice" pitchFamily="34" charset="0"/>
                <a:ea typeface="Alice" pitchFamily="34" charset="-122"/>
                <a:cs typeface="Alice" pitchFamily="34" charset="-120"/>
              </a:rPr>
              <a:t>Tantangan Integrasi Hardware AIDC</a:t>
            </a:r>
            <a:endParaRPr lang="en-US" sz="3650" dirty="0"/>
          </a:p>
        </p:txBody>
      </p:sp>
      <p:sp>
        <p:nvSpPr>
          <p:cNvPr id="4" name="Text 1"/>
          <p:cNvSpPr/>
          <p:nvPr/>
        </p:nvSpPr>
        <p:spPr>
          <a:xfrm>
            <a:off x="661475" y="2096294"/>
            <a:ext cx="6906444" cy="295275"/>
          </a:xfrm>
          <a:prstGeom prst="rect">
            <a:avLst/>
          </a:prstGeom>
          <a:noFill/>
        </p:spPr>
        <p:txBody>
          <a:bodyPr wrap="none" lIns="0" tIns="0" rIns="0" bIns="0" rtlCol="0" anchor="t"/>
          <a:lstStyle/>
          <a:p>
            <a:pPr marL="0" indent="0" algn="l">
              <a:lnSpc>
                <a:spcPct val="132000"/>
              </a:lnSpc>
              <a:buNone/>
            </a:pPr>
            <a:r>
              <a:rPr lang="en-US" sz="1450" dirty="0">
                <a:solidFill>
                  <a:srgbClr val="2C2821"/>
                </a:solidFill>
                <a:latin typeface="Lora" pitchFamily="34" charset="0"/>
                <a:ea typeface="Lora" pitchFamily="34" charset="-122"/>
                <a:cs typeface="Lora" pitchFamily="34" charset="-120"/>
              </a:rPr>
              <a:t>Menghubungkan Dunia Fisik dengan Server Digital</a:t>
            </a:r>
            <a:endParaRPr lang="en-US" sz="1450" dirty="0"/>
          </a:p>
        </p:txBody>
      </p:sp>
      <p:sp>
        <p:nvSpPr>
          <p:cNvPr id="5" name="Shape 2"/>
          <p:cNvSpPr/>
          <p:nvPr/>
        </p:nvSpPr>
        <p:spPr>
          <a:xfrm>
            <a:off x="661475" y="2597547"/>
            <a:ext cx="6296860" cy="1709241"/>
          </a:xfrm>
          <a:prstGeom prst="roundRect">
            <a:avLst>
              <a:gd name="adj" fmla="val 1633"/>
            </a:avLst>
          </a:prstGeom>
          <a:solidFill>
            <a:srgbClr val="FCFBF8"/>
          </a:solidFill>
          <a:ln w="25399">
            <a:solidFill>
              <a:srgbClr val="D6D3CC"/>
            </a:solidFill>
            <a:prstDash val="solid"/>
          </a:ln>
        </p:spPr>
      </p:sp>
      <p:sp>
        <p:nvSpPr>
          <p:cNvPr id="6" name="Text 3"/>
          <p:cNvSpPr/>
          <p:nvPr/>
        </p:nvSpPr>
        <p:spPr>
          <a:xfrm>
            <a:off x="872905" y="2808982"/>
            <a:ext cx="5874000" cy="290711"/>
          </a:xfrm>
          <a:prstGeom prst="rect">
            <a:avLst/>
          </a:prstGeom>
          <a:noFill/>
        </p:spPr>
        <p:txBody>
          <a:bodyPr wrap="none" lIns="0" tIns="0" rIns="0" bIns="0" rtlCol="0" anchor="t"/>
          <a:lstStyle/>
          <a:p>
            <a:pPr marL="0" indent="0" algn="l">
              <a:lnSpc>
                <a:spcPct val="104000"/>
              </a:lnSpc>
              <a:buNone/>
            </a:pPr>
            <a:r>
              <a:rPr lang="en-US" sz="1800" dirty="0">
                <a:solidFill>
                  <a:srgbClr val="2C2821"/>
                </a:solidFill>
                <a:latin typeface="Alice" pitchFamily="34" charset="0"/>
                <a:ea typeface="Alice" pitchFamily="34" charset="-122"/>
                <a:cs typeface="Alice" pitchFamily="34" charset="-120"/>
              </a:rPr>
              <a:t>Masalahnya</a:t>
            </a:r>
            <a:endParaRPr lang="en-US" sz="1800" dirty="0"/>
          </a:p>
        </p:txBody>
      </p:sp>
      <p:sp>
        <p:nvSpPr>
          <p:cNvPr id="7" name="Text 4"/>
          <p:cNvSpPr/>
          <p:nvPr/>
        </p:nvSpPr>
        <p:spPr>
          <a:xfrm>
            <a:off x="872905" y="3209528"/>
            <a:ext cx="5874000" cy="885825"/>
          </a:xfrm>
          <a:prstGeom prst="rect">
            <a:avLst/>
          </a:prstGeom>
          <a:noFill/>
        </p:spPr>
        <p:txBody>
          <a:bodyPr wrap="square" lIns="0" tIns="0" rIns="0" bIns="0" rtlCol="0" anchor="t">
            <a:normAutofit/>
          </a:bodyPr>
          <a:lstStyle/>
          <a:p>
            <a:pPr marL="0" indent="0" algn="l">
              <a:lnSpc>
                <a:spcPct val="132000"/>
              </a:lnSpc>
              <a:buNone/>
            </a:pPr>
            <a:r>
              <a:rPr lang="en-US" sz="1450" dirty="0">
                <a:solidFill>
                  <a:srgbClr val="2C2821"/>
                </a:solidFill>
                <a:latin typeface="Lora" pitchFamily="34" charset="0"/>
                <a:ea typeface="Lora" pitchFamily="34" charset="-122"/>
                <a:cs typeface="Lora" pitchFamily="34" charset="-120"/>
              </a:rPr>
              <a:t>Perangkat AIDC (Pemindai Barcode, Pembaca RFID, Kamera OCR) menghasilkan sinyal fisik mentah yang tidak dapat langsung diinterpretasikan oleh basis data.</a:t>
            </a:r>
            <a:endParaRPr lang="en-US" sz="1450" dirty="0"/>
          </a:p>
        </p:txBody>
      </p:sp>
      <p:sp>
        <p:nvSpPr>
          <p:cNvPr id="8" name="Shape 5"/>
          <p:cNvSpPr/>
          <p:nvPr/>
        </p:nvSpPr>
        <p:spPr>
          <a:xfrm>
            <a:off x="661475" y="4489946"/>
            <a:ext cx="6296860" cy="1709241"/>
          </a:xfrm>
          <a:prstGeom prst="roundRect">
            <a:avLst>
              <a:gd name="adj" fmla="val 1633"/>
            </a:avLst>
          </a:prstGeom>
          <a:solidFill>
            <a:srgbClr val="FCFBF8"/>
          </a:solidFill>
          <a:ln w="25399">
            <a:solidFill>
              <a:srgbClr val="D6D3CC"/>
            </a:solidFill>
            <a:prstDash val="solid"/>
          </a:ln>
        </p:spPr>
      </p:sp>
      <p:sp>
        <p:nvSpPr>
          <p:cNvPr id="9" name="Text 6"/>
          <p:cNvSpPr/>
          <p:nvPr/>
        </p:nvSpPr>
        <p:spPr>
          <a:xfrm>
            <a:off x="872905" y="4701381"/>
            <a:ext cx="5874000" cy="290711"/>
          </a:xfrm>
          <a:prstGeom prst="rect">
            <a:avLst/>
          </a:prstGeom>
          <a:noFill/>
        </p:spPr>
        <p:txBody>
          <a:bodyPr wrap="none" lIns="0" tIns="0" rIns="0" bIns="0" rtlCol="0" anchor="t"/>
          <a:lstStyle/>
          <a:p>
            <a:pPr marL="0" indent="0" algn="l">
              <a:lnSpc>
                <a:spcPct val="104000"/>
              </a:lnSpc>
              <a:buNone/>
            </a:pPr>
            <a:r>
              <a:rPr lang="en-US" sz="1800" dirty="0">
                <a:solidFill>
                  <a:srgbClr val="2C2821"/>
                </a:solidFill>
                <a:latin typeface="Alice" pitchFamily="34" charset="0"/>
                <a:ea typeface="Alice" pitchFamily="34" charset="-122"/>
                <a:cs typeface="Alice" pitchFamily="34" charset="-120"/>
              </a:rPr>
              <a:t>Solusinya</a:t>
            </a:r>
            <a:endParaRPr lang="en-US" sz="1800" dirty="0"/>
          </a:p>
        </p:txBody>
      </p:sp>
      <p:sp>
        <p:nvSpPr>
          <p:cNvPr id="10" name="Text 7"/>
          <p:cNvSpPr/>
          <p:nvPr/>
        </p:nvSpPr>
        <p:spPr>
          <a:xfrm>
            <a:off x="872905" y="5101927"/>
            <a:ext cx="5874000" cy="885825"/>
          </a:xfrm>
          <a:prstGeom prst="rect">
            <a:avLst/>
          </a:prstGeom>
          <a:noFill/>
        </p:spPr>
        <p:txBody>
          <a:bodyPr wrap="square" lIns="0" tIns="0" rIns="0" bIns="0" rtlCol="0" anchor="t">
            <a:normAutofit/>
          </a:bodyPr>
          <a:lstStyle/>
          <a:p>
            <a:pPr marL="0" indent="0" algn="l">
              <a:lnSpc>
                <a:spcPct val="132000"/>
              </a:lnSpc>
              <a:buNone/>
            </a:pPr>
            <a:r>
              <a:rPr lang="en-US" sz="1450" dirty="0">
                <a:solidFill>
                  <a:srgbClr val="2C2821"/>
                </a:solidFill>
                <a:latin typeface="Lora" pitchFamily="34" charset="0"/>
                <a:ea typeface="Lora" pitchFamily="34" charset="-122"/>
                <a:cs typeface="Lora" pitchFamily="34" charset="-120"/>
              </a:rPr>
              <a:t>Lapisan middleware atau jembatan protokol sangat penting untuk mengonversi data yang dipindai menjadi format terstruktur (JSON/EDI) yang dapat diproses oleh API backend secara real-time.</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519807"/>
            <a:ext cx="10868745" cy="298946"/>
          </a:xfrm>
          <a:prstGeom prst="rect">
            <a:avLst/>
          </a:prstGeom>
          <a:noFill/>
        </p:spPr>
        <p:txBody>
          <a:bodyPr wrap="none" lIns="0" tIns="0" rIns="0" bIns="0" rtlCol="0" anchor="t"/>
          <a:lstStyle/>
          <a:p>
            <a:pPr marL="0" indent="0" algn="l">
              <a:lnSpc>
                <a:spcPct val="104000"/>
              </a:lnSpc>
              <a:buNone/>
            </a:pPr>
            <a:r>
              <a:rPr lang="en-US" sz="1850" b="1" dirty="0">
                <a:solidFill>
                  <a:srgbClr val="233E32"/>
                </a:solidFill>
                <a:latin typeface="Alice" pitchFamily="34" charset="0"/>
                <a:ea typeface="Alice" pitchFamily="34" charset="-122"/>
                <a:cs typeface="Alice" pitchFamily="34" charset="-120"/>
              </a:rPr>
              <a:t>Contoh Formatter Payload API Data AIDC</a:t>
            </a:r>
            <a:endParaRPr lang="en-US" sz="1850" dirty="0"/>
          </a:p>
        </p:txBody>
      </p:sp>
      <p:sp>
        <p:nvSpPr>
          <p:cNvPr id="3" name="Text 1"/>
          <p:cNvSpPr/>
          <p:nvPr/>
        </p:nvSpPr>
        <p:spPr>
          <a:xfrm>
            <a:off x="661475" y="1087834"/>
            <a:ext cx="10868745" cy="621605"/>
          </a:xfrm>
          <a:prstGeom prst="rect">
            <a:avLst/>
          </a:prstGeom>
          <a:noFill/>
        </p:spPr>
        <p:txBody>
          <a:bodyPr wrap="square" lIns="0" tIns="0" rIns="0" bIns="0" rtlCol="0" anchor="t"/>
          <a:lstStyle/>
          <a:p>
            <a:pPr marL="0" indent="0" algn="l">
              <a:lnSpc>
                <a:spcPct val="123000"/>
              </a:lnSpc>
              <a:spcAft>
                <a:spcPts val="1150"/>
              </a:spcAft>
              <a:buNone/>
            </a:pPr>
            <a:r>
              <a:rPr lang="en-US" sz="1250" b="1" dirty="0">
                <a:solidFill>
                  <a:srgbClr val="2C2821"/>
                </a:solidFill>
                <a:latin typeface="Lora Bold" pitchFamily="34" charset="0"/>
                <a:ea typeface="Lora Bold" pitchFamily="34" charset="-122"/>
                <a:cs typeface="Lora Bold" pitchFamily="34" charset="-120"/>
              </a:rPr>
              <a:t>Representasi Data GS1 dalam Payload JSON (Simulasi PoC)</a:t>
            </a:r>
            <a:endParaRPr lang="en-US" sz="1250" dirty="0"/>
          </a:p>
          <a:p>
            <a:pPr marL="0" indent="0" algn="l">
              <a:lnSpc>
                <a:spcPct val="123000"/>
              </a:lnSpc>
              <a:buNone/>
            </a:pPr>
            <a:r>
              <a:rPr lang="en-US" sz="1250" dirty="0">
                <a:solidFill>
                  <a:srgbClr val="2C2821"/>
                </a:solidFill>
                <a:latin typeface="Lora" pitchFamily="34" charset="0"/>
                <a:ea typeface="Lora" pitchFamily="34" charset="-122"/>
                <a:cs typeface="Lora" pitchFamily="34" charset="-120"/>
              </a:rPr>
              <a:t>JSON</a:t>
            </a:r>
            <a:endParaRPr lang="en-US" sz="1250" dirty="0"/>
          </a:p>
        </p:txBody>
      </p:sp>
      <p:pic>
        <p:nvPicPr>
          <p:cNvPr id="4" name="Image 0" descr="preencoded.png"/>
          <p:cNvPicPr>
            <a:picLocks noChangeAspect="1"/>
          </p:cNvPicPr>
          <p:nvPr/>
        </p:nvPicPr>
        <p:blipFill>
          <a:blip r:embed="rId1"/>
          <a:stretch>
            <a:fillRect/>
          </a:stretch>
        </p:blipFill>
        <p:spPr>
          <a:xfrm>
            <a:off x="661475" y="1860748"/>
            <a:ext cx="318881" cy="438547"/>
          </a:xfrm>
          <a:prstGeom prst="rect">
            <a:avLst/>
          </a:prstGeom>
        </p:spPr>
      </p:pic>
      <p:pic>
        <p:nvPicPr>
          <p:cNvPr id="5" name="Image 1" descr="preencoded.png"/>
          <p:cNvPicPr>
            <a:picLocks noChangeAspect="1"/>
          </p:cNvPicPr>
          <p:nvPr/>
        </p:nvPicPr>
        <p:blipFill>
          <a:blip r:embed="rId1"/>
          <a:stretch>
            <a:fillRect/>
          </a:stretch>
        </p:blipFill>
        <p:spPr>
          <a:xfrm>
            <a:off x="1060027" y="1860748"/>
            <a:ext cx="318881" cy="438547"/>
          </a:xfrm>
          <a:prstGeom prst="rect">
            <a:avLst/>
          </a:prstGeom>
        </p:spPr>
      </p:pic>
      <p:sp>
        <p:nvSpPr>
          <p:cNvPr id="6" name="Shape 2"/>
          <p:cNvSpPr/>
          <p:nvPr/>
        </p:nvSpPr>
        <p:spPr>
          <a:xfrm>
            <a:off x="661475" y="2450604"/>
            <a:ext cx="10868745" cy="3890169"/>
          </a:xfrm>
          <a:prstGeom prst="roundRect">
            <a:avLst>
              <a:gd name="adj" fmla="val 615"/>
            </a:avLst>
          </a:prstGeom>
          <a:solidFill>
            <a:srgbClr val="EFEEEB"/>
          </a:solidFill>
        </p:spPr>
      </p:sp>
      <p:sp>
        <p:nvSpPr>
          <p:cNvPr id="7" name="Text 3"/>
          <p:cNvSpPr/>
          <p:nvPr/>
        </p:nvSpPr>
        <p:spPr>
          <a:xfrm>
            <a:off x="852764" y="2610048"/>
            <a:ext cx="10486167" cy="3571280"/>
          </a:xfrm>
          <a:prstGeom prst="rect">
            <a:avLst/>
          </a:prstGeom>
          <a:noFill/>
        </p:spPr>
        <p:txBody>
          <a:bodyPr wrap="square" lIns="0" tIns="0" rIns="0" bIns="0" rtlCol="0" anchor="t">
            <a:normAutofit/>
          </a:bodyPr>
          <a:lstStyle/>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  "event": "INBOUND_SCAN",</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  "sscc_code": "(00)389912345000000128",</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  "scanned_at": "2026-09-15T10:30:00Z",</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  "location_id": "WH-JKT-GATE02",</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  "items": [</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    {</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      "gtin": "08991234567890",</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      "batch_number": "LOT9988",</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      "exp_date": "261231",</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      "qty": 100</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    }</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  ]</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528340"/>
            <a:ext cx="1257566" cy="273645"/>
          </a:xfrm>
          <a:prstGeom prst="roundRect">
            <a:avLst>
              <a:gd name="adj" fmla="val 7900"/>
            </a:avLst>
          </a:prstGeom>
          <a:noFill/>
          <a:ln w="6350">
            <a:solidFill>
              <a:srgbClr val="1B5F39"/>
            </a:solidFill>
            <a:prstDash val="solid"/>
          </a:ln>
        </p:spPr>
      </p:sp>
      <p:sp>
        <p:nvSpPr>
          <p:cNvPr id="3" name="Text 1"/>
          <p:cNvSpPr/>
          <p:nvPr/>
        </p:nvSpPr>
        <p:spPr>
          <a:xfrm>
            <a:off x="769521" y="582315"/>
            <a:ext cx="1651058" cy="165695"/>
          </a:xfrm>
          <a:prstGeom prst="rect">
            <a:avLst/>
          </a:prstGeom>
          <a:noFill/>
        </p:spPr>
        <p:txBody>
          <a:bodyPr wrap="none" lIns="0" tIns="0" rIns="0" bIns="0" rtlCol="0" anchor="t"/>
          <a:lstStyle/>
          <a:p>
            <a:pPr marL="0" indent="0" algn="l">
              <a:lnSpc>
                <a:spcPct val="96000"/>
              </a:lnSpc>
              <a:buNone/>
            </a:pPr>
            <a:r>
              <a:rPr lang="en-US" sz="1100" dirty="0">
                <a:solidFill>
                  <a:srgbClr val="1B5F39"/>
                </a:solidFill>
                <a:latin typeface="Lora" pitchFamily="34" charset="0"/>
                <a:ea typeface="Lora" pitchFamily="34" charset="-122"/>
                <a:cs typeface="Lora" pitchFamily="34" charset="-120"/>
              </a:rPr>
              <a:t>POIN PENTING</a:t>
            </a:r>
            <a:endParaRPr lang="en-US" sz="1100" dirty="0"/>
          </a:p>
        </p:txBody>
      </p:sp>
      <p:sp>
        <p:nvSpPr>
          <p:cNvPr id="4" name="Text 2"/>
          <p:cNvSpPr/>
          <p:nvPr/>
        </p:nvSpPr>
        <p:spPr>
          <a:xfrm>
            <a:off x="661475" y="870645"/>
            <a:ext cx="10868745" cy="563066"/>
          </a:xfrm>
          <a:prstGeom prst="rect">
            <a:avLst/>
          </a:prstGeom>
          <a:noFill/>
        </p:spPr>
        <p:txBody>
          <a:bodyPr wrap="none" lIns="0" tIns="0" rIns="0" bIns="0" rtlCol="0" anchor="t"/>
          <a:lstStyle/>
          <a:p>
            <a:pPr marL="0" indent="0" algn="l">
              <a:lnSpc>
                <a:spcPct val="104000"/>
              </a:lnSpc>
              <a:buNone/>
            </a:pPr>
            <a:r>
              <a:rPr lang="en-US" sz="3500" dirty="0">
                <a:solidFill>
                  <a:srgbClr val="233E32"/>
                </a:solidFill>
                <a:latin typeface="Alice" pitchFamily="34" charset="0"/>
                <a:ea typeface="Alice" pitchFamily="34" charset="-122"/>
                <a:cs typeface="Alice" pitchFamily="34" charset="-120"/>
              </a:rPr>
              <a:t>Langkah Selanjutnya</a:t>
            </a:r>
            <a:endParaRPr lang="en-US" sz="3500" dirty="0"/>
          </a:p>
        </p:txBody>
      </p:sp>
      <p:sp>
        <p:nvSpPr>
          <p:cNvPr id="5" name="Text 3"/>
          <p:cNvSpPr/>
          <p:nvPr/>
        </p:nvSpPr>
        <p:spPr>
          <a:xfrm>
            <a:off x="661475" y="1691283"/>
            <a:ext cx="11478330" cy="281484"/>
          </a:xfrm>
          <a:prstGeom prst="rect">
            <a:avLst/>
          </a:prstGeom>
          <a:noFill/>
        </p:spPr>
        <p:txBody>
          <a:bodyPr wrap="none" lIns="0" tIns="0" rIns="0" bIns="0" rtlCol="0" anchor="t"/>
          <a:lstStyle/>
          <a:p>
            <a:pPr marL="0" indent="0" algn="l">
              <a:lnSpc>
                <a:spcPct val="130000"/>
              </a:lnSpc>
              <a:buNone/>
            </a:pPr>
            <a:r>
              <a:rPr lang="en-US" sz="1400" dirty="0">
                <a:solidFill>
                  <a:srgbClr val="2C2821"/>
                </a:solidFill>
                <a:latin typeface="Lora" pitchFamily="34" charset="0"/>
                <a:ea typeface="Lora" pitchFamily="34" charset="-122"/>
                <a:cs typeface="Lora" pitchFamily="34" charset="-120"/>
              </a:rPr>
              <a:t>Mengadopsi standar AIDC dan GS1 sangat penting untuk efisiensi rantai pasok modern.</a:t>
            </a:r>
            <a:endParaRPr lang="en-US" sz="1400" dirty="0"/>
          </a:p>
        </p:txBody>
      </p:sp>
      <p:sp>
        <p:nvSpPr>
          <p:cNvPr id="6" name="Shape 4"/>
          <p:cNvSpPr/>
          <p:nvPr/>
        </p:nvSpPr>
        <p:spPr>
          <a:xfrm>
            <a:off x="661475" y="2359124"/>
            <a:ext cx="2295269" cy="3777258"/>
          </a:xfrm>
          <a:prstGeom prst="roundRect">
            <a:avLst>
              <a:gd name="adj" fmla="val 1177"/>
            </a:avLst>
          </a:prstGeom>
          <a:solidFill>
            <a:srgbClr val="F0EDE6"/>
          </a:solidFill>
        </p:spPr>
      </p:sp>
      <p:sp>
        <p:nvSpPr>
          <p:cNvPr id="7" name="Shape 5"/>
          <p:cNvSpPr/>
          <p:nvPr/>
        </p:nvSpPr>
        <p:spPr>
          <a:xfrm>
            <a:off x="841552" y="2539206"/>
            <a:ext cx="540431" cy="540445"/>
          </a:xfrm>
          <a:prstGeom prst="ellipse">
            <a:avLst/>
          </a:prstGeom>
          <a:solidFill>
            <a:srgbClr val="1B5F39"/>
          </a:solidFill>
        </p:spPr>
      </p:sp>
      <p:pic>
        <p:nvPicPr>
          <p:cNvPr id="8"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90178" y="2687737"/>
            <a:ext cx="243179" cy="243185"/>
          </a:xfrm>
          <a:prstGeom prst="rect">
            <a:avLst/>
          </a:prstGeom>
        </p:spPr>
      </p:pic>
      <p:sp>
        <p:nvSpPr>
          <p:cNvPr id="9" name="Text 6"/>
          <p:cNvSpPr/>
          <p:nvPr/>
        </p:nvSpPr>
        <p:spPr>
          <a:xfrm>
            <a:off x="841552" y="3251299"/>
            <a:ext cx="1935114" cy="562967"/>
          </a:xfrm>
          <a:prstGeom prst="rect">
            <a:avLst/>
          </a:prstGeom>
          <a:noFill/>
        </p:spPr>
        <p:txBody>
          <a:bodyPr wrap="square" lIns="0" tIns="0" rIns="0" bIns="0" rtlCol="0" anchor="t">
            <a:normAutofit/>
          </a:bodyPr>
          <a:lstStyle/>
          <a:p>
            <a:pPr marL="0" indent="0" algn="l">
              <a:lnSpc>
                <a:spcPct val="104000"/>
              </a:lnSpc>
              <a:buNone/>
            </a:pPr>
            <a:r>
              <a:rPr lang="en-US" sz="1750" dirty="0">
                <a:solidFill>
                  <a:srgbClr val="2C2821"/>
                </a:solidFill>
                <a:latin typeface="Alice" pitchFamily="34" charset="0"/>
                <a:ea typeface="Alice" pitchFamily="34" charset="-122"/>
                <a:cs typeface="Alice" pitchFamily="34" charset="-120"/>
              </a:rPr>
              <a:t>Ketertelusuran yang Lebih Baik</a:t>
            </a:r>
            <a:endParaRPr lang="en-US" sz="1750" dirty="0"/>
          </a:p>
        </p:txBody>
      </p:sp>
      <p:sp>
        <p:nvSpPr>
          <p:cNvPr id="10" name="Text 7"/>
          <p:cNvSpPr/>
          <p:nvPr/>
        </p:nvSpPr>
        <p:spPr>
          <a:xfrm>
            <a:off x="841552" y="3985915"/>
            <a:ext cx="1935114" cy="1407418"/>
          </a:xfrm>
          <a:prstGeom prst="rect">
            <a:avLst/>
          </a:prstGeom>
          <a:noFill/>
        </p:spPr>
        <p:txBody>
          <a:bodyPr wrap="square" lIns="0" tIns="0" rIns="0" bIns="0" rtlCol="0" anchor="t">
            <a:normAutofit/>
          </a:bodyPr>
          <a:lstStyle/>
          <a:p>
            <a:pPr marL="0" indent="0" algn="l">
              <a:lnSpc>
                <a:spcPct val="130000"/>
              </a:lnSpc>
              <a:buNone/>
            </a:pPr>
            <a:r>
              <a:rPr lang="en-US" sz="1400" dirty="0">
                <a:solidFill>
                  <a:srgbClr val="2C2821"/>
                </a:solidFill>
                <a:latin typeface="Lora" pitchFamily="34" charset="0"/>
                <a:ea typeface="Lora" pitchFamily="34" charset="-122"/>
                <a:cs typeface="Lora" pitchFamily="34" charset="-120"/>
              </a:rPr>
              <a:t>Manfaatkan SSCC dan GTIN untuk visibilitas produk end-to-end, dari bahan baku hingga konsumen.</a:t>
            </a:r>
            <a:endParaRPr lang="en-US" sz="1400" dirty="0"/>
          </a:p>
        </p:txBody>
      </p:sp>
      <p:sp>
        <p:nvSpPr>
          <p:cNvPr id="11" name="Shape 8"/>
          <p:cNvSpPr/>
          <p:nvPr/>
        </p:nvSpPr>
        <p:spPr>
          <a:xfrm>
            <a:off x="3128388" y="2359124"/>
            <a:ext cx="2295269" cy="3777258"/>
          </a:xfrm>
          <a:prstGeom prst="roundRect">
            <a:avLst>
              <a:gd name="adj" fmla="val 1177"/>
            </a:avLst>
          </a:prstGeom>
          <a:solidFill>
            <a:srgbClr val="F0EDE6"/>
          </a:solidFill>
        </p:spPr>
      </p:sp>
      <p:sp>
        <p:nvSpPr>
          <p:cNvPr id="12" name="Shape 9"/>
          <p:cNvSpPr/>
          <p:nvPr/>
        </p:nvSpPr>
        <p:spPr>
          <a:xfrm>
            <a:off x="3308466" y="2539206"/>
            <a:ext cx="540431" cy="540445"/>
          </a:xfrm>
          <a:prstGeom prst="ellipse">
            <a:avLst/>
          </a:prstGeom>
          <a:solidFill>
            <a:srgbClr val="1B5F39"/>
          </a:solidFill>
        </p:spPr>
      </p:sp>
      <p:pic>
        <p:nvPicPr>
          <p:cNvPr id="13"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57092" y="2687737"/>
            <a:ext cx="243179" cy="243185"/>
          </a:xfrm>
          <a:prstGeom prst="rect">
            <a:avLst/>
          </a:prstGeom>
        </p:spPr>
      </p:pic>
      <p:sp>
        <p:nvSpPr>
          <p:cNvPr id="14" name="Text 10"/>
          <p:cNvSpPr/>
          <p:nvPr/>
        </p:nvSpPr>
        <p:spPr>
          <a:xfrm>
            <a:off x="3308466" y="3251299"/>
            <a:ext cx="1935114" cy="562967"/>
          </a:xfrm>
          <a:prstGeom prst="rect">
            <a:avLst/>
          </a:prstGeom>
          <a:noFill/>
        </p:spPr>
        <p:txBody>
          <a:bodyPr wrap="square" lIns="0" tIns="0" rIns="0" bIns="0" rtlCol="0" anchor="t">
            <a:normAutofit/>
          </a:bodyPr>
          <a:lstStyle/>
          <a:p>
            <a:pPr marL="0" indent="0" algn="l">
              <a:lnSpc>
                <a:spcPct val="104000"/>
              </a:lnSpc>
              <a:buNone/>
            </a:pPr>
            <a:r>
              <a:rPr lang="en-US" sz="1750" dirty="0">
                <a:solidFill>
                  <a:srgbClr val="2C2821"/>
                </a:solidFill>
                <a:latin typeface="Alice" pitchFamily="34" charset="0"/>
                <a:ea typeface="Alice" pitchFamily="34" charset="-122"/>
                <a:cs typeface="Alice" pitchFamily="34" charset="-120"/>
              </a:rPr>
              <a:t>Efisiensi Operasional</a:t>
            </a:r>
            <a:endParaRPr lang="en-US" sz="1750" dirty="0"/>
          </a:p>
        </p:txBody>
      </p:sp>
      <p:sp>
        <p:nvSpPr>
          <p:cNvPr id="15" name="Text 11"/>
          <p:cNvSpPr/>
          <p:nvPr/>
        </p:nvSpPr>
        <p:spPr>
          <a:xfrm>
            <a:off x="3308466" y="3985915"/>
            <a:ext cx="1935114" cy="1970385"/>
          </a:xfrm>
          <a:prstGeom prst="rect">
            <a:avLst/>
          </a:prstGeom>
          <a:noFill/>
        </p:spPr>
        <p:txBody>
          <a:bodyPr wrap="square" lIns="0" tIns="0" rIns="0" bIns="0" rtlCol="0" anchor="t">
            <a:normAutofit/>
          </a:bodyPr>
          <a:lstStyle/>
          <a:p>
            <a:pPr marL="0" indent="0" algn="l">
              <a:lnSpc>
                <a:spcPct val="130000"/>
              </a:lnSpc>
              <a:buNone/>
            </a:pPr>
            <a:r>
              <a:rPr lang="en-US" sz="1400" dirty="0">
                <a:solidFill>
                  <a:srgbClr val="2C2821"/>
                </a:solidFill>
                <a:latin typeface="Lora" pitchFamily="34" charset="0"/>
                <a:ea typeface="Lora" pitchFamily="34" charset="-122"/>
                <a:cs typeface="Lora" pitchFamily="34" charset="-120"/>
              </a:rPr>
              <a:t>Otomatiskan proses penerimaan dan pengiriman dengan alur satu kali pindai, sehingga mengurangi kesalahan manual dan waktu pemrosesan.</a:t>
            </a:r>
            <a:endParaRPr lang="en-US" sz="1400" dirty="0"/>
          </a:p>
        </p:txBody>
      </p:sp>
      <p:sp>
        <p:nvSpPr>
          <p:cNvPr id="16" name="Shape 12"/>
          <p:cNvSpPr/>
          <p:nvPr/>
        </p:nvSpPr>
        <p:spPr>
          <a:xfrm>
            <a:off x="5869535" y="2359124"/>
            <a:ext cx="2747596" cy="3214291"/>
          </a:xfrm>
          <a:prstGeom prst="roundRect">
            <a:avLst>
              <a:gd name="adj" fmla="val 984"/>
            </a:avLst>
          </a:prstGeom>
          <a:solidFill>
            <a:srgbClr val="F0EDE6"/>
          </a:solidFill>
        </p:spPr>
      </p:sp>
      <p:sp>
        <p:nvSpPr>
          <p:cNvPr id="17" name="Shape 13"/>
          <p:cNvSpPr/>
          <p:nvPr/>
        </p:nvSpPr>
        <p:spPr>
          <a:xfrm>
            <a:off x="6049613" y="2539206"/>
            <a:ext cx="540431" cy="540445"/>
          </a:xfrm>
          <a:prstGeom prst="ellipse">
            <a:avLst/>
          </a:prstGeom>
          <a:solidFill>
            <a:srgbClr val="1B5F39"/>
          </a:solidFill>
        </p:spPr>
      </p:sp>
      <p:pic>
        <p:nvPicPr>
          <p:cNvPr id="18"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98239" y="2687737"/>
            <a:ext cx="243179" cy="243185"/>
          </a:xfrm>
          <a:prstGeom prst="rect">
            <a:avLst/>
          </a:prstGeom>
        </p:spPr>
      </p:pic>
      <p:sp>
        <p:nvSpPr>
          <p:cNvPr id="19" name="Text 14"/>
          <p:cNvSpPr/>
          <p:nvPr/>
        </p:nvSpPr>
        <p:spPr>
          <a:xfrm>
            <a:off x="6049613" y="3251299"/>
            <a:ext cx="2387441" cy="562967"/>
          </a:xfrm>
          <a:prstGeom prst="rect">
            <a:avLst/>
          </a:prstGeom>
          <a:noFill/>
        </p:spPr>
        <p:txBody>
          <a:bodyPr wrap="square" lIns="0" tIns="0" rIns="0" bIns="0" rtlCol="0" anchor="t">
            <a:normAutofit/>
          </a:bodyPr>
          <a:lstStyle/>
          <a:p>
            <a:pPr marL="0" indent="0" algn="l">
              <a:lnSpc>
                <a:spcPct val="104000"/>
              </a:lnSpc>
              <a:buNone/>
            </a:pPr>
            <a:r>
              <a:rPr lang="en-US" sz="1750" dirty="0">
                <a:solidFill>
                  <a:srgbClr val="2C2821"/>
                </a:solidFill>
                <a:latin typeface="Alice" pitchFamily="34" charset="0"/>
                <a:ea typeface="Alice" pitchFamily="34" charset="-122"/>
                <a:cs typeface="Alice" pitchFamily="34" charset="-120"/>
              </a:rPr>
              <a:t>Keputusan Berbasis Data</a:t>
            </a:r>
            <a:endParaRPr lang="en-US" sz="1750" dirty="0"/>
          </a:p>
        </p:txBody>
      </p:sp>
      <p:sp>
        <p:nvSpPr>
          <p:cNvPr id="20" name="Text 15"/>
          <p:cNvSpPr/>
          <p:nvPr/>
        </p:nvSpPr>
        <p:spPr>
          <a:xfrm>
            <a:off x="6049613" y="3985915"/>
            <a:ext cx="2387441" cy="1407418"/>
          </a:xfrm>
          <a:prstGeom prst="rect">
            <a:avLst/>
          </a:prstGeom>
          <a:noFill/>
        </p:spPr>
        <p:txBody>
          <a:bodyPr wrap="square" lIns="0" tIns="0" rIns="0" bIns="0" rtlCol="0" anchor="t">
            <a:normAutofit/>
          </a:bodyPr>
          <a:lstStyle/>
          <a:p>
            <a:pPr marL="0" indent="0" algn="l">
              <a:lnSpc>
                <a:spcPct val="130000"/>
              </a:lnSpc>
              <a:buNone/>
            </a:pPr>
            <a:r>
              <a:rPr lang="en-US" sz="1400" dirty="0">
                <a:solidFill>
                  <a:srgbClr val="2C2821"/>
                </a:solidFill>
                <a:latin typeface="Lora" pitchFamily="34" charset="0"/>
                <a:ea typeface="Lora" pitchFamily="34" charset="-122"/>
                <a:cs typeface="Lora" pitchFamily="34" charset="-120"/>
              </a:rPr>
              <a:t>Integrasikan data AIDC ke dalam WMS/TMS untuk wawasan real-time dan pengelolaan inventaris yang optimal.</a:t>
            </a:r>
            <a:endParaRPr lang="en-US" sz="1400" dirty="0"/>
          </a:p>
        </p:txBody>
      </p:sp>
      <p:sp>
        <p:nvSpPr>
          <p:cNvPr id="21" name="Shape 16"/>
          <p:cNvSpPr/>
          <p:nvPr/>
        </p:nvSpPr>
        <p:spPr>
          <a:xfrm>
            <a:off x="8788775" y="2359124"/>
            <a:ext cx="2747695" cy="3214291"/>
          </a:xfrm>
          <a:prstGeom prst="roundRect">
            <a:avLst>
              <a:gd name="adj" fmla="val 984"/>
            </a:avLst>
          </a:prstGeom>
          <a:solidFill>
            <a:srgbClr val="F0EDE6"/>
          </a:solidFill>
        </p:spPr>
      </p:sp>
      <p:sp>
        <p:nvSpPr>
          <p:cNvPr id="22" name="Shape 17"/>
          <p:cNvSpPr/>
          <p:nvPr/>
        </p:nvSpPr>
        <p:spPr>
          <a:xfrm>
            <a:off x="8968853" y="2539206"/>
            <a:ext cx="540431" cy="540445"/>
          </a:xfrm>
          <a:prstGeom prst="ellipse">
            <a:avLst/>
          </a:prstGeom>
          <a:solidFill>
            <a:srgbClr val="1B5F39"/>
          </a:solidFill>
        </p:spPr>
      </p:sp>
      <p:pic>
        <p:nvPicPr>
          <p:cNvPr id="23"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17479" y="2687737"/>
            <a:ext cx="243179" cy="243185"/>
          </a:xfrm>
          <a:prstGeom prst="rect">
            <a:avLst/>
          </a:prstGeom>
        </p:spPr>
      </p:pic>
      <p:sp>
        <p:nvSpPr>
          <p:cNvPr id="24" name="Text 18"/>
          <p:cNvSpPr/>
          <p:nvPr/>
        </p:nvSpPr>
        <p:spPr>
          <a:xfrm>
            <a:off x="8968853" y="3251299"/>
            <a:ext cx="2387540" cy="281484"/>
          </a:xfrm>
          <a:prstGeom prst="rect">
            <a:avLst/>
          </a:prstGeom>
          <a:noFill/>
        </p:spPr>
        <p:txBody>
          <a:bodyPr wrap="none" lIns="0" tIns="0" rIns="0" bIns="0" rtlCol="0" anchor="t"/>
          <a:lstStyle/>
          <a:p>
            <a:pPr marL="0" indent="0" algn="l">
              <a:lnSpc>
                <a:spcPct val="104000"/>
              </a:lnSpc>
              <a:buNone/>
            </a:pPr>
            <a:r>
              <a:rPr lang="en-US" sz="1750" dirty="0">
                <a:solidFill>
                  <a:srgbClr val="2C2821"/>
                </a:solidFill>
                <a:latin typeface="Alice" pitchFamily="34" charset="0"/>
                <a:ea typeface="Alice" pitchFamily="34" charset="-122"/>
                <a:cs typeface="Alice" pitchFamily="34" charset="-120"/>
              </a:rPr>
              <a:t>Penerapan Proyek</a:t>
            </a:r>
            <a:endParaRPr lang="en-US" sz="1750" dirty="0"/>
          </a:p>
        </p:txBody>
      </p:sp>
      <p:sp>
        <p:nvSpPr>
          <p:cNvPr id="25" name="Text 19"/>
          <p:cNvSpPr/>
          <p:nvPr/>
        </p:nvSpPr>
        <p:spPr>
          <a:xfrm>
            <a:off x="8968853" y="3704431"/>
            <a:ext cx="2387540" cy="1688902"/>
          </a:xfrm>
          <a:prstGeom prst="rect">
            <a:avLst/>
          </a:prstGeom>
          <a:noFill/>
        </p:spPr>
        <p:txBody>
          <a:bodyPr wrap="square" lIns="0" tIns="0" rIns="0" bIns="0" rtlCol="0" anchor="t">
            <a:normAutofit/>
          </a:bodyPr>
          <a:lstStyle/>
          <a:p>
            <a:pPr marL="0" indent="0" algn="l">
              <a:lnSpc>
                <a:spcPct val="130000"/>
              </a:lnSpc>
              <a:buNone/>
            </a:pPr>
            <a:r>
              <a:rPr lang="en-US" sz="1400" dirty="0">
                <a:solidFill>
                  <a:srgbClr val="2C2821"/>
                </a:solidFill>
                <a:latin typeface="Lora" pitchFamily="34" charset="0"/>
                <a:ea typeface="Lora" pitchFamily="34" charset="-122"/>
                <a:cs typeface="Lora" pitchFamily="34" charset="-120"/>
              </a:rPr>
              <a:t>Terapkan prinsip-prinsip ini dalam proyek kelompok Anda, mulai dari pemilihan perangkat keras hingga desain payload API untuk integrasi yang mulus.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546298"/>
            <a:ext cx="10868745" cy="516731"/>
          </a:xfrm>
          <a:prstGeom prst="rect">
            <a:avLst/>
          </a:prstGeom>
          <a:noFill/>
        </p:spPr>
        <p:txBody>
          <a:bodyPr wrap="none" lIns="0" tIns="0" rIns="0" bIns="0" rtlCol="0" anchor="t"/>
          <a:lstStyle/>
          <a:p>
            <a:pPr marL="0" indent="0" algn="l">
              <a:lnSpc>
                <a:spcPct val="104000"/>
              </a:lnSpc>
              <a:buNone/>
            </a:pPr>
            <a:r>
              <a:rPr lang="en-US" sz="3250" dirty="0">
                <a:solidFill>
                  <a:srgbClr val="233E32"/>
                </a:solidFill>
                <a:latin typeface="Alice" pitchFamily="34" charset="0"/>
                <a:ea typeface="Alice" pitchFamily="34" charset="-122"/>
                <a:cs typeface="Alice" pitchFamily="34" charset="-120"/>
              </a:rPr>
              <a:t>Metode Utama Integrasi AIDC ke Perangkat Lunak</a:t>
            </a:r>
            <a:endParaRPr lang="en-US" sz="3250" dirty="0"/>
          </a:p>
        </p:txBody>
      </p:sp>
      <p:sp>
        <p:nvSpPr>
          <p:cNvPr id="3" name="Text 1"/>
          <p:cNvSpPr/>
          <p:nvPr/>
        </p:nvSpPr>
        <p:spPr>
          <a:xfrm>
            <a:off x="661475" y="1280021"/>
            <a:ext cx="11478330" cy="248047"/>
          </a:xfrm>
          <a:prstGeom prst="rect">
            <a:avLst/>
          </a:prstGeom>
          <a:noFill/>
        </p:spPr>
        <p:txBody>
          <a:bodyPr wrap="none" lIns="0" tIns="0" rIns="0" bIns="0" rtlCol="0" anchor="t"/>
          <a:lstStyle/>
          <a:p>
            <a:pPr marL="0" indent="0" algn="l">
              <a:lnSpc>
                <a:spcPct val="125000"/>
              </a:lnSpc>
              <a:buNone/>
            </a:pPr>
            <a:r>
              <a:rPr lang="en-US" sz="1300" dirty="0">
                <a:solidFill>
                  <a:srgbClr val="2C2821"/>
                </a:solidFill>
                <a:latin typeface="Lora" pitchFamily="34" charset="0"/>
                <a:ea typeface="Lora" pitchFamily="34" charset="-122"/>
                <a:cs typeface="Lora" pitchFamily="34" charset="-120"/>
              </a:rPr>
              <a:t>Pendekatan Teknis Sesuai Kebutuhan Lapangan</a:t>
            </a:r>
            <a:endParaRPr lang="en-US" sz="1300" dirty="0"/>
          </a:p>
        </p:txBody>
      </p:sp>
      <p:pic>
        <p:nvPicPr>
          <p:cNvPr id="4"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690787"/>
            <a:ext cx="10868745" cy="992287"/>
          </a:xfrm>
          <a:prstGeom prst="rect">
            <a:avLst/>
          </a:prstGeom>
        </p:spPr>
      </p:pic>
      <p:pic>
        <p:nvPicPr>
          <p:cNvPr id="5"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7192" y="2062857"/>
            <a:ext cx="248041" cy="248047"/>
          </a:xfrm>
          <a:prstGeom prst="rect">
            <a:avLst/>
          </a:prstGeom>
        </p:spPr>
      </p:pic>
      <p:sp>
        <p:nvSpPr>
          <p:cNvPr id="6" name="Text 2"/>
          <p:cNvSpPr/>
          <p:nvPr/>
        </p:nvSpPr>
        <p:spPr>
          <a:xfrm>
            <a:off x="1486657" y="1875135"/>
            <a:ext cx="9859220" cy="258465"/>
          </a:xfrm>
          <a:prstGeom prst="rect">
            <a:avLst/>
          </a:prstGeom>
          <a:noFill/>
        </p:spPr>
        <p:txBody>
          <a:bodyPr wrap="none" lIns="0" tIns="0" rIns="0" bIns="0" rtlCol="0" anchor="t"/>
          <a:lstStyle/>
          <a:p>
            <a:pPr marL="0" indent="0" algn="l">
              <a:lnSpc>
                <a:spcPct val="104000"/>
              </a:lnSpc>
              <a:buNone/>
            </a:pPr>
            <a:r>
              <a:rPr lang="en-US" sz="1600" dirty="0">
                <a:solidFill>
                  <a:srgbClr val="2C2821"/>
                </a:solidFill>
                <a:latin typeface="Alice" pitchFamily="34" charset="0"/>
                <a:ea typeface="Alice" pitchFamily="34" charset="-122"/>
                <a:cs typeface="Alice" pitchFamily="34" charset="-120"/>
              </a:rPr>
              <a:t>Keyboard Wedge / HID Mode</a:t>
            </a:r>
            <a:endParaRPr lang="en-US" sz="1600" dirty="0"/>
          </a:p>
        </p:txBody>
      </p:sp>
      <p:sp>
        <p:nvSpPr>
          <p:cNvPr id="7" name="Text 3"/>
          <p:cNvSpPr/>
          <p:nvPr/>
        </p:nvSpPr>
        <p:spPr>
          <a:xfrm>
            <a:off x="1486657" y="2220416"/>
            <a:ext cx="9859220" cy="248047"/>
          </a:xfrm>
          <a:prstGeom prst="rect">
            <a:avLst/>
          </a:prstGeom>
          <a:noFill/>
        </p:spPr>
        <p:txBody>
          <a:bodyPr wrap="none" lIns="0" tIns="0" rIns="0" bIns="0" rtlCol="0" anchor="t"/>
          <a:lstStyle/>
          <a:p>
            <a:pPr marL="0" indent="0" algn="l">
              <a:lnSpc>
                <a:spcPct val="125000"/>
              </a:lnSpc>
              <a:buNone/>
            </a:pPr>
            <a:r>
              <a:rPr lang="en-US" sz="1300" dirty="0">
                <a:solidFill>
                  <a:srgbClr val="2C2821"/>
                </a:solidFill>
                <a:latin typeface="Lora" pitchFamily="34" charset="0"/>
                <a:ea typeface="Lora" pitchFamily="34" charset="-122"/>
                <a:cs typeface="Lora" pitchFamily="34" charset="-120"/>
              </a:rPr>
              <a:t>Perangkat AIDC terdeteksi sebagai </a:t>
            </a:r>
            <a:r>
              <a:rPr lang="en-US" sz="1300" i="1" dirty="0">
                <a:solidFill>
                  <a:srgbClr val="2C2821"/>
                </a:solidFill>
                <a:latin typeface="Lora" pitchFamily="34" charset="0"/>
                <a:ea typeface="Lora" pitchFamily="34" charset="-122"/>
                <a:cs typeface="Lora" pitchFamily="34" charset="-120"/>
              </a:rPr>
              <a:t>keyboard</a:t>
            </a:r>
            <a:r>
              <a:rPr lang="en-US" sz="1300" dirty="0">
                <a:solidFill>
                  <a:srgbClr val="2C2821"/>
                </a:solidFill>
                <a:latin typeface="Lora" pitchFamily="34" charset="0"/>
                <a:ea typeface="Lora" pitchFamily="34" charset="-122"/>
                <a:cs typeface="Lora" pitchFamily="34" charset="-120"/>
              </a:rPr>
              <a:t> otomatis (</a:t>
            </a:r>
            <a:r>
              <a:rPr lang="en-US" sz="1300" i="1" dirty="0">
                <a:solidFill>
                  <a:srgbClr val="2C2821"/>
                </a:solidFill>
                <a:latin typeface="Lora" pitchFamily="34" charset="0"/>
                <a:ea typeface="Lora" pitchFamily="34" charset="-122"/>
                <a:cs typeface="Lora" pitchFamily="34" charset="-120"/>
              </a:rPr>
              <a:t>plug and play</a:t>
            </a:r>
            <a:r>
              <a:rPr lang="en-US" sz="1300" dirty="0">
                <a:solidFill>
                  <a:srgbClr val="2C2821"/>
                </a:solidFill>
                <a:latin typeface="Lora" pitchFamily="34" charset="0"/>
                <a:ea typeface="Lora" pitchFamily="34" charset="-122"/>
                <a:cs typeface="Lora" pitchFamily="34" charset="-120"/>
              </a:rPr>
              <a:t>), menyederhanakan input data ke aplikasi apa pun.</a:t>
            </a:r>
            <a:endParaRPr lang="en-US" sz="1300" dirty="0"/>
          </a:p>
        </p:txBody>
      </p:sp>
      <p:pic>
        <p:nvPicPr>
          <p:cNvPr id="8" name="Image 2"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827734"/>
            <a:ext cx="10868745" cy="992287"/>
          </a:xfrm>
          <a:prstGeom prst="rect">
            <a:avLst/>
          </a:prstGeom>
        </p:spPr>
      </p:pic>
      <p:pic>
        <p:nvPicPr>
          <p:cNvPr id="9"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7192" y="3199805"/>
            <a:ext cx="248041" cy="248047"/>
          </a:xfrm>
          <a:prstGeom prst="rect">
            <a:avLst/>
          </a:prstGeom>
        </p:spPr>
      </p:pic>
      <p:sp>
        <p:nvSpPr>
          <p:cNvPr id="10" name="Text 4"/>
          <p:cNvSpPr/>
          <p:nvPr/>
        </p:nvSpPr>
        <p:spPr>
          <a:xfrm>
            <a:off x="1486657" y="3012083"/>
            <a:ext cx="9859220" cy="258465"/>
          </a:xfrm>
          <a:prstGeom prst="rect">
            <a:avLst/>
          </a:prstGeom>
          <a:noFill/>
        </p:spPr>
        <p:txBody>
          <a:bodyPr wrap="none" lIns="0" tIns="0" rIns="0" bIns="0" rtlCol="0" anchor="t"/>
          <a:lstStyle/>
          <a:p>
            <a:pPr marL="0" indent="0" algn="l">
              <a:lnSpc>
                <a:spcPct val="104000"/>
              </a:lnSpc>
              <a:buNone/>
            </a:pPr>
            <a:r>
              <a:rPr lang="en-US" sz="1600" dirty="0">
                <a:solidFill>
                  <a:srgbClr val="2C2821"/>
                </a:solidFill>
                <a:latin typeface="Alice" pitchFamily="34" charset="0"/>
                <a:ea typeface="Alice" pitchFamily="34" charset="-122"/>
                <a:cs typeface="Alice" pitchFamily="34" charset="-120"/>
              </a:rPr>
              <a:t>Native SDK / Broadcast Intent</a:t>
            </a:r>
            <a:endParaRPr lang="en-US" sz="1600" dirty="0"/>
          </a:p>
        </p:txBody>
      </p:sp>
      <p:sp>
        <p:nvSpPr>
          <p:cNvPr id="11" name="Text 5"/>
          <p:cNvSpPr/>
          <p:nvPr/>
        </p:nvSpPr>
        <p:spPr>
          <a:xfrm>
            <a:off x="1486657" y="3357364"/>
            <a:ext cx="9859220" cy="248047"/>
          </a:xfrm>
          <a:prstGeom prst="rect">
            <a:avLst/>
          </a:prstGeom>
          <a:noFill/>
        </p:spPr>
        <p:txBody>
          <a:bodyPr wrap="none" lIns="0" tIns="0" rIns="0" bIns="0" rtlCol="0" anchor="t"/>
          <a:lstStyle/>
          <a:p>
            <a:pPr marL="0" indent="0" algn="l">
              <a:lnSpc>
                <a:spcPct val="125000"/>
              </a:lnSpc>
              <a:buNone/>
            </a:pPr>
            <a:r>
              <a:rPr lang="en-US" sz="1300" dirty="0">
                <a:solidFill>
                  <a:srgbClr val="2C2821"/>
                </a:solidFill>
                <a:latin typeface="Lora" pitchFamily="34" charset="0"/>
                <a:ea typeface="Lora" pitchFamily="34" charset="-122"/>
                <a:cs typeface="Lora" pitchFamily="34" charset="-120"/>
              </a:rPr>
              <a:t>Digunakan pada Handheld PDA Android (Zebra/Honeywell) via aplikasi mobile logistik untuk kontrol pemindaian yang canggih.</a:t>
            </a:r>
            <a:endParaRPr lang="en-US" sz="1300" dirty="0"/>
          </a:p>
        </p:txBody>
      </p:sp>
      <p:pic>
        <p:nvPicPr>
          <p:cNvPr id="12" name="Image 4"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964682"/>
            <a:ext cx="10868745" cy="1210072"/>
          </a:xfrm>
          <a:prstGeom prst="rect">
            <a:avLst/>
          </a:prstGeom>
        </p:spPr>
      </p:pic>
      <p:pic>
        <p:nvPicPr>
          <p:cNvPr id="13" name="Image 5"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87192" y="4445595"/>
            <a:ext cx="248041" cy="248047"/>
          </a:xfrm>
          <a:prstGeom prst="rect">
            <a:avLst/>
          </a:prstGeom>
        </p:spPr>
      </p:pic>
      <p:sp>
        <p:nvSpPr>
          <p:cNvPr id="14" name="Text 6"/>
          <p:cNvSpPr/>
          <p:nvPr/>
        </p:nvSpPr>
        <p:spPr>
          <a:xfrm>
            <a:off x="1486657" y="4149030"/>
            <a:ext cx="9859220" cy="258465"/>
          </a:xfrm>
          <a:prstGeom prst="rect">
            <a:avLst/>
          </a:prstGeom>
          <a:noFill/>
        </p:spPr>
        <p:txBody>
          <a:bodyPr wrap="none" lIns="0" tIns="0" rIns="0" bIns="0" rtlCol="0" anchor="t"/>
          <a:lstStyle/>
          <a:p>
            <a:pPr marL="0" indent="0" algn="l">
              <a:lnSpc>
                <a:spcPct val="104000"/>
              </a:lnSpc>
              <a:buNone/>
            </a:pPr>
            <a:r>
              <a:rPr lang="en-US" sz="1600" dirty="0">
                <a:solidFill>
                  <a:srgbClr val="2C2821"/>
                </a:solidFill>
                <a:latin typeface="Alice" pitchFamily="34" charset="0"/>
                <a:ea typeface="Alice" pitchFamily="34" charset="-122"/>
                <a:cs typeface="Alice" pitchFamily="34" charset="-120"/>
              </a:rPr>
              <a:t>Serial RS-232 / TCP Socket / MQTT</a:t>
            </a:r>
            <a:endParaRPr lang="en-US" sz="1600" dirty="0"/>
          </a:p>
        </p:txBody>
      </p:sp>
      <p:sp>
        <p:nvSpPr>
          <p:cNvPr id="15" name="Text 7"/>
          <p:cNvSpPr/>
          <p:nvPr/>
        </p:nvSpPr>
        <p:spPr>
          <a:xfrm>
            <a:off x="1486657" y="4494312"/>
            <a:ext cx="9859220" cy="496094"/>
          </a:xfrm>
          <a:prstGeom prst="rect">
            <a:avLst/>
          </a:prstGeom>
          <a:noFill/>
        </p:spPr>
        <p:txBody>
          <a:bodyPr wrap="square" lIns="0" tIns="0" rIns="0" bIns="0" rtlCol="0" anchor="t">
            <a:normAutofit/>
          </a:bodyPr>
          <a:lstStyle/>
          <a:p>
            <a:pPr marL="0" indent="0" algn="l">
              <a:lnSpc>
                <a:spcPct val="125000"/>
              </a:lnSpc>
              <a:buNone/>
            </a:pPr>
            <a:r>
              <a:rPr lang="en-US" sz="1300" dirty="0">
                <a:solidFill>
                  <a:srgbClr val="2C2821"/>
                </a:solidFill>
                <a:latin typeface="Lora" pitchFamily="34" charset="0"/>
                <a:ea typeface="Lora" pitchFamily="34" charset="-122"/>
                <a:cs typeface="Lora" pitchFamily="34" charset="-120"/>
              </a:rPr>
              <a:t>Digunakan pada </a:t>
            </a:r>
            <a:r>
              <a:rPr lang="en-US" sz="1300" i="1" dirty="0">
                <a:solidFill>
                  <a:srgbClr val="2C2821"/>
                </a:solidFill>
                <a:latin typeface="Lora" pitchFamily="34" charset="0"/>
                <a:ea typeface="Lora" pitchFamily="34" charset="-122"/>
                <a:cs typeface="Lora" pitchFamily="34" charset="-120"/>
              </a:rPr>
              <a:t>Fixed RFID Gate</a:t>
            </a:r>
            <a:r>
              <a:rPr lang="en-US" sz="1300" dirty="0">
                <a:solidFill>
                  <a:srgbClr val="2C2821"/>
                </a:solidFill>
                <a:latin typeface="Lora" pitchFamily="34" charset="0"/>
                <a:ea typeface="Lora" pitchFamily="34" charset="-122"/>
                <a:cs typeface="Lora" pitchFamily="34" charset="-120"/>
              </a:rPr>
              <a:t> dan </a:t>
            </a:r>
            <a:r>
              <a:rPr lang="en-US" sz="1300" i="1" dirty="0">
                <a:solidFill>
                  <a:srgbClr val="2C2821"/>
                </a:solidFill>
                <a:latin typeface="Lora" pitchFamily="34" charset="0"/>
                <a:ea typeface="Lora" pitchFamily="34" charset="-122"/>
                <a:cs typeface="Lora" pitchFamily="34" charset="-120"/>
              </a:rPr>
              <a:t>Conveyor Scanner</a:t>
            </a:r>
            <a:r>
              <a:rPr lang="en-US" sz="1300" dirty="0">
                <a:solidFill>
                  <a:srgbClr val="2C2821"/>
                </a:solidFill>
                <a:latin typeface="Lora" pitchFamily="34" charset="0"/>
                <a:ea typeface="Lora" pitchFamily="34" charset="-122"/>
                <a:cs typeface="Lora" pitchFamily="34" charset="-120"/>
              </a:rPr>
              <a:t> otomatis di pelabuhan/gudang untuk transfer data yang andal dan </a:t>
            </a:r>
            <a:r>
              <a:rPr lang="en-US" sz="1300" i="1" dirty="0">
                <a:solidFill>
                  <a:srgbClr val="2C2821"/>
                </a:solidFill>
                <a:latin typeface="Lora" pitchFamily="34" charset="0"/>
                <a:ea typeface="Lora" pitchFamily="34" charset="-122"/>
                <a:cs typeface="Lora" pitchFamily="34" charset="-120"/>
              </a:rPr>
              <a:t>real-time</a:t>
            </a:r>
            <a:r>
              <a:rPr lang="en-US" sz="1300" dirty="0">
                <a:solidFill>
                  <a:srgbClr val="2C2821"/>
                </a:solidFill>
                <a:latin typeface="Lora" pitchFamily="34" charset="0"/>
                <a:ea typeface="Lora" pitchFamily="34" charset="-122"/>
                <a:cs typeface="Lora" pitchFamily="34" charset="-120"/>
              </a:rPr>
              <a:t>.</a:t>
            </a:r>
            <a:endParaRPr lang="en-US" sz="1300" dirty="0"/>
          </a:p>
        </p:txBody>
      </p:sp>
      <p:pic>
        <p:nvPicPr>
          <p:cNvPr id="16" name="Image 6"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5319415"/>
            <a:ext cx="10868745" cy="992287"/>
          </a:xfrm>
          <a:prstGeom prst="rect">
            <a:avLst/>
          </a:prstGeom>
        </p:spPr>
      </p:pic>
      <p:pic>
        <p:nvPicPr>
          <p:cNvPr id="17" name="Image 7"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7192" y="5691485"/>
            <a:ext cx="248041" cy="248047"/>
          </a:xfrm>
          <a:prstGeom prst="rect">
            <a:avLst/>
          </a:prstGeom>
        </p:spPr>
      </p:pic>
      <p:sp>
        <p:nvSpPr>
          <p:cNvPr id="18" name="Text 8"/>
          <p:cNvSpPr/>
          <p:nvPr/>
        </p:nvSpPr>
        <p:spPr>
          <a:xfrm>
            <a:off x="1486657" y="5503763"/>
            <a:ext cx="9859220" cy="258465"/>
          </a:xfrm>
          <a:prstGeom prst="rect">
            <a:avLst/>
          </a:prstGeom>
          <a:noFill/>
        </p:spPr>
        <p:txBody>
          <a:bodyPr wrap="none" lIns="0" tIns="0" rIns="0" bIns="0" rtlCol="0" anchor="t"/>
          <a:lstStyle/>
          <a:p>
            <a:pPr marL="0" indent="0" algn="l">
              <a:lnSpc>
                <a:spcPct val="104000"/>
              </a:lnSpc>
              <a:buNone/>
            </a:pPr>
            <a:r>
              <a:rPr lang="en-US" sz="1600" dirty="0">
                <a:solidFill>
                  <a:srgbClr val="2C2821"/>
                </a:solidFill>
                <a:latin typeface="Alice" pitchFamily="34" charset="0"/>
                <a:ea typeface="Alice" pitchFamily="34" charset="-122"/>
                <a:cs typeface="Alice" pitchFamily="34" charset="-120"/>
              </a:rPr>
              <a:t>RESTful API Gateway</a:t>
            </a:r>
            <a:endParaRPr lang="en-US" sz="1600" dirty="0"/>
          </a:p>
        </p:txBody>
      </p:sp>
      <p:sp>
        <p:nvSpPr>
          <p:cNvPr id="19" name="Text 9"/>
          <p:cNvSpPr/>
          <p:nvPr/>
        </p:nvSpPr>
        <p:spPr>
          <a:xfrm>
            <a:off x="1486657" y="5849045"/>
            <a:ext cx="9859220" cy="248047"/>
          </a:xfrm>
          <a:prstGeom prst="rect">
            <a:avLst/>
          </a:prstGeom>
          <a:noFill/>
        </p:spPr>
        <p:txBody>
          <a:bodyPr wrap="none" lIns="0" tIns="0" rIns="0" bIns="0" rtlCol="0" anchor="t"/>
          <a:lstStyle/>
          <a:p>
            <a:pPr marL="0" indent="0" algn="l">
              <a:lnSpc>
                <a:spcPct val="125000"/>
              </a:lnSpc>
              <a:buNone/>
            </a:pPr>
            <a:r>
              <a:rPr lang="en-US" sz="1300" dirty="0">
                <a:solidFill>
                  <a:srgbClr val="2C2821"/>
                </a:solidFill>
                <a:latin typeface="Lora" pitchFamily="34" charset="0"/>
                <a:ea typeface="Lora" pitchFamily="34" charset="-122"/>
                <a:cs typeface="Lora" pitchFamily="34" charset="-120"/>
              </a:rPr>
              <a:t>Pengiriman data hasil </a:t>
            </a:r>
            <a:r>
              <a:rPr lang="en-US" sz="1300" i="1" dirty="0">
                <a:solidFill>
                  <a:srgbClr val="2C2821"/>
                </a:solidFill>
                <a:latin typeface="Lora" pitchFamily="34" charset="0"/>
                <a:ea typeface="Lora" pitchFamily="34" charset="-122"/>
                <a:cs typeface="Lora" pitchFamily="34" charset="-120"/>
              </a:rPr>
              <a:t>parsing</a:t>
            </a:r>
            <a:r>
              <a:rPr lang="en-US" sz="1300" dirty="0">
                <a:solidFill>
                  <a:srgbClr val="2C2821"/>
                </a:solidFill>
                <a:latin typeface="Lora" pitchFamily="34" charset="0"/>
                <a:ea typeface="Lora" pitchFamily="34" charset="-122"/>
                <a:cs typeface="Lora" pitchFamily="34" charset="-120"/>
              </a:rPr>
              <a:t> AIDC dari </a:t>
            </a:r>
            <a:r>
              <a:rPr lang="en-US" sz="1300" i="1" dirty="0">
                <a:solidFill>
                  <a:srgbClr val="2C2821"/>
                </a:solidFill>
                <a:latin typeface="Lora" pitchFamily="34" charset="0"/>
                <a:ea typeface="Lora" pitchFamily="34" charset="-122"/>
                <a:cs typeface="Lora" pitchFamily="34" charset="-120"/>
              </a:rPr>
              <a:t>edge device</a:t>
            </a:r>
            <a:r>
              <a:rPr lang="en-US" sz="1300" dirty="0">
                <a:solidFill>
                  <a:srgbClr val="2C2821"/>
                </a:solidFill>
                <a:latin typeface="Lora" pitchFamily="34" charset="0"/>
                <a:ea typeface="Lora" pitchFamily="34" charset="-122"/>
                <a:cs typeface="Lora" pitchFamily="34" charset="-120"/>
              </a:rPr>
              <a:t> ke server </a:t>
            </a:r>
            <a:r>
              <a:rPr lang="en-US" sz="1300" i="1" dirty="0">
                <a:solidFill>
                  <a:srgbClr val="2C2821"/>
                </a:solidFill>
                <a:latin typeface="Lora" pitchFamily="34" charset="0"/>
                <a:ea typeface="Lora" pitchFamily="34" charset="-122"/>
                <a:cs typeface="Lora" pitchFamily="34" charset="-120"/>
              </a:rPr>
              <a:t>cloud</a:t>
            </a:r>
            <a:r>
              <a:rPr lang="en-US" sz="1300" dirty="0">
                <a:solidFill>
                  <a:srgbClr val="2C2821"/>
                </a:solidFill>
                <a:latin typeface="Lora" pitchFamily="34" charset="0"/>
                <a:ea typeface="Lora" pitchFamily="34" charset="-122"/>
                <a:cs typeface="Lora" pitchFamily="34" charset="-120"/>
              </a:rPr>
              <a:t> WMS/TMS, memungkinkan integrasi sistem yang fleksibel.</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558998"/>
            <a:ext cx="909317" cy="201811"/>
          </a:xfrm>
          <a:prstGeom prst="roundRect">
            <a:avLst>
              <a:gd name="adj" fmla="val 7903"/>
            </a:avLst>
          </a:prstGeom>
          <a:noFill/>
          <a:ln w="6350">
            <a:solidFill>
              <a:srgbClr val="1B5F39"/>
            </a:solidFill>
            <a:prstDash val="solid"/>
          </a:ln>
        </p:spPr>
      </p:sp>
      <p:sp>
        <p:nvSpPr>
          <p:cNvPr id="3" name="Text 1"/>
          <p:cNvSpPr/>
          <p:nvPr/>
        </p:nvSpPr>
        <p:spPr>
          <a:xfrm>
            <a:off x="741146" y="598785"/>
            <a:ext cx="1359561" cy="122238"/>
          </a:xfrm>
          <a:prstGeom prst="rect">
            <a:avLst/>
          </a:prstGeom>
          <a:noFill/>
        </p:spPr>
        <p:txBody>
          <a:bodyPr wrap="none" lIns="0" tIns="0" rIns="0" bIns="0" rtlCol="0" anchor="t"/>
          <a:lstStyle/>
          <a:p>
            <a:pPr marL="0" indent="0" algn="l">
              <a:lnSpc>
                <a:spcPct val="96000"/>
              </a:lnSpc>
              <a:buNone/>
            </a:pPr>
            <a:r>
              <a:rPr lang="en-US" sz="800" dirty="0">
                <a:solidFill>
                  <a:srgbClr val="1B5F39"/>
                </a:solidFill>
                <a:latin typeface="Lora" pitchFamily="34" charset="0"/>
                <a:ea typeface="Lora" pitchFamily="34" charset="-122"/>
                <a:cs typeface="Lora" pitchFamily="34" charset="-120"/>
              </a:rPr>
              <a:t>SIMULASI POC</a:t>
            </a:r>
            <a:endParaRPr lang="en-US" sz="800" dirty="0"/>
          </a:p>
        </p:txBody>
      </p:sp>
      <p:sp>
        <p:nvSpPr>
          <p:cNvPr id="4" name="Text 2"/>
          <p:cNvSpPr/>
          <p:nvPr/>
        </p:nvSpPr>
        <p:spPr>
          <a:xfrm>
            <a:off x="1637168" y="598785"/>
            <a:ext cx="2301421" cy="122238"/>
          </a:xfrm>
          <a:prstGeom prst="rect">
            <a:avLst/>
          </a:prstGeom>
          <a:noFill/>
        </p:spPr>
        <p:txBody>
          <a:bodyPr wrap="none" lIns="0" tIns="0" rIns="0" bIns="0" rtlCol="0" anchor="t"/>
          <a:lstStyle/>
          <a:p>
            <a:pPr marL="0" indent="0" algn="l">
              <a:lnSpc>
                <a:spcPct val="96000"/>
              </a:lnSpc>
              <a:buNone/>
            </a:pPr>
            <a:r>
              <a:rPr lang="en-US" sz="800" dirty="0">
                <a:solidFill>
                  <a:srgbClr val="1B5F39"/>
                </a:solidFill>
                <a:latin typeface="Lora" pitchFamily="34" charset="0"/>
                <a:ea typeface="Lora" pitchFamily="34" charset="-122"/>
                <a:cs typeface="Lora" pitchFamily="34" charset="-120"/>
              </a:rPr>
              <a:t>PALET RANTAI DINGIN INBOUND</a:t>
            </a:r>
            <a:endParaRPr lang="en-US" sz="800" dirty="0"/>
          </a:p>
        </p:txBody>
      </p:sp>
      <p:sp>
        <p:nvSpPr>
          <p:cNvPr id="5" name="Text 3"/>
          <p:cNvSpPr/>
          <p:nvPr/>
        </p:nvSpPr>
        <p:spPr>
          <a:xfrm>
            <a:off x="661475" y="798116"/>
            <a:ext cx="10868745" cy="415330"/>
          </a:xfrm>
          <a:prstGeom prst="rect">
            <a:avLst/>
          </a:prstGeom>
          <a:noFill/>
        </p:spPr>
        <p:txBody>
          <a:bodyPr wrap="none" lIns="0" tIns="0" rIns="0" bIns="0" rtlCol="0" anchor="t"/>
          <a:lstStyle/>
          <a:p>
            <a:pPr marL="0" indent="0" algn="l">
              <a:lnSpc>
                <a:spcPct val="104000"/>
              </a:lnSpc>
              <a:buNone/>
            </a:pPr>
            <a:r>
              <a:rPr lang="en-US" sz="2600" dirty="0">
                <a:solidFill>
                  <a:srgbClr val="233E32"/>
                </a:solidFill>
                <a:latin typeface="Alice" pitchFamily="34" charset="0"/>
                <a:ea typeface="Alice" pitchFamily="34" charset="-122"/>
                <a:cs typeface="Alice" pitchFamily="34" charset="-120"/>
              </a:rPr>
              <a:t>Skenario Simulasi PoC: Palet Rantai Dingin Inbound</a:t>
            </a:r>
            <a:endParaRPr lang="en-US" sz="2600" dirty="0"/>
          </a:p>
        </p:txBody>
      </p:sp>
      <p:sp>
        <p:nvSpPr>
          <p:cNvPr id="6" name="Text 4"/>
          <p:cNvSpPr/>
          <p:nvPr/>
        </p:nvSpPr>
        <p:spPr>
          <a:xfrm>
            <a:off x="661475" y="1353542"/>
            <a:ext cx="11478330" cy="181074"/>
          </a:xfrm>
          <a:prstGeom prst="rect">
            <a:avLst/>
          </a:prstGeom>
          <a:noFill/>
        </p:spPr>
        <p:txBody>
          <a:bodyPr wrap="none" lIns="0" tIns="0" rIns="0" bIns="0" rtlCol="0" anchor="t"/>
          <a:lstStyle/>
          <a:p>
            <a:pPr marL="0" indent="0" algn="l">
              <a:lnSpc>
                <a:spcPct val="114000"/>
              </a:lnSpc>
              <a:buNone/>
            </a:pPr>
            <a:r>
              <a:rPr lang="en-US" sz="1000" dirty="0">
                <a:solidFill>
                  <a:srgbClr val="2C2821"/>
                </a:solidFill>
                <a:latin typeface="Lora" pitchFamily="34" charset="0"/>
                <a:ea typeface="Lora" pitchFamily="34" charset="-122"/>
                <a:cs typeface="Lora" pitchFamily="34" charset="-120"/>
              </a:rPr>
              <a:t>Studi Bukti Konsep Alur Data</a:t>
            </a:r>
            <a:endParaRPr lang="en-US" sz="1000" dirty="0"/>
          </a:p>
        </p:txBody>
      </p:sp>
      <p:sp>
        <p:nvSpPr>
          <p:cNvPr id="7" name="Shape 5"/>
          <p:cNvSpPr/>
          <p:nvPr/>
        </p:nvSpPr>
        <p:spPr>
          <a:xfrm>
            <a:off x="661475" y="1744762"/>
            <a:ext cx="3929063" cy="1239738"/>
          </a:xfrm>
          <a:prstGeom prst="roundRect">
            <a:avLst>
              <a:gd name="adj" fmla="val 1608"/>
            </a:avLst>
          </a:prstGeom>
          <a:solidFill>
            <a:srgbClr val="F0EDE6"/>
          </a:solidFill>
        </p:spPr>
      </p:sp>
      <p:sp>
        <p:nvSpPr>
          <p:cNvPr id="8" name="Shape 6"/>
          <p:cNvSpPr/>
          <p:nvPr/>
        </p:nvSpPr>
        <p:spPr>
          <a:xfrm>
            <a:off x="794325" y="1877616"/>
            <a:ext cx="398651" cy="398661"/>
          </a:xfrm>
          <a:prstGeom prst="ellipse">
            <a:avLst/>
          </a:prstGeom>
          <a:solidFill>
            <a:srgbClr val="1B5F39"/>
          </a:solidFill>
        </p:spPr>
      </p:sp>
      <p:pic>
        <p:nvPicPr>
          <p:cNvPr id="9"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03959" y="1987252"/>
            <a:ext cx="179383" cy="179388"/>
          </a:xfrm>
          <a:prstGeom prst="rect">
            <a:avLst/>
          </a:prstGeom>
        </p:spPr>
      </p:pic>
      <p:sp>
        <p:nvSpPr>
          <p:cNvPr id="10" name="Text 7"/>
          <p:cNvSpPr/>
          <p:nvPr/>
        </p:nvSpPr>
        <p:spPr>
          <a:xfrm>
            <a:off x="794325" y="2369641"/>
            <a:ext cx="3663362" cy="207566"/>
          </a:xfrm>
          <a:prstGeom prst="rect">
            <a:avLst/>
          </a:prstGeom>
          <a:noFill/>
        </p:spPr>
        <p:txBody>
          <a:bodyPr wrap="none" lIns="0" tIns="0" rIns="0" bIns="0" rtlCol="0" anchor="t"/>
          <a:lstStyle/>
          <a:p>
            <a:pPr marL="0" indent="0" algn="l">
              <a:lnSpc>
                <a:spcPct val="104000"/>
              </a:lnSpc>
              <a:buNone/>
            </a:pPr>
            <a:r>
              <a:rPr lang="en-US" sz="1300" dirty="0">
                <a:solidFill>
                  <a:srgbClr val="2C2821"/>
                </a:solidFill>
                <a:latin typeface="Alice" pitchFamily="34" charset="0"/>
                <a:ea typeface="Alice" pitchFamily="34" charset="-122"/>
                <a:cs typeface="Alice" pitchFamily="34" charset="-120"/>
              </a:rPr>
              <a:t>Lokasi</a:t>
            </a:r>
            <a:endParaRPr lang="en-US" sz="1300" dirty="0"/>
          </a:p>
        </p:txBody>
      </p:sp>
      <p:sp>
        <p:nvSpPr>
          <p:cNvPr id="11" name="Text 8"/>
          <p:cNvSpPr/>
          <p:nvPr/>
        </p:nvSpPr>
        <p:spPr>
          <a:xfrm>
            <a:off x="794325" y="2670572"/>
            <a:ext cx="3663362" cy="181074"/>
          </a:xfrm>
          <a:prstGeom prst="rect">
            <a:avLst/>
          </a:prstGeom>
          <a:noFill/>
        </p:spPr>
        <p:txBody>
          <a:bodyPr wrap="none" lIns="0" tIns="0" rIns="0" bIns="0" rtlCol="0" anchor="t"/>
          <a:lstStyle/>
          <a:p>
            <a:pPr marL="0" indent="0" algn="l">
              <a:lnSpc>
                <a:spcPct val="114000"/>
              </a:lnSpc>
              <a:buNone/>
            </a:pPr>
            <a:r>
              <a:rPr lang="en-US" sz="1000" dirty="0">
                <a:solidFill>
                  <a:srgbClr val="2C2821"/>
                </a:solidFill>
                <a:latin typeface="Lora" pitchFamily="34" charset="0"/>
                <a:ea typeface="Lora" pitchFamily="34" charset="-122"/>
                <a:cs typeface="Lora" pitchFamily="34" charset="-120"/>
              </a:rPr>
              <a:t>Area Gerbang Penerimaan Gudang 3PL.</a:t>
            </a:r>
            <a:endParaRPr lang="en-US" sz="1000" dirty="0"/>
          </a:p>
        </p:txBody>
      </p:sp>
      <p:sp>
        <p:nvSpPr>
          <p:cNvPr id="12" name="Shape 9"/>
          <p:cNvSpPr/>
          <p:nvPr/>
        </p:nvSpPr>
        <p:spPr>
          <a:xfrm>
            <a:off x="661475" y="3077865"/>
            <a:ext cx="3929063" cy="1420813"/>
          </a:xfrm>
          <a:prstGeom prst="roundRect">
            <a:avLst>
              <a:gd name="adj" fmla="val 1403"/>
            </a:avLst>
          </a:prstGeom>
          <a:solidFill>
            <a:srgbClr val="F0EDE6"/>
          </a:solidFill>
        </p:spPr>
      </p:sp>
      <p:sp>
        <p:nvSpPr>
          <p:cNvPr id="13" name="Shape 10"/>
          <p:cNvSpPr/>
          <p:nvPr/>
        </p:nvSpPr>
        <p:spPr>
          <a:xfrm>
            <a:off x="794325" y="3210719"/>
            <a:ext cx="398651" cy="398661"/>
          </a:xfrm>
          <a:prstGeom prst="ellipse">
            <a:avLst/>
          </a:prstGeom>
          <a:solidFill>
            <a:srgbClr val="1B5F39"/>
          </a:solidFill>
        </p:spPr>
      </p:sp>
      <p:pic>
        <p:nvPicPr>
          <p:cNvPr id="14"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3959" y="3320355"/>
            <a:ext cx="179383" cy="179388"/>
          </a:xfrm>
          <a:prstGeom prst="rect">
            <a:avLst/>
          </a:prstGeom>
        </p:spPr>
      </p:pic>
      <p:sp>
        <p:nvSpPr>
          <p:cNvPr id="15" name="Text 11"/>
          <p:cNvSpPr/>
          <p:nvPr/>
        </p:nvSpPr>
        <p:spPr>
          <a:xfrm>
            <a:off x="794325" y="3702745"/>
            <a:ext cx="3663362" cy="207566"/>
          </a:xfrm>
          <a:prstGeom prst="rect">
            <a:avLst/>
          </a:prstGeom>
          <a:noFill/>
        </p:spPr>
        <p:txBody>
          <a:bodyPr wrap="none" lIns="0" tIns="0" rIns="0" bIns="0" rtlCol="0" anchor="t"/>
          <a:lstStyle/>
          <a:p>
            <a:pPr marL="0" indent="0" algn="l">
              <a:lnSpc>
                <a:spcPct val="104000"/>
              </a:lnSpc>
              <a:buNone/>
            </a:pPr>
            <a:r>
              <a:rPr lang="en-US" sz="1300" dirty="0">
                <a:solidFill>
                  <a:srgbClr val="2C2821"/>
                </a:solidFill>
                <a:latin typeface="Alice" pitchFamily="34" charset="0"/>
                <a:ea typeface="Alice" pitchFamily="34" charset="-122"/>
                <a:cs typeface="Alice" pitchFamily="34" charset="-120"/>
              </a:rPr>
              <a:t>Aktivitas</a:t>
            </a:r>
            <a:endParaRPr lang="en-US" sz="1300" dirty="0"/>
          </a:p>
        </p:txBody>
      </p:sp>
      <p:sp>
        <p:nvSpPr>
          <p:cNvPr id="16" name="Text 12"/>
          <p:cNvSpPr/>
          <p:nvPr/>
        </p:nvSpPr>
        <p:spPr>
          <a:xfrm>
            <a:off x="794325" y="4003675"/>
            <a:ext cx="3663362" cy="362148"/>
          </a:xfrm>
          <a:prstGeom prst="rect">
            <a:avLst/>
          </a:prstGeom>
          <a:noFill/>
        </p:spPr>
        <p:txBody>
          <a:bodyPr wrap="square" lIns="0" tIns="0" rIns="0" bIns="0" rtlCol="0" anchor="t">
            <a:normAutofit/>
          </a:bodyPr>
          <a:lstStyle/>
          <a:p>
            <a:pPr marL="0" indent="0" algn="l">
              <a:lnSpc>
                <a:spcPct val="114000"/>
              </a:lnSpc>
              <a:buNone/>
            </a:pPr>
            <a:r>
              <a:rPr lang="en-US" sz="1000" dirty="0">
                <a:solidFill>
                  <a:srgbClr val="2C2821"/>
                </a:solidFill>
                <a:latin typeface="Lora" pitchFamily="34" charset="0"/>
                <a:ea typeface="Lora" pitchFamily="34" charset="-122"/>
                <a:cs typeface="Lora" pitchFamily="34" charset="-120"/>
              </a:rPr>
              <a:t>Memindai 1 palet produk susu impor berlabel GS1-128 dan SSCC (00).</a:t>
            </a:r>
            <a:endParaRPr lang="en-US" sz="1000" dirty="0"/>
          </a:p>
        </p:txBody>
      </p:sp>
      <p:sp>
        <p:nvSpPr>
          <p:cNvPr id="17" name="Shape 13"/>
          <p:cNvSpPr/>
          <p:nvPr/>
        </p:nvSpPr>
        <p:spPr>
          <a:xfrm>
            <a:off x="661475" y="4592042"/>
            <a:ext cx="3929063" cy="1601887"/>
          </a:xfrm>
          <a:prstGeom prst="roundRect">
            <a:avLst>
              <a:gd name="adj" fmla="val 1245"/>
            </a:avLst>
          </a:prstGeom>
          <a:solidFill>
            <a:srgbClr val="F0EDE6"/>
          </a:solidFill>
        </p:spPr>
      </p:sp>
      <p:sp>
        <p:nvSpPr>
          <p:cNvPr id="18" name="Shape 14"/>
          <p:cNvSpPr/>
          <p:nvPr/>
        </p:nvSpPr>
        <p:spPr>
          <a:xfrm>
            <a:off x="794325" y="4724896"/>
            <a:ext cx="398651" cy="398661"/>
          </a:xfrm>
          <a:prstGeom prst="ellipse">
            <a:avLst/>
          </a:prstGeom>
          <a:solidFill>
            <a:srgbClr val="1B5F39"/>
          </a:solidFill>
        </p:spPr>
      </p:sp>
      <p:pic>
        <p:nvPicPr>
          <p:cNvPr id="19"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3959" y="4834533"/>
            <a:ext cx="179383" cy="179388"/>
          </a:xfrm>
          <a:prstGeom prst="rect">
            <a:avLst/>
          </a:prstGeom>
        </p:spPr>
      </p:pic>
      <p:sp>
        <p:nvSpPr>
          <p:cNvPr id="20" name="Text 15"/>
          <p:cNvSpPr/>
          <p:nvPr/>
        </p:nvSpPr>
        <p:spPr>
          <a:xfrm>
            <a:off x="794325" y="5216922"/>
            <a:ext cx="3663362" cy="207566"/>
          </a:xfrm>
          <a:prstGeom prst="rect">
            <a:avLst/>
          </a:prstGeom>
          <a:noFill/>
        </p:spPr>
        <p:txBody>
          <a:bodyPr wrap="none" lIns="0" tIns="0" rIns="0" bIns="0" rtlCol="0" anchor="t"/>
          <a:lstStyle/>
          <a:p>
            <a:pPr marL="0" indent="0" algn="l">
              <a:lnSpc>
                <a:spcPct val="104000"/>
              </a:lnSpc>
              <a:buNone/>
            </a:pPr>
            <a:r>
              <a:rPr lang="en-US" sz="1300" dirty="0">
                <a:solidFill>
                  <a:srgbClr val="2C2821"/>
                </a:solidFill>
                <a:latin typeface="Alice" pitchFamily="34" charset="0"/>
                <a:ea typeface="Alice" pitchFamily="34" charset="-122"/>
                <a:cs typeface="Alice" pitchFamily="34" charset="-120"/>
              </a:rPr>
              <a:t>Tujuan PoC</a:t>
            </a:r>
            <a:endParaRPr lang="en-US" sz="1300" dirty="0"/>
          </a:p>
        </p:txBody>
      </p:sp>
      <p:sp>
        <p:nvSpPr>
          <p:cNvPr id="21" name="Text 16"/>
          <p:cNvSpPr/>
          <p:nvPr/>
        </p:nvSpPr>
        <p:spPr>
          <a:xfrm>
            <a:off x="794325" y="5517852"/>
            <a:ext cx="3663362" cy="543223"/>
          </a:xfrm>
          <a:prstGeom prst="rect">
            <a:avLst/>
          </a:prstGeom>
          <a:noFill/>
        </p:spPr>
        <p:txBody>
          <a:bodyPr wrap="square" lIns="0" tIns="0" rIns="0" bIns="0" rtlCol="0" anchor="t">
            <a:normAutofit/>
          </a:bodyPr>
          <a:lstStyle/>
          <a:p>
            <a:pPr marL="0" indent="0" algn="l">
              <a:lnSpc>
                <a:spcPct val="114000"/>
              </a:lnSpc>
              <a:buNone/>
            </a:pPr>
            <a:r>
              <a:rPr lang="en-US" sz="1000" dirty="0">
                <a:solidFill>
                  <a:srgbClr val="2C2821"/>
                </a:solidFill>
                <a:latin typeface="Lora" pitchFamily="34" charset="0"/>
                <a:ea typeface="Lora" pitchFamily="34" charset="-122"/>
                <a:cs typeface="Lora" pitchFamily="34" charset="-120"/>
              </a:rPr>
              <a:t>Untuk membuktikan bahwa satu kali pemindaian SSCC secara instan mendaftarkan semua detail kargo ke lokasi bin WMS.</a:t>
            </a:r>
            <a:endParaRPr lang="en-US" sz="1000" dirty="0"/>
          </a:p>
        </p:txBody>
      </p:sp>
      <p:sp>
        <p:nvSpPr>
          <p:cNvPr id="22" name="Text 17"/>
          <p:cNvSpPr/>
          <p:nvPr/>
        </p:nvSpPr>
        <p:spPr>
          <a:xfrm>
            <a:off x="5120452" y="1838127"/>
            <a:ext cx="6416018" cy="207566"/>
          </a:xfrm>
          <a:prstGeom prst="rect">
            <a:avLst/>
          </a:prstGeom>
          <a:noFill/>
        </p:spPr>
        <p:txBody>
          <a:bodyPr wrap="none" lIns="0" tIns="0" rIns="0" bIns="0" rtlCol="0" anchor="t"/>
          <a:lstStyle/>
          <a:p>
            <a:pPr marL="0" indent="0" algn="l">
              <a:lnSpc>
                <a:spcPct val="104000"/>
              </a:lnSpc>
              <a:buNone/>
            </a:pPr>
            <a:r>
              <a:rPr lang="en-US" sz="1300" dirty="0">
                <a:solidFill>
                  <a:srgbClr val="233E32"/>
                </a:solidFill>
                <a:latin typeface="Alice" pitchFamily="34" charset="0"/>
                <a:ea typeface="Alice" pitchFamily="34" charset="-122"/>
                <a:cs typeface="Alice" pitchFamily="34" charset="-120"/>
              </a:rPr>
              <a:t>Lokasi</a:t>
            </a:r>
            <a:endParaRPr lang="en-US" sz="1300" dirty="0"/>
          </a:p>
        </p:txBody>
      </p:sp>
      <p:sp>
        <p:nvSpPr>
          <p:cNvPr id="23" name="Text 18"/>
          <p:cNvSpPr/>
          <p:nvPr/>
        </p:nvSpPr>
        <p:spPr>
          <a:xfrm>
            <a:off x="5120452" y="2139057"/>
            <a:ext cx="7025603" cy="181074"/>
          </a:xfrm>
          <a:prstGeom prst="rect">
            <a:avLst/>
          </a:prstGeom>
          <a:noFill/>
        </p:spPr>
        <p:txBody>
          <a:bodyPr wrap="none" lIns="0" tIns="0" rIns="0" bIns="0" rtlCol="0" anchor="t"/>
          <a:lstStyle/>
          <a:p>
            <a:pPr marL="0" indent="0" algn="l">
              <a:lnSpc>
                <a:spcPct val="114000"/>
              </a:lnSpc>
              <a:buNone/>
            </a:pPr>
            <a:r>
              <a:rPr lang="en-US" sz="1000" dirty="0">
                <a:solidFill>
                  <a:srgbClr val="2C2821"/>
                </a:solidFill>
                <a:latin typeface="Lora" pitchFamily="34" charset="0"/>
                <a:ea typeface="Lora" pitchFamily="34" charset="-122"/>
                <a:cs typeface="Lora" pitchFamily="34" charset="-120"/>
              </a:rPr>
              <a:t>Area Gerbang Penerimaan Gudang 3PL.</a:t>
            </a:r>
            <a:endParaRPr lang="en-US" sz="1000" dirty="0"/>
          </a:p>
        </p:txBody>
      </p:sp>
      <p:sp>
        <p:nvSpPr>
          <p:cNvPr id="24" name="Shape 19"/>
          <p:cNvSpPr/>
          <p:nvPr/>
        </p:nvSpPr>
        <p:spPr>
          <a:xfrm>
            <a:off x="4921127" y="1744762"/>
            <a:ext cx="19050" cy="659408"/>
          </a:xfrm>
          <a:prstGeom prst="roundRect">
            <a:avLst>
              <a:gd name="adj" fmla="val 49999"/>
            </a:avLst>
          </a:prstGeom>
          <a:solidFill>
            <a:srgbClr val="1B5F39"/>
          </a:solidFill>
        </p:spPr>
      </p:sp>
      <p:sp>
        <p:nvSpPr>
          <p:cNvPr id="25" name="Text 20"/>
          <p:cNvSpPr/>
          <p:nvPr/>
        </p:nvSpPr>
        <p:spPr>
          <a:xfrm>
            <a:off x="5120452" y="2602607"/>
            <a:ext cx="6416018" cy="207566"/>
          </a:xfrm>
          <a:prstGeom prst="rect">
            <a:avLst/>
          </a:prstGeom>
          <a:noFill/>
        </p:spPr>
        <p:txBody>
          <a:bodyPr wrap="none" lIns="0" tIns="0" rIns="0" bIns="0" rtlCol="0" anchor="t"/>
          <a:lstStyle/>
          <a:p>
            <a:pPr marL="0" indent="0" algn="l">
              <a:lnSpc>
                <a:spcPct val="104000"/>
              </a:lnSpc>
              <a:buNone/>
            </a:pPr>
            <a:r>
              <a:rPr lang="en-US" sz="1300" dirty="0">
                <a:solidFill>
                  <a:srgbClr val="233E32"/>
                </a:solidFill>
                <a:latin typeface="Alice" pitchFamily="34" charset="0"/>
                <a:ea typeface="Alice" pitchFamily="34" charset="-122"/>
                <a:cs typeface="Alice" pitchFamily="34" charset="-120"/>
              </a:rPr>
              <a:t>Aktivitas</a:t>
            </a:r>
            <a:endParaRPr lang="en-US" sz="1300" dirty="0"/>
          </a:p>
        </p:txBody>
      </p:sp>
      <p:sp>
        <p:nvSpPr>
          <p:cNvPr id="26" name="Text 21"/>
          <p:cNvSpPr/>
          <p:nvPr/>
        </p:nvSpPr>
        <p:spPr>
          <a:xfrm>
            <a:off x="5120452" y="2903538"/>
            <a:ext cx="7025603" cy="181074"/>
          </a:xfrm>
          <a:prstGeom prst="rect">
            <a:avLst/>
          </a:prstGeom>
          <a:noFill/>
        </p:spPr>
        <p:txBody>
          <a:bodyPr wrap="none" lIns="0" tIns="0" rIns="0" bIns="0" rtlCol="0" anchor="t"/>
          <a:lstStyle/>
          <a:p>
            <a:pPr marL="0" indent="0" algn="l">
              <a:lnSpc>
                <a:spcPct val="114000"/>
              </a:lnSpc>
              <a:buNone/>
            </a:pPr>
            <a:r>
              <a:rPr lang="en-US" sz="1000" dirty="0">
                <a:solidFill>
                  <a:srgbClr val="2C2821"/>
                </a:solidFill>
                <a:latin typeface="Lora" pitchFamily="34" charset="0"/>
                <a:ea typeface="Lora" pitchFamily="34" charset="-122"/>
                <a:cs typeface="Lora" pitchFamily="34" charset="-120"/>
              </a:rPr>
              <a:t>Memindai 1 palet produk susu impor berlabel GS1-128 dan SSCC (00).</a:t>
            </a:r>
            <a:endParaRPr lang="en-US" sz="1000" dirty="0"/>
          </a:p>
        </p:txBody>
      </p:sp>
      <p:sp>
        <p:nvSpPr>
          <p:cNvPr id="27" name="Shape 22"/>
          <p:cNvSpPr/>
          <p:nvPr/>
        </p:nvSpPr>
        <p:spPr>
          <a:xfrm>
            <a:off x="4921127" y="2509242"/>
            <a:ext cx="19050" cy="659408"/>
          </a:xfrm>
          <a:prstGeom prst="roundRect">
            <a:avLst>
              <a:gd name="adj" fmla="val 49999"/>
            </a:avLst>
          </a:prstGeom>
          <a:solidFill>
            <a:srgbClr val="1B5F39"/>
          </a:solidFill>
        </p:spPr>
      </p:sp>
      <p:sp>
        <p:nvSpPr>
          <p:cNvPr id="28" name="Text 23"/>
          <p:cNvSpPr/>
          <p:nvPr/>
        </p:nvSpPr>
        <p:spPr>
          <a:xfrm>
            <a:off x="5120452" y="3367088"/>
            <a:ext cx="6416018" cy="207566"/>
          </a:xfrm>
          <a:prstGeom prst="rect">
            <a:avLst/>
          </a:prstGeom>
          <a:noFill/>
        </p:spPr>
        <p:txBody>
          <a:bodyPr wrap="none" lIns="0" tIns="0" rIns="0" bIns="0" rtlCol="0" anchor="t"/>
          <a:lstStyle/>
          <a:p>
            <a:pPr marL="0" indent="0" algn="l">
              <a:lnSpc>
                <a:spcPct val="104000"/>
              </a:lnSpc>
              <a:buNone/>
            </a:pPr>
            <a:r>
              <a:rPr lang="en-US" sz="1300" dirty="0">
                <a:solidFill>
                  <a:srgbClr val="233E32"/>
                </a:solidFill>
                <a:latin typeface="Alice" pitchFamily="34" charset="0"/>
                <a:ea typeface="Alice" pitchFamily="34" charset="-122"/>
                <a:cs typeface="Alice" pitchFamily="34" charset="-120"/>
              </a:rPr>
              <a:t>Tujuan PoC</a:t>
            </a:r>
            <a:endParaRPr lang="en-US" sz="1300" dirty="0"/>
          </a:p>
        </p:txBody>
      </p:sp>
      <p:sp>
        <p:nvSpPr>
          <p:cNvPr id="29" name="Text 24"/>
          <p:cNvSpPr/>
          <p:nvPr/>
        </p:nvSpPr>
        <p:spPr>
          <a:xfrm>
            <a:off x="5120452" y="3668018"/>
            <a:ext cx="6416018" cy="362148"/>
          </a:xfrm>
          <a:prstGeom prst="rect">
            <a:avLst/>
          </a:prstGeom>
          <a:noFill/>
        </p:spPr>
        <p:txBody>
          <a:bodyPr wrap="square" lIns="0" tIns="0" rIns="0" bIns="0" rtlCol="0" anchor="t">
            <a:normAutofit/>
          </a:bodyPr>
          <a:lstStyle/>
          <a:p>
            <a:pPr marL="0" indent="0" algn="l">
              <a:lnSpc>
                <a:spcPct val="114000"/>
              </a:lnSpc>
              <a:buNone/>
            </a:pPr>
            <a:r>
              <a:rPr lang="en-US" sz="1000" dirty="0">
                <a:solidFill>
                  <a:srgbClr val="2C2821"/>
                </a:solidFill>
                <a:latin typeface="Lora" pitchFamily="34" charset="0"/>
                <a:ea typeface="Lora" pitchFamily="34" charset="-122"/>
                <a:cs typeface="Lora" pitchFamily="34" charset="-120"/>
              </a:rPr>
              <a:t>Untuk membuktikan bahwa satu kali pemindaian SSCC secara instan mendaftarkan semua detail kargo ke lokasi bin WMS.</a:t>
            </a:r>
            <a:endParaRPr lang="en-US" sz="1000" dirty="0"/>
          </a:p>
        </p:txBody>
      </p:sp>
      <p:sp>
        <p:nvSpPr>
          <p:cNvPr id="30" name="Shape 25"/>
          <p:cNvSpPr/>
          <p:nvPr/>
        </p:nvSpPr>
        <p:spPr>
          <a:xfrm>
            <a:off x="4921127" y="3273723"/>
            <a:ext cx="19050" cy="840482"/>
          </a:xfrm>
          <a:prstGeom prst="roundRect">
            <a:avLst>
              <a:gd name="adj" fmla="val 49999"/>
            </a:avLst>
          </a:prstGeom>
          <a:solidFill>
            <a:srgbClr val="1B5F39"/>
          </a:solid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27149"/>
            <a:ext cx="6296860" cy="239911"/>
          </a:xfrm>
          <a:prstGeom prst="rect">
            <a:avLst/>
          </a:prstGeom>
          <a:noFill/>
        </p:spPr>
        <p:txBody>
          <a:bodyPr wrap="none" lIns="0" tIns="0" rIns="0" bIns="0" rtlCol="0" anchor="t"/>
          <a:lstStyle/>
          <a:p>
            <a:pPr marL="0" indent="0" algn="l">
              <a:lnSpc>
                <a:spcPct val="104000"/>
              </a:lnSpc>
              <a:buNone/>
            </a:pPr>
            <a:r>
              <a:rPr lang="en-US" sz="1500" dirty="0">
                <a:solidFill>
                  <a:srgbClr val="233E32"/>
                </a:solidFill>
                <a:latin typeface="Alice" pitchFamily="34" charset="0"/>
                <a:ea typeface="Alice" pitchFamily="34" charset="-122"/>
                <a:cs typeface="Alice" pitchFamily="34" charset="-120"/>
              </a:rPr>
              <a:t>Langkah-Langkah Implementasi Data AIDC</a:t>
            </a:r>
            <a:endParaRPr lang="en-US" sz="1500" dirty="0"/>
          </a:p>
        </p:txBody>
      </p:sp>
      <p:sp>
        <p:nvSpPr>
          <p:cNvPr id="4" name="Text 1"/>
          <p:cNvSpPr/>
          <p:nvPr/>
        </p:nvSpPr>
        <p:spPr>
          <a:xfrm>
            <a:off x="661475" y="816967"/>
            <a:ext cx="6296860" cy="479921"/>
          </a:xfrm>
          <a:prstGeom prst="rect">
            <a:avLst/>
          </a:prstGeom>
          <a:noFill/>
        </p:spPr>
        <p:txBody>
          <a:bodyPr wrap="none" lIns="0" tIns="0" rIns="0" bIns="0" rtlCol="0" anchor="t"/>
          <a:lstStyle/>
          <a:p>
            <a:pPr marL="0" indent="0" algn="l">
              <a:lnSpc>
                <a:spcPct val="104000"/>
              </a:lnSpc>
              <a:buNone/>
            </a:pPr>
            <a:r>
              <a:rPr lang="en-US" sz="3000" dirty="0">
                <a:solidFill>
                  <a:srgbClr val="233E32"/>
                </a:solidFill>
                <a:latin typeface="Alice" pitchFamily="34" charset="0"/>
                <a:ea typeface="Alice" pitchFamily="34" charset="-122"/>
                <a:cs typeface="Alice" pitchFamily="34" charset="-120"/>
              </a:rPr>
              <a:t>Tahapan Eksekusi Simulasi PoC</a:t>
            </a:r>
            <a:endParaRPr lang="en-US" sz="3000" dirty="0"/>
          </a:p>
        </p:txBody>
      </p:sp>
      <p:sp>
        <p:nvSpPr>
          <p:cNvPr id="5" name="Shape 2"/>
          <p:cNvSpPr/>
          <p:nvPr/>
        </p:nvSpPr>
        <p:spPr>
          <a:xfrm>
            <a:off x="661475" y="1522313"/>
            <a:ext cx="6296860" cy="19050"/>
          </a:xfrm>
          <a:prstGeom prst="roundRect">
            <a:avLst>
              <a:gd name="adj" fmla="val 49999"/>
            </a:avLst>
          </a:prstGeom>
          <a:solidFill>
            <a:srgbClr val="2C2821">
              <a:alpha val="50000"/>
            </a:srgbClr>
          </a:solidFill>
        </p:spPr>
      </p:sp>
      <p:pic>
        <p:nvPicPr>
          <p:cNvPr id="6"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719957"/>
            <a:ext cx="6296860" cy="921445"/>
          </a:xfrm>
          <a:prstGeom prst="rect">
            <a:avLst/>
          </a:prstGeom>
        </p:spPr>
      </p:pic>
      <p:sp>
        <p:nvSpPr>
          <p:cNvPr id="7" name="Text 3"/>
          <p:cNvSpPr/>
          <p:nvPr/>
        </p:nvSpPr>
        <p:spPr>
          <a:xfrm>
            <a:off x="958727" y="1892498"/>
            <a:ext cx="5980558" cy="239911"/>
          </a:xfrm>
          <a:prstGeom prst="rect">
            <a:avLst/>
          </a:prstGeom>
          <a:noFill/>
        </p:spPr>
        <p:txBody>
          <a:bodyPr wrap="none" lIns="0" tIns="0" rIns="0" bIns="0" rtlCol="0" anchor="t"/>
          <a:lstStyle/>
          <a:p>
            <a:pPr marL="0" indent="0" algn="l">
              <a:lnSpc>
                <a:spcPct val="104000"/>
              </a:lnSpc>
              <a:buNone/>
            </a:pPr>
            <a:r>
              <a:rPr lang="en-US" sz="1500" dirty="0">
                <a:solidFill>
                  <a:srgbClr val="2C2821"/>
                </a:solidFill>
                <a:latin typeface="Alice" pitchFamily="34" charset="0"/>
                <a:ea typeface="Alice" pitchFamily="34" charset="-122"/>
                <a:cs typeface="Alice" pitchFamily="34" charset="-120"/>
              </a:rPr>
              <a:t>Input Data Fisik</a:t>
            </a:r>
            <a:endParaRPr lang="en-US" sz="1500" dirty="0"/>
          </a:p>
        </p:txBody>
      </p:sp>
      <p:sp>
        <p:nvSpPr>
          <p:cNvPr id="8" name="Text 4"/>
          <p:cNvSpPr/>
          <p:nvPr/>
        </p:nvSpPr>
        <p:spPr>
          <a:xfrm>
            <a:off x="958727" y="2207220"/>
            <a:ext cx="5980558" cy="222647"/>
          </a:xfrm>
          <a:prstGeom prst="rect">
            <a:avLst/>
          </a:prstGeom>
          <a:noFill/>
        </p:spPr>
        <p:txBody>
          <a:bodyPr wrap="none" lIns="0" tIns="0" rIns="0" bIns="0" rtlCol="0" anchor="t"/>
          <a:lstStyle/>
          <a:p>
            <a:pPr marL="0" indent="0" algn="l">
              <a:lnSpc>
                <a:spcPct val="121000"/>
              </a:lnSpc>
              <a:buNone/>
            </a:pPr>
            <a:r>
              <a:rPr lang="en-US" sz="1200" dirty="0">
                <a:solidFill>
                  <a:srgbClr val="2C2821"/>
                </a:solidFill>
                <a:latin typeface="Lora" pitchFamily="34" charset="0"/>
                <a:ea typeface="Lora" pitchFamily="34" charset="-122"/>
                <a:cs typeface="Lora" pitchFamily="34" charset="-120"/>
              </a:rPr>
              <a:t>Operator memindai string GS1-128 pada palet menggunakan perangkat AIDC.</a:t>
            </a:r>
            <a:endParaRPr lang="en-US" sz="1200" dirty="0"/>
          </a:p>
        </p:txBody>
      </p:sp>
      <p:pic>
        <p:nvPicPr>
          <p:cNvPr id="9"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1756" y="2766120"/>
            <a:ext cx="6066579" cy="1105098"/>
          </a:xfrm>
          <a:prstGeom prst="rect">
            <a:avLst/>
          </a:prstGeom>
        </p:spPr>
      </p:pic>
      <p:sp>
        <p:nvSpPr>
          <p:cNvPr id="10" name="Text 5"/>
          <p:cNvSpPr/>
          <p:nvPr/>
        </p:nvSpPr>
        <p:spPr>
          <a:xfrm>
            <a:off x="1189008" y="2938661"/>
            <a:ext cx="5750277" cy="239911"/>
          </a:xfrm>
          <a:prstGeom prst="rect">
            <a:avLst/>
          </a:prstGeom>
          <a:noFill/>
        </p:spPr>
        <p:txBody>
          <a:bodyPr wrap="none" lIns="0" tIns="0" rIns="0" bIns="0" rtlCol="0" anchor="t"/>
          <a:lstStyle/>
          <a:p>
            <a:pPr marL="0" indent="0" algn="l">
              <a:lnSpc>
                <a:spcPct val="104000"/>
              </a:lnSpc>
              <a:buNone/>
            </a:pPr>
            <a:r>
              <a:rPr lang="en-US" sz="1500" dirty="0">
                <a:solidFill>
                  <a:srgbClr val="2C2821"/>
                </a:solidFill>
                <a:latin typeface="Alice" pitchFamily="34" charset="0"/>
                <a:ea typeface="Alice" pitchFamily="34" charset="-122"/>
                <a:cs typeface="Alice" pitchFamily="34" charset="-120"/>
              </a:rPr>
              <a:t>Parsing Data</a:t>
            </a:r>
            <a:endParaRPr lang="en-US" sz="1500" dirty="0"/>
          </a:p>
        </p:txBody>
      </p:sp>
      <p:sp>
        <p:nvSpPr>
          <p:cNvPr id="11" name="Text 6"/>
          <p:cNvSpPr/>
          <p:nvPr/>
        </p:nvSpPr>
        <p:spPr>
          <a:xfrm>
            <a:off x="1189008" y="3253383"/>
            <a:ext cx="5750277" cy="445294"/>
          </a:xfrm>
          <a:prstGeom prst="rect">
            <a:avLst/>
          </a:prstGeom>
          <a:noFill/>
        </p:spPr>
        <p:txBody>
          <a:bodyPr wrap="square" lIns="0" tIns="0" rIns="0" bIns="0" rtlCol="0" anchor="t">
            <a:normAutofit/>
          </a:bodyPr>
          <a:lstStyle/>
          <a:p>
            <a:pPr marL="0" indent="0" algn="l">
              <a:lnSpc>
                <a:spcPct val="121000"/>
              </a:lnSpc>
              <a:buNone/>
            </a:pPr>
            <a:r>
              <a:rPr lang="en-US" sz="1200" dirty="0">
                <a:solidFill>
                  <a:srgbClr val="2C2821"/>
                </a:solidFill>
                <a:latin typeface="Lora" pitchFamily="34" charset="0"/>
                <a:ea typeface="Lora" pitchFamily="34" charset="-122"/>
                <a:cs typeface="Lora" pitchFamily="34" charset="-120"/>
              </a:rPr>
              <a:t>Perangkat AIDC secara otomatis memisahkan kode SSCC, GTIN, Batch, dan Tanggal Kedaluwarsa dari string yang dipindai.</a:t>
            </a:r>
            <a:endParaRPr lang="en-US" sz="1200" dirty="0"/>
          </a:p>
        </p:txBody>
      </p:sp>
      <p:pic>
        <p:nvPicPr>
          <p:cNvPr id="12" name="Image 3"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2136" y="3995936"/>
            <a:ext cx="5836199" cy="1105098"/>
          </a:xfrm>
          <a:prstGeom prst="rect">
            <a:avLst/>
          </a:prstGeom>
        </p:spPr>
      </p:pic>
      <p:sp>
        <p:nvSpPr>
          <p:cNvPr id="13" name="Text 7"/>
          <p:cNvSpPr/>
          <p:nvPr/>
        </p:nvSpPr>
        <p:spPr>
          <a:xfrm>
            <a:off x="1419388" y="4168477"/>
            <a:ext cx="5519897" cy="239911"/>
          </a:xfrm>
          <a:prstGeom prst="rect">
            <a:avLst/>
          </a:prstGeom>
          <a:noFill/>
        </p:spPr>
        <p:txBody>
          <a:bodyPr wrap="none" lIns="0" tIns="0" rIns="0" bIns="0" rtlCol="0" anchor="t"/>
          <a:lstStyle/>
          <a:p>
            <a:pPr marL="0" indent="0" algn="l">
              <a:lnSpc>
                <a:spcPct val="104000"/>
              </a:lnSpc>
              <a:buNone/>
            </a:pPr>
            <a:r>
              <a:rPr lang="en-US" sz="1500" dirty="0">
                <a:solidFill>
                  <a:srgbClr val="2C2821"/>
                </a:solidFill>
                <a:latin typeface="Alice" pitchFamily="34" charset="0"/>
                <a:ea typeface="Alice" pitchFamily="34" charset="-122"/>
                <a:cs typeface="Alice" pitchFamily="34" charset="-120"/>
              </a:rPr>
              <a:t>Transmisi API</a:t>
            </a:r>
            <a:endParaRPr lang="en-US" sz="1500" dirty="0"/>
          </a:p>
        </p:txBody>
      </p:sp>
      <p:sp>
        <p:nvSpPr>
          <p:cNvPr id="14" name="Text 8"/>
          <p:cNvSpPr/>
          <p:nvPr/>
        </p:nvSpPr>
        <p:spPr>
          <a:xfrm>
            <a:off x="1419388" y="4483199"/>
            <a:ext cx="5519897" cy="445294"/>
          </a:xfrm>
          <a:prstGeom prst="rect">
            <a:avLst/>
          </a:prstGeom>
          <a:noFill/>
        </p:spPr>
        <p:txBody>
          <a:bodyPr wrap="square" lIns="0" tIns="0" rIns="0" bIns="0" rtlCol="0" anchor="t">
            <a:normAutofit/>
          </a:bodyPr>
          <a:lstStyle/>
          <a:p>
            <a:pPr marL="0" indent="0" algn="l">
              <a:lnSpc>
                <a:spcPct val="121000"/>
              </a:lnSpc>
              <a:buNone/>
            </a:pPr>
            <a:r>
              <a:rPr lang="en-US" sz="1200" dirty="0">
                <a:solidFill>
                  <a:srgbClr val="2C2821"/>
                </a:solidFill>
                <a:latin typeface="Lora" pitchFamily="34" charset="0"/>
                <a:ea typeface="Lora" pitchFamily="34" charset="-122"/>
                <a:cs typeface="Lora" pitchFamily="34" charset="-120"/>
              </a:rPr>
              <a:t>Data yang telah diparsing dikirimkan sebagai HTTP POST Request dalam format JSON payload ke server WMS (Warehouse Management System).</a:t>
            </a:r>
            <a:endParaRPr lang="en-US" sz="1200" dirty="0"/>
          </a:p>
        </p:txBody>
      </p:sp>
      <p:pic>
        <p:nvPicPr>
          <p:cNvPr id="15" name="Image 4"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52516" y="5225752"/>
            <a:ext cx="5605818" cy="1105098"/>
          </a:xfrm>
          <a:prstGeom prst="rect">
            <a:avLst/>
          </a:prstGeom>
        </p:spPr>
      </p:pic>
      <p:sp>
        <p:nvSpPr>
          <p:cNvPr id="16" name="Text 9"/>
          <p:cNvSpPr/>
          <p:nvPr/>
        </p:nvSpPr>
        <p:spPr>
          <a:xfrm>
            <a:off x="1649768" y="5398294"/>
            <a:ext cx="5289517" cy="239911"/>
          </a:xfrm>
          <a:prstGeom prst="rect">
            <a:avLst/>
          </a:prstGeom>
          <a:noFill/>
        </p:spPr>
        <p:txBody>
          <a:bodyPr wrap="none" lIns="0" tIns="0" rIns="0" bIns="0" rtlCol="0" anchor="t"/>
          <a:lstStyle/>
          <a:p>
            <a:pPr marL="0" indent="0" algn="l">
              <a:lnSpc>
                <a:spcPct val="104000"/>
              </a:lnSpc>
              <a:buNone/>
            </a:pPr>
            <a:r>
              <a:rPr lang="en-US" sz="1500" dirty="0">
                <a:solidFill>
                  <a:srgbClr val="2C2821"/>
                </a:solidFill>
                <a:latin typeface="Alice" pitchFamily="34" charset="0"/>
                <a:ea typeface="Alice" pitchFamily="34" charset="-122"/>
                <a:cs typeface="Alice" pitchFamily="34" charset="-120"/>
              </a:rPr>
              <a:t>Konfirmasi Sistem</a:t>
            </a:r>
            <a:endParaRPr lang="en-US" sz="1500" dirty="0"/>
          </a:p>
        </p:txBody>
      </p:sp>
      <p:sp>
        <p:nvSpPr>
          <p:cNvPr id="17" name="Text 10"/>
          <p:cNvSpPr/>
          <p:nvPr/>
        </p:nvSpPr>
        <p:spPr>
          <a:xfrm>
            <a:off x="1649768" y="5713016"/>
            <a:ext cx="5289517" cy="445294"/>
          </a:xfrm>
          <a:prstGeom prst="rect">
            <a:avLst/>
          </a:prstGeom>
          <a:noFill/>
        </p:spPr>
        <p:txBody>
          <a:bodyPr wrap="square" lIns="0" tIns="0" rIns="0" bIns="0" rtlCol="0" anchor="t">
            <a:normAutofit/>
          </a:bodyPr>
          <a:lstStyle/>
          <a:p>
            <a:pPr marL="0" indent="0" algn="l">
              <a:lnSpc>
                <a:spcPct val="121000"/>
              </a:lnSpc>
              <a:buNone/>
            </a:pPr>
            <a:r>
              <a:rPr lang="en-US" sz="1200" dirty="0">
                <a:solidFill>
                  <a:srgbClr val="2C2821"/>
                </a:solidFill>
                <a:latin typeface="Lora" pitchFamily="34" charset="0"/>
                <a:ea typeface="Lora" pitchFamily="34" charset="-122"/>
                <a:cs typeface="Lora" pitchFamily="34" charset="-120"/>
              </a:rPr>
              <a:t>Server WMS merespons dengan status 200 OK dan secara otomatis mengalokasikan lokasi penyimpanan yang tepat untuk palet tersebut.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37071"/>
            <a:ext cx="6296860" cy="1052116"/>
          </a:xfrm>
          <a:prstGeom prst="rect">
            <a:avLst/>
          </a:prstGeom>
          <a:noFill/>
        </p:spPr>
        <p:txBody>
          <a:bodyPr wrap="square" lIns="0" tIns="0" rIns="0" bIns="0" rtlCol="0" anchor="t">
            <a:normAutofit/>
          </a:bodyPr>
          <a:lstStyle/>
          <a:p>
            <a:pPr marL="0" indent="0" algn="l">
              <a:lnSpc>
                <a:spcPct val="104000"/>
              </a:lnSpc>
              <a:buNone/>
            </a:pPr>
            <a:r>
              <a:rPr lang="en-US" sz="3300" dirty="0">
                <a:solidFill>
                  <a:srgbClr val="233E32"/>
                </a:solidFill>
                <a:latin typeface="Alice" pitchFamily="34" charset="0"/>
                <a:ea typeface="Alice" pitchFamily="34" charset="-122"/>
                <a:cs typeface="Alice" pitchFamily="34" charset="-120"/>
              </a:rPr>
              <a:t>JSON Payload Structure: WMS Inbound</a:t>
            </a:r>
            <a:endParaRPr lang="en-US" sz="3300" dirty="0"/>
          </a:p>
        </p:txBody>
      </p:sp>
      <p:sp>
        <p:nvSpPr>
          <p:cNvPr id="4" name="Text 1"/>
          <p:cNvSpPr/>
          <p:nvPr/>
        </p:nvSpPr>
        <p:spPr>
          <a:xfrm>
            <a:off x="5233360" y="1814016"/>
            <a:ext cx="6296860" cy="763786"/>
          </a:xfrm>
          <a:prstGeom prst="rect">
            <a:avLst/>
          </a:prstGeom>
          <a:noFill/>
        </p:spPr>
        <p:txBody>
          <a:bodyPr wrap="square" lIns="0" tIns="0" rIns="0" bIns="0" rtlCol="0" anchor="t">
            <a:normAutofit/>
          </a:bodyPr>
          <a:lstStyle/>
          <a:p>
            <a:pPr marL="0" indent="0" algn="l">
              <a:lnSpc>
                <a:spcPct val="126000"/>
              </a:lnSpc>
              <a:buNone/>
            </a:pPr>
            <a:r>
              <a:rPr lang="en-US" sz="1300" dirty="0">
                <a:solidFill>
                  <a:srgbClr val="2C2821"/>
                </a:solidFill>
                <a:latin typeface="Lora" pitchFamily="34" charset="0"/>
                <a:ea typeface="Lora" pitchFamily="34" charset="-122"/>
                <a:cs typeface="Lora" pitchFamily="34" charset="-120"/>
              </a:rPr>
              <a:t>This JSON payload simulates the structured data sent from the AIDC device to the Warehouse Management System (WMS) endpoint during an inbound pallet receiving event.</a:t>
            </a:r>
            <a:endParaRPr lang="en-US" sz="1300" dirty="0"/>
          </a:p>
        </p:txBody>
      </p:sp>
      <p:sp>
        <p:nvSpPr>
          <p:cNvPr id="5" name="Text 2"/>
          <p:cNvSpPr/>
          <p:nvPr/>
        </p:nvSpPr>
        <p:spPr>
          <a:xfrm>
            <a:off x="5233360" y="2802632"/>
            <a:ext cx="6296860" cy="263029"/>
          </a:xfrm>
          <a:prstGeom prst="rect">
            <a:avLst/>
          </a:prstGeom>
          <a:noFill/>
        </p:spPr>
        <p:txBody>
          <a:bodyPr wrap="none" lIns="0" tIns="0" rIns="0" bIns="0" rtlCol="0" anchor="t"/>
          <a:lstStyle/>
          <a:p>
            <a:pPr marL="0" indent="0" algn="l">
              <a:lnSpc>
                <a:spcPct val="104000"/>
              </a:lnSpc>
              <a:buNone/>
            </a:pPr>
            <a:r>
              <a:rPr lang="en-US" sz="1650" dirty="0">
                <a:solidFill>
                  <a:srgbClr val="233E32"/>
                </a:solidFill>
                <a:latin typeface="Alice" pitchFamily="34" charset="0"/>
                <a:ea typeface="Alice" pitchFamily="34" charset="-122"/>
                <a:cs typeface="Alice" pitchFamily="34" charset="-120"/>
              </a:rPr>
              <a:t>API Request Format</a:t>
            </a:r>
            <a:endParaRPr lang="en-US" sz="1650" dirty="0"/>
          </a:p>
        </p:txBody>
      </p:sp>
      <p:sp>
        <p:nvSpPr>
          <p:cNvPr id="6" name="Shape 3"/>
          <p:cNvSpPr/>
          <p:nvPr/>
        </p:nvSpPr>
        <p:spPr>
          <a:xfrm>
            <a:off x="5233360" y="3290491"/>
            <a:ext cx="6296860" cy="3030339"/>
          </a:xfrm>
          <a:prstGeom prst="roundRect">
            <a:avLst>
              <a:gd name="adj" fmla="val 833"/>
            </a:avLst>
          </a:prstGeom>
          <a:solidFill>
            <a:srgbClr val="EFEEEB"/>
          </a:solidFill>
        </p:spPr>
      </p:sp>
      <p:sp>
        <p:nvSpPr>
          <p:cNvPr id="7" name="Text 4"/>
          <p:cNvSpPr/>
          <p:nvPr/>
        </p:nvSpPr>
        <p:spPr>
          <a:xfrm>
            <a:off x="5435365" y="3458766"/>
            <a:ext cx="5892851" cy="2693789"/>
          </a:xfrm>
          <a:prstGeom prst="rect">
            <a:avLst/>
          </a:prstGeom>
          <a:noFill/>
        </p:spPr>
        <p:txBody>
          <a:bodyPr wrap="square" lIns="0" tIns="0" rIns="0" bIns="0" rtlCol="0" anchor="t">
            <a:normAutofit/>
          </a:bodyPr>
          <a:lstStyle/>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120"/>
              </a:rPr>
              <a:t>{</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120"/>
              </a:rPr>
              <a:t>  "event_type": "PALLET_INBOUND_RECEIVING",</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120"/>
              </a:rPr>
              <a:t>  "device_id": "SCANNER-GATE-01",</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120"/>
              </a:rPr>
              <a:t>  "sscc": "389912345000000128",</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120"/>
              </a:rPr>
              <a:t>  "gtin": "08991234567890",</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120"/>
              </a:rPr>
              <a:t>  "batch_no": "LOT9988",</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120"/>
              </a:rPr>
              <a:t>  "expiry_date": "2026-12-31",</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120"/>
              </a:rPr>
              <a:t>  "quantity_cartons": 100,</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120"/>
              </a:rPr>
              <a:t>  "scanned_at": "2026-09-16T08:22:00Z"</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120"/>
              </a:rPr>
              <a: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531838"/>
            <a:ext cx="6296860" cy="1181298"/>
          </a:xfrm>
          <a:prstGeom prst="rect">
            <a:avLst/>
          </a:prstGeom>
          <a:noFill/>
        </p:spPr>
        <p:txBody>
          <a:bodyPr wrap="square" lIns="0" tIns="0" rIns="0" bIns="0" rtlCol="0" anchor="t">
            <a:normAutofit/>
          </a:bodyPr>
          <a:lstStyle/>
          <a:p>
            <a:pPr marL="0" indent="0" algn="l">
              <a:lnSpc>
                <a:spcPct val="104000"/>
              </a:lnSpc>
              <a:buNone/>
            </a:pPr>
            <a:r>
              <a:rPr lang="en-US" sz="3700" dirty="0">
                <a:solidFill>
                  <a:srgbClr val="233E32"/>
                </a:solidFill>
                <a:latin typeface="Alice" pitchFamily="34" charset="0"/>
                <a:ea typeface="Alice" pitchFamily="34" charset="-122"/>
                <a:cs typeface="Alice" pitchFamily="34" charset="-120"/>
              </a:rPr>
              <a:t>API Data Testing Interface: Postman Example</a:t>
            </a:r>
            <a:endParaRPr lang="en-US" sz="3700" dirty="0"/>
          </a:p>
        </p:txBody>
      </p:sp>
      <p:sp>
        <p:nvSpPr>
          <p:cNvPr id="4" name="Text 1"/>
          <p:cNvSpPr/>
          <p:nvPr/>
        </p:nvSpPr>
        <p:spPr>
          <a:xfrm>
            <a:off x="661475" y="2996605"/>
            <a:ext cx="6296860" cy="2329557"/>
          </a:xfrm>
          <a:prstGeom prst="rect">
            <a:avLst/>
          </a:prstGeom>
          <a:noFill/>
        </p:spPr>
        <p:txBody>
          <a:bodyPr wrap="square" lIns="0" tIns="0" rIns="0" bIns="0" rtlCol="0" anchor="t">
            <a:normAutofit/>
          </a:bodyPr>
          <a:lstStyle/>
          <a:p>
            <a:pPr marL="0" indent="0" algn="l">
              <a:lnSpc>
                <a:spcPct val="133000"/>
              </a:lnSpc>
              <a:spcAft>
                <a:spcPts val="1650"/>
              </a:spcAft>
              <a:buNone/>
            </a:pPr>
            <a:r>
              <a:rPr lang="en-US" sz="1450" dirty="0">
                <a:solidFill>
                  <a:srgbClr val="2C2821"/>
                </a:solidFill>
                <a:latin typeface="Lora" pitchFamily="34" charset="0"/>
                <a:ea typeface="Lora" pitchFamily="34" charset="-122"/>
                <a:cs typeface="Lora" pitchFamily="34" charset="-120"/>
              </a:rPr>
              <a:t>This slide demonstrates the simulation testing display for API data submission, specifically utilizing Postman. It visualizes the process of sending the AIDC data payload, structured as previously defined, to the Warehouse Management System (WMS) API endpoint.</a:t>
            </a:r>
            <a:endParaRPr lang="en-US" sz="1450" dirty="0"/>
          </a:p>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The interface confirms that the JSON payload is correctly formatted and transmitted, receiving a successful response from the WMS, thus validating the integration setup for inbound logistics.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8971</Words>
  <Application>WPS Slides</Application>
  <PresentationFormat>On-screen Show (16:9)</PresentationFormat>
  <Paragraphs>295</Paragraphs>
  <Slides>18</Slides>
  <Notes>16</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18</vt:i4>
      </vt:variant>
    </vt:vector>
  </HeadingPairs>
  <TitlesOfParts>
    <vt:vector size="42" baseType="lpstr">
      <vt:lpstr>Arial</vt:lpstr>
      <vt:lpstr>SimSun</vt:lpstr>
      <vt:lpstr>Wingdings</vt:lpstr>
      <vt:lpstr>Alice</vt:lpstr>
      <vt:lpstr>Alice</vt:lpstr>
      <vt:lpstr>Alice</vt:lpstr>
      <vt:lpstr>Lora</vt:lpstr>
      <vt:lpstr>Lora</vt:lpstr>
      <vt:lpstr>Lora</vt:lpstr>
      <vt:lpstr>Lora Bold</vt:lpstr>
      <vt:lpstr>Lora Bold</vt:lpstr>
      <vt:lpstr>Lora Bold</vt:lpstr>
      <vt:lpstr>Consolas</vt:lpstr>
      <vt:lpstr>苹方-简</vt:lpstr>
      <vt:lpstr>Consolas</vt:lpstr>
      <vt:lpstr>Consolas</vt:lpstr>
      <vt:lpstr>Calibri</vt:lpstr>
      <vt:lpstr>Helvetica Neue</vt:lpstr>
      <vt:lpstr>Microsoft YaHei</vt:lpstr>
      <vt:lpstr>汉仪旗黑</vt:lpstr>
      <vt:lpstr>Arial Unicode MS</vt:lpstr>
      <vt:lpstr>宋体-简</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google1599180867</cp:lastModifiedBy>
  <cp:revision>2</cp:revision>
  <dcterms:created xsi:type="dcterms:W3CDTF">2026-09-16T01:55:54Z</dcterms:created>
  <dcterms:modified xsi:type="dcterms:W3CDTF">2026-09-16T01:55:54Z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C44F2B63D64BD0DD2AF7A96AB1139D79_42</vt:lpwstr>
  </property>
  <property fmtid="{D5CDD505-2E9C-101B-9397-08002B2CF9AE}" pid="3" name="KSOProductBuildVer">
    <vt:lpwstr>1033-6.13.1.8710</vt:lpwstr>
  </property>
</Properties>
</file>