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6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22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6A34A"/>
              </a:solidFill>
            </c:spPr>
            <c:extLst>
              <c:ext xmlns:c16="http://schemas.microsoft.com/office/drawing/2014/chart" uri="{C3380CC4-5D6E-409C-BE32-E72D297353CC}">
                <c16:uniqueId val="{00000001-9F1E-425A-B159-89408EE363A9}"/>
              </c:ext>
            </c:extLst>
          </c:dPt>
          <c:dPt>
            <c:idx val="1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9F1E-425A-B159-89408EE363A9}"/>
              </c:ext>
            </c:extLst>
          </c:dPt>
          <c:dPt>
            <c:idx val="2"/>
            <c:invertIfNegative val="1"/>
            <c:bubble3D val="0"/>
            <c:spPr>
              <a:solidFill>
                <a:srgbClr val="DC2626"/>
              </a:solidFill>
            </c:spPr>
            <c:extLst>
              <c:ext xmlns:c16="http://schemas.microsoft.com/office/drawing/2014/chart" uri="{C3380CC4-5D6E-409C-BE32-E72D297353CC}">
                <c16:uniqueId val="{00000005-9F1E-425A-B159-89408EE363A9}"/>
              </c:ext>
            </c:extLst>
          </c:dPt>
          <c:dLbls>
            <c:numFmt formatCode="&quot;Rp &quot;#,##0;;&quot;Grati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B2A5B"/>
                    </a:solidFill>
                  </a:defRPr>
                </a:pPr>
                <a:endParaRPr lang="id-I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Hari 1–3 (free time)</c:v>
                </c:pt>
                <c:pt idx="1">
                  <c:v>Hari 4–7</c:v>
                </c:pt>
                <c:pt idx="2">
                  <c:v>Hari ≥ 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250000</c:v>
                </c:pt>
                <c:pt idx="2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1E-425A-B159-89408EE363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D7F5"/>
            </a:solidFill>
          </a:ln>
        </c:spPr>
        <c:txPr>
          <a:bodyPr/>
          <a:lstStyle/>
          <a:p>
            <a:pPr>
              <a:defRPr sz="1200"/>
            </a:pPr>
            <a:endParaRPr lang="id-ID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0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E293B"/>
          </a:solidFill>
        </a:defRPr>
      </a:pPr>
      <a:endParaRPr lang="id-ID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4748B"/>
              </a:solidFill>
            </c:spPr>
            <c:extLst>
              <c:ext xmlns:c16="http://schemas.microsoft.com/office/drawing/2014/chart" uri="{C3380CC4-5D6E-409C-BE32-E72D297353CC}">
                <c16:uniqueId val="{00000001-AA90-4D48-9470-58E33CD477BC}"/>
              </c:ext>
            </c:extLst>
          </c:dPt>
          <c:dPt>
            <c:idx val="1"/>
            <c:invertIfNegative val="1"/>
            <c:bubble3D val="0"/>
            <c:spPr>
              <a:solidFill>
                <a:srgbClr val="16A34A"/>
              </a:solidFill>
            </c:spPr>
            <c:extLst>
              <c:ext xmlns:c16="http://schemas.microsoft.com/office/drawing/2014/chart" uri="{C3380CC4-5D6E-409C-BE32-E72D297353CC}">
                <c16:uniqueId val="{00000003-AA90-4D48-9470-58E33CD477B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B2A5B"/>
                    </a:solidFill>
                  </a:defRPr>
                </a:pPr>
                <a:endParaRPr lang="id-ID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Sebelum (manual)</c:v>
                </c:pt>
                <c:pt idx="1">
                  <c:v>Sesudah (otomasi ANPR + OCR)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90-4D48-9470-58E33CD477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D7F5"/>
            </a:solidFill>
          </a:ln>
        </c:spPr>
        <c:txPr>
          <a:bodyPr/>
          <a:lstStyle/>
          <a:p>
            <a:pPr>
              <a:defRPr sz="1200"/>
            </a:pPr>
            <a:endParaRPr lang="id-ID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1E293B"/>
          </a:solidFill>
        </a:defRPr>
      </a:pPr>
      <a:endParaRPr lang="id-ID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90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 dari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0F182-5956-24AA-9BDC-F04193D1D04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1397000"/>
            <a:ext cx="5842000" cy="4318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ED3835-EE2D-3118-1C39-6743B1EC5CC0}"/>
              </a:ext>
            </a:extLst>
          </p:cNvPr>
          <p:cNvSpPr/>
          <p:nvPr/>
        </p:nvSpPr>
        <p:spPr>
          <a:xfrm>
            <a:off x="508000" y="1397000"/>
            <a:ext cx="5461000" cy="1206500"/>
          </a:xfrm>
          <a:prstGeom prst="rect">
            <a:avLst/>
          </a:prstGeom>
          <a:solidFill>
            <a:srgbClr val="70B0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0" rtlCol="0" anchor="ctr"/>
          <a:lstStyle/>
          <a:p>
            <a:pPr algn="ctr"/>
            <a:r>
              <a:rPr lang="en-ID" sz="2200" b="1">
                <a:solidFill>
                  <a:srgbClr val="FFFFFF"/>
                </a:solidFill>
                <a:latin typeface="Segoe UI" panose="020B0502040204020203" pitchFamily="34" charset="0"/>
              </a:rPr>
              <a:t>AIR CARGO &amp;</a:t>
            </a:r>
          </a:p>
          <a:p>
            <a:pPr algn="ctr"/>
            <a:r>
              <a:rPr lang="en-ID" sz="2200" b="1">
                <a:solidFill>
                  <a:srgbClr val="FFFFFF"/>
                </a:solidFill>
                <a:latin typeface="Segoe UI" panose="020B0502040204020203" pitchFamily="34" charset="0"/>
              </a:rPr>
              <a:t>INTERMODAL TERMINAL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E0F6F-42D1-F19A-EF2E-53F28855D745}"/>
              </a:ext>
            </a:extLst>
          </p:cNvPr>
          <p:cNvSpPr/>
          <p:nvPr/>
        </p:nvSpPr>
        <p:spPr>
          <a:xfrm>
            <a:off x="508000" y="2692400"/>
            <a:ext cx="5461000" cy="406400"/>
          </a:xfrm>
          <a:prstGeom prst="rect">
            <a:avLst/>
          </a:prstGeom>
          <a:solidFill>
            <a:srgbClr val="2F2C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Topic : Business Analysis &amp; System Architecture</a:t>
            </a:r>
            <a:endParaRPr lang="en-ID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5E83A4-70F2-2AD6-5951-14BFC92DDB71}"/>
              </a:ext>
            </a:extLst>
          </p:cNvPr>
          <p:cNvSpPr/>
          <p:nvPr/>
        </p:nvSpPr>
        <p:spPr>
          <a:xfrm>
            <a:off x="508000" y="3238500"/>
            <a:ext cx="5461000" cy="2476500"/>
          </a:xfrm>
          <a:prstGeom prst="roundRect">
            <a:avLst/>
          </a:prstGeom>
          <a:solidFill>
            <a:srgbClr val="FFFFF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0" tIns="152400" rtlCol="0" anchor="t"/>
          <a:lstStyle/>
          <a:p>
            <a:pPr algn="ctr"/>
            <a:r>
              <a:rPr lang="en-ID" sz="1300" b="1">
                <a:solidFill>
                  <a:srgbClr val="2F2C59"/>
                </a:solidFill>
                <a:latin typeface="Segoe UI" panose="020B0502040204020203" pitchFamily="34" charset="0"/>
              </a:rPr>
              <a:t>KELOMPOK 1</a:t>
            </a:r>
          </a:p>
          <a:p>
            <a:pPr algn="ctr"/>
            <a:r>
              <a:rPr lang="en-ID" sz="1100" b="1">
                <a:solidFill>
                  <a:srgbClr val="8B7464"/>
                </a:solidFill>
                <a:latin typeface="Segoe UI" panose="020B0502040204020203" pitchFamily="34" charset="0"/>
              </a:rPr>
              <a:t>TIM PENGEMBANG:</a:t>
            </a:r>
          </a:p>
          <a:p>
            <a:pPr algn="ctr"/>
            <a:endParaRPr lang="en-ID" sz="110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algn="ctr"/>
            <a:r>
              <a:rPr lang="en-ID" sz="1100">
                <a:solidFill>
                  <a:srgbClr val="554133"/>
                </a:solidFill>
                <a:latin typeface="Segoe UI" panose="020B0502040204020203" pitchFamily="34" charset="0"/>
              </a:rPr>
              <a:t>  Raden Panji Atha Firjarullah  (22D507001024) - Lead System Architect</a:t>
            </a:r>
          </a:p>
          <a:p>
            <a:pPr algn="ctr"/>
            <a:r>
              <a:rPr lang="en-ID" sz="1100">
                <a:solidFill>
                  <a:srgbClr val="554133"/>
                </a:solidFill>
                <a:latin typeface="Segoe UI" panose="020B0502040204020203" pitchFamily="34" charset="0"/>
              </a:rPr>
              <a:t>  Muhammad Fathir Septianto    (24D507001002) - Hardware &amp; Infrastructure Specialist</a:t>
            </a:r>
          </a:p>
          <a:p>
            <a:pPr algn="ctr"/>
            <a:r>
              <a:rPr lang="en-ID" sz="1100">
                <a:solidFill>
                  <a:srgbClr val="554133"/>
                </a:solidFill>
                <a:latin typeface="Segoe UI" panose="020B0502040204020203" pitchFamily="34" charset="0"/>
              </a:rPr>
              <a:t>  Nessa Amanda Ghassani        (24D507001025) - Software &amp; ERP Process Specialist</a:t>
            </a:r>
          </a:p>
          <a:p>
            <a:pPr algn="ctr"/>
            <a:r>
              <a:rPr lang="en-ID" sz="1100">
                <a:solidFill>
                  <a:srgbClr val="554133"/>
                </a:solidFill>
                <a:latin typeface="Segoe UI" panose="020B0502040204020203" pitchFamily="34" charset="0"/>
              </a:rPr>
              <a:t>  Riepka Tiara                 (24D507001016) - Business Analyst &amp; QA Specialist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FCDB2-273D-1DAF-6746-65359A9C5380}"/>
              </a:ext>
            </a:extLst>
          </p:cNvPr>
          <p:cNvSpPr txBox="1"/>
          <p:nvPr/>
        </p:nvSpPr>
        <p:spPr>
          <a:xfrm>
            <a:off x="508000" y="59055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00" b="1">
                <a:solidFill>
                  <a:srgbClr val="592C0F"/>
                </a:solidFill>
                <a:latin typeface="Segoe UI" panose="020B0502040204020203" pitchFamily="34" charset="0"/>
              </a:rPr>
              <a:t>Sesi bertugas : Nessa Amanda Ghassani &amp; Tim Pengembang Kelompok 1</a:t>
            </a:r>
            <a:endParaRPr lang="en-ID" sz="1100" b="1">
              <a:solidFill>
                <a:srgbClr val="592C0F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Agenda Pembahasan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i="0">
                <a:solidFill>
                  <a:srgbClr val="64748B"/>
                </a:solidFill>
              </a:rPr>
              <a:t>Business Analysis &amp; Alur Proses Bisnis End-to-End Air Cargo Terminal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075688"/>
            <a:ext cx="566928" cy="566928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82" y="2211750"/>
            <a:ext cx="294802" cy="294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2083716"/>
            <a:ext cx="2514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01 · Paradigma BA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2404872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Developer vs BA dan rumus 3 langkah analisis fitur kargo udara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540" y="1874519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03420" y="2075688"/>
            <a:ext cx="566928" cy="566928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WeightHang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82" y="2211750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34940" y="2083716"/>
            <a:ext cx="2514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02 · Acceptance &amp; AVSEC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4940" y="2404872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Landside gate, pindaian DWS, X-Ray scanner, dan screening kargo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75319" y="2075688"/>
            <a:ext cx="566928" cy="566928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382" y="2211750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06840" y="2083716"/>
            <a:ext cx="2514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03 · ULD &amp; Load Planning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06840" y="2404872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>
                <a:solidFill>
                  <a:srgbClr val="64748B"/>
                </a:solidFill>
              </a:rPr>
              <a:t>Weight &amp; Balance, Center of Gravity, dan batas kontur muatan ULD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3538728"/>
            <a:ext cx="566928" cy="566928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Wareho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582" y="3674790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3040" y="3546756"/>
            <a:ext cx="2514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04 · CMS &amp; WMS Kargo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3040" y="3867911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>
                <a:solidFill>
                  <a:srgbClr val="64748B"/>
                </a:solidFill>
              </a:rPr>
              <a:t>One-Scan receiving, ASN matching, directed putaway &amp; binnage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20540" y="3337560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03420" y="3538728"/>
            <a:ext cx="566928" cy="566928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aTru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9482" y="3674790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34940" y="3546756"/>
            <a:ext cx="2514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05 · Intermodal TMS &amp; TAS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34940" y="3867911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>
                <a:solidFill>
                  <a:srgbClr val="64748B"/>
                </a:solidFill>
              </a:rPr>
              <a:t>Gate control, dock appointment, GPS tracking &amp; demurrage alert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92440" y="3337560"/>
            <a:ext cx="356616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75319" y="3538728"/>
            <a:ext cx="566928" cy="566928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ProjectDiagra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1382" y="3674790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06840" y="3546756"/>
            <a:ext cx="2514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06 · Integrasi &amp; Anomali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06840" y="3867911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v-SE" sz="1200" b="0" i="0">
                <a:solidFill>
                  <a:srgbClr val="64748B"/>
                </a:solidFill>
              </a:rPr>
              <a:t>Matriks integrasi 4 modul, exception handling, kesimpulan &amp; FSD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188720" y="4846320"/>
            <a:ext cx="10469880" cy="685800"/>
          </a:xfrm>
          <a:prstGeom prst="roundRect">
            <a:avLst>
              <a:gd name="adj" fmla="val 16000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5043026"/>
            <a:ext cx="13716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900" b="1" i="0">
                <a:solidFill>
                  <a:srgbClr val="F59E0B"/>
                </a:solidFill>
              </a:rPr>
              <a:t>100%</a:t>
            </a:r>
            <a:endParaRPr sz="1900" b="1" i="0">
              <a:solidFill>
                <a:srgbClr val="F59E0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33600" y="5027637"/>
            <a:ext cx="11430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50" b="0" i="0">
                <a:solidFill>
                  <a:srgbClr val="FFFFFF"/>
                </a:solidFill>
              </a:rPr>
              <a:t>Visibilitas kargo transit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46500" y="5043026"/>
            <a:ext cx="12065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900" b="1" i="0">
                <a:solidFill>
                  <a:srgbClr val="F59E0B"/>
                </a:solidFill>
              </a:rPr>
              <a:t>&lt; 500 ms</a:t>
            </a:r>
            <a:endParaRPr sz="1900" b="1" i="0" dirty="0">
              <a:solidFill>
                <a:srgbClr val="F59E0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16500" y="5045925"/>
            <a:ext cx="13335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50" b="0" i="0">
                <a:solidFill>
                  <a:srgbClr val="FFFFFF"/>
                </a:solidFill>
              </a:rPr>
              <a:t>Latensi pindaian DWS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77000" y="5030117"/>
            <a:ext cx="13716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900" b="1" i="0">
                <a:solidFill>
                  <a:srgbClr val="F59E0B"/>
                </a:solidFill>
              </a:rPr>
              <a:t>4 Modul</a:t>
            </a:r>
            <a:endParaRPr sz="1900" b="1" i="0" dirty="0">
              <a:solidFill>
                <a:srgbClr val="F59E0B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93000" y="5039351"/>
            <a:ext cx="11430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50" b="0" i="0">
                <a:solidFill>
                  <a:srgbClr val="FFFFFF"/>
                </a:solidFill>
              </a:rPr>
              <a:t>CMS·WMS·AVSEC·TMS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80500" y="5043026"/>
            <a:ext cx="13716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900" b="1" i="0">
                <a:solidFill>
                  <a:srgbClr val="F59E0B"/>
                </a:solidFill>
              </a:rPr>
              <a:t>8 Tahap</a:t>
            </a:r>
            <a:endParaRPr sz="1900" b="1" i="0" dirty="0">
              <a:solidFill>
                <a:srgbClr val="F59E0B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23500" y="5027637"/>
            <a:ext cx="114300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50" b="0" i="0">
                <a:solidFill>
                  <a:srgbClr val="FFFFFF"/>
                </a:solidFill>
              </a:rPr>
              <a:t>Alur resmi end-to-end</a:t>
            </a:r>
            <a:endParaRPr sz="105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Paradigma Business Analyst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i="0">
                <a:solidFill>
                  <a:srgbClr val="64748B"/>
                </a:solidFill>
              </a:rPr>
              <a:t>Developer vs BA — Fokus pada Regulasi IATA &amp; Keamanan Aviasi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air-cargo/dashboard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120640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Laptop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200046"/>
            <a:ext cx="309067" cy="3090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07892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800" b="1" i="0">
                <a:solidFill>
                  <a:srgbClr val="0B2A5B"/>
                </a:solidFill>
              </a:rPr>
              <a:t>Pendekatan Developer</a:t>
            </a:r>
            <a:endParaRPr sz="1800" b="1" i="0">
              <a:solidFill>
                <a:srgbClr val="0B2A5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2377440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Teknis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4572000" cy="851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64748B"/>
              </a:buClr>
              <a:buFont typeface="Arial"/>
              <a:buChar char="•"/>
            </a:pPr>
            <a:r>
              <a:rPr lang="en-ID" sz="1400" b="0" i="0">
                <a:solidFill>
                  <a:srgbClr val="1E293B"/>
                </a:solidFill>
              </a:rPr>
              <a:t>Fokus struktur koding &amp; query database ULD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64748B"/>
              </a:buClr>
              <a:buFont typeface="Arial"/>
              <a:buChar char="•"/>
            </a:pPr>
            <a:r>
              <a:rPr lang="en-ID" sz="1400" b="0" i="0">
                <a:solidFill>
                  <a:srgbClr val="1E293B"/>
                </a:solidFill>
              </a:rPr>
              <a:t>Implementasi tombol input manifest &amp; scan barcode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64748B"/>
              </a:buClr>
              <a:buFont typeface="Arial"/>
              <a:buChar char="•"/>
            </a:pPr>
            <a:r>
              <a:rPr lang="en-ID" sz="1400" b="0" i="0">
                <a:solidFill>
                  <a:srgbClr val="1E293B"/>
                </a:solidFill>
              </a:rPr>
              <a:t>Integrasi teknis IoT scanner X-Ray &amp; timbangan</a:t>
            </a:r>
            <a:endParaRPr sz="1400" b="0" i="0">
              <a:solidFill>
                <a:srgbClr val="1E293B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37960" y="1874519"/>
            <a:ext cx="5120640" cy="2514600"/>
          </a:xfrm>
          <a:prstGeom prst="roundRect">
            <a:avLst>
              <a:gd name="adj" fmla="val 4363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66560" y="20574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UserT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206" y="2200046"/>
            <a:ext cx="309067" cy="3090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79" y="207892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800" b="1" i="0">
                <a:solidFill>
                  <a:srgbClr val="FFFFFF"/>
                </a:solidFill>
              </a:rPr>
              <a:t>Pendekatan Business Analyst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79" y="2377440"/>
            <a:ext cx="3931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BFD7F5"/>
                </a:solidFill>
              </a:rPr>
              <a:t>Logika Bisnis &amp; Regulasi</a:t>
            </a:r>
            <a:endParaRPr sz="1200" b="0" i="0">
              <a:solidFill>
                <a:srgbClr val="BFD7F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12280" y="2880360"/>
            <a:ext cx="4572000" cy="851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F59E0B"/>
              </a:buClr>
              <a:buFont typeface="Arial"/>
              <a:buChar char="•"/>
            </a:pPr>
            <a:r>
              <a:rPr lang="en-ID" sz="1400" b="0" i="0">
                <a:solidFill>
                  <a:srgbClr val="FFFFFF"/>
                </a:solidFill>
              </a:rPr>
              <a:t>Menegakkan kepatuhan IATA DGR, ICAO Annex 17 &amp; W&amp;B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F59E0B"/>
              </a:buClr>
              <a:buFont typeface="Arial"/>
              <a:buChar char="•"/>
            </a:pPr>
            <a:r>
              <a:rPr lang="en-ID" sz="1400" b="0" i="0">
                <a:solidFill>
                  <a:srgbClr val="FFFFFF"/>
                </a:solidFill>
              </a:rPr>
              <a:t>Validasi batas toleransi berat ULD vs MTOW pesawat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F59E0B"/>
              </a:buClr>
              <a:buFont typeface="Arial"/>
              <a:buChar char="•"/>
            </a:pPr>
            <a:r>
              <a:rPr lang="en-ID" sz="1400" b="0" i="0">
                <a:solidFill>
                  <a:srgbClr val="FFFFFF"/>
                </a:solidFill>
              </a:rPr>
              <a:t>Mencegah kargo SUSPECT termuat ke lambung pesawat</a:t>
            </a:r>
            <a:endParaRPr sz="1400" b="0" i="0">
              <a:solidFill>
                <a:srgbClr val="FFFFFF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37860" y="2834640"/>
            <a:ext cx="731520" cy="731520"/>
          </a:xfrm>
          <a:prstGeom prst="ellipse">
            <a:avLst/>
          </a:prstGeom>
          <a:solidFill>
            <a:srgbClr val="F59E0B"/>
          </a:solidFill>
          <a:ln w="31750">
            <a:solidFill>
              <a:srgbClr val="FFFFFF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109960" cy="896112"/>
          </a:xfrm>
          <a:prstGeom prst="roundRect">
            <a:avLst>
              <a:gd name="adj" fmla="val 1224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537872"/>
            <a:ext cx="10698480" cy="9643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1" i="0">
                <a:solidFill>
                  <a:srgbClr val="0B2A5B"/>
                </a:solidFill>
              </a:rPr>
              <a:t>Contoh 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1" i="0">
                <a:solidFill>
                  <a:srgbClr val="0B2A5B"/>
                </a:solidFill>
              </a:rPr>
              <a:t>Developer:  "Membuat tombol Submit Screening X-Ray"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1" i="0">
                <a:solidFill>
                  <a:srgbClr val="0B2A5B"/>
                </a:solidFill>
              </a:rPr>
              <a:t>BA:  "Sistem wajib mengunci (Blocked) status kargo secara otomatis jika pindaian X-Ray di-flag SUSPECT, mencegah penerbitan e-CSD dan pemuatan ke ULD."</a:t>
            </a:r>
            <a:endParaRPr sz="1400" b="0" i="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800" b="1" i="0">
                <a:solidFill>
                  <a:srgbClr val="0B2A5B"/>
                </a:solidFill>
              </a:rPr>
              <a:t>Rumus 3 Langkah Analisis BA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Setiap Fitur Kargo Udara Diuji Melalui 3 Tingkat Spesifikasi Berurutan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2103120" y="1874519"/>
            <a:ext cx="3246120" cy="640080"/>
          </a:xfrm>
          <a:prstGeom prst="homePlate">
            <a:avLst/>
          </a:prstGeom>
          <a:solidFill>
            <a:srgbClr val="1B6FD8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1  FITUR / EVENT TRIGGER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4560" y="2578608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Pindaian barcode SSCC, sensor timbangan DWS, atau input gate TAS</a:t>
            </a:r>
            <a:endParaRPr sz="1200" b="0" i="0" dirty="0">
              <a:solidFill>
                <a:srgbClr val="64748B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5303520" y="1874519"/>
            <a:ext cx="3246120" cy="640080"/>
          </a:xfrm>
          <a:prstGeom prst="chevron">
            <a:avLst/>
          </a:prstGeom>
          <a:solidFill>
            <a:srgbClr val="0B2A5B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2  VALIDASI BUSINESS RULE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4959" y="2578608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Pencocokan ASN, toleransi berat ±2%, aturan IATA DGR, status AVSEC Cleared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8503920" y="1874519"/>
            <a:ext cx="3246120" cy="640080"/>
          </a:xfrm>
          <a:prstGeom prst="chevron">
            <a:avLst/>
          </a:prstGeom>
          <a:solidFill>
            <a:srgbClr val="0E8A9A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3  DAMPAK &amp; PEMBARUAN SISTEM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0" y="2578608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Penerbitan e-CSD, alokasi binnage putaway, peringatan Over-receipt/Overweight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38328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BFD7F5"/>
                </a:solidFill>
              </a:rPr>
              <a:t>Kasus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BFD7F5"/>
                </a:solidFill>
              </a:rPr>
              <a:t>Receiving WMS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103120" y="33832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79" y="3793867"/>
            <a:ext cx="2834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Pindaian Barcode SSCC/GS1</a:t>
            </a:r>
            <a:endParaRPr sz="1200" b="1" i="0">
              <a:solidFill>
                <a:srgbClr val="1B6FD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03520" y="33832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0680" y="3701534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Kuantitas fisik = manifes ASN dan Dangerous Goods wajib dipisah</a:t>
            </a:r>
            <a:endParaRPr sz="1200" b="1" i="0">
              <a:solidFill>
                <a:srgbClr val="1B6FD8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03920" y="33832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3701534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>
                <a:solidFill>
                  <a:srgbClr val="1E293B"/>
                </a:solidFill>
              </a:rPr>
              <a:t>Lolos -&gt; status Received &amp; binnage optimal. Gagal -&gt; Over-receipt Alert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" y="448056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BFD7F5"/>
                </a:solidFill>
              </a:rPr>
              <a:t>Kasus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BFD7F5"/>
                </a:solidFill>
              </a:rPr>
              <a:t>AVSEC Screening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03120" y="44805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0279" y="4891147"/>
            <a:ext cx="28346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Pindaian X-Ray &amp; Timbangan DWS</a:t>
            </a:r>
            <a:endParaRPr sz="1200" b="1" i="0">
              <a:solidFill>
                <a:srgbClr val="1B6FD8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03520" y="44805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4798814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Flag operator X-Ray = CLEARED dan selisih berat fisik = ±2% vs e-AWB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03920" y="44805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798814"/>
            <a:ext cx="2834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>
                <a:solidFill>
                  <a:srgbClr val="1E293B"/>
                </a:solidFill>
              </a:rPr>
              <a:t>Lolos -&gt; e-CSD terbit &amp; ULD Build-Up. Gagal -&gt; status Blocked &amp; karantina</a:t>
            </a:r>
            <a:endParaRPr sz="1200" b="1" i="0">
              <a:solidFill>
                <a:srgbClr val="1B6FD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i-FI" sz="2800" b="1" i="0">
                <a:solidFill>
                  <a:srgbClr val="0B2A5B"/>
                </a:solidFill>
              </a:rPr>
              <a:t>Matriks Alokasi Alat per Tahapan Operasi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Siapa yang menimbang, siapa yang mengangkat, dan alur pergerakan kargo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pages/alat.php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2039112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59989"/>
            <a:ext cx="1325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0B2A5B"/>
                </a:solidFill>
              </a:rPr>
              <a:t>Landside Gate</a:t>
            </a:r>
            <a:endParaRPr sz="1400" b="1" i="0">
              <a:solidFill>
                <a:srgbClr val="0B2A5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Truk armada intermodal / box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1188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nb-NO" sz="1200" b="0" i="0">
                <a:solidFill>
                  <a:srgbClr val="1E293B"/>
                </a:solidFill>
              </a:rPr>
              <a:t>Sensor ANPR &amp; RFID Gate Pass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34340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Boom Gate otomatis (TAS)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13232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TMS + TAS</a:t>
            </a:r>
            <a:endParaRPr sz="1200" b="1" i="0">
              <a:solidFill>
                <a:srgbClr val="0B2A5B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00350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37510" y="2039112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6150" y="2159989"/>
            <a:ext cx="1325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0B2A5B"/>
                </a:solidFill>
              </a:rPr>
              <a:t>Cargo Acceptance</a:t>
            </a:r>
            <a:endParaRPr sz="1400" b="1" i="0">
              <a:solidFill>
                <a:srgbClr val="0B2A5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64942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4942" y="288036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Kargo koli / karton curah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64942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4942" y="361188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DWS Tunnel (&lt; 500 ms)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64942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4942" y="434340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Roller Conveyor &amp; Handheld PDA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964942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CMS + WMS</a:t>
            </a:r>
            <a:endParaRPr sz="1200" b="1" i="0">
              <a:solidFill>
                <a:srgbClr val="0B2A5B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52059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189220" y="2039112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7859" y="2052267"/>
            <a:ext cx="13258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0B2A5B"/>
                </a:solidFill>
              </a:rPr>
              <a:t>AVSEC Checkpoint</a:t>
            </a:r>
            <a:endParaRPr sz="1400" b="1" i="0">
              <a:solidFill>
                <a:srgbClr val="0B2A5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16651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6651" y="288036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Seluruh kargo outbound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16651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6651" y="361188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Dual-View X-Ray Scanner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16651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6651" y="434340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Conveyor Diverter ke Karantina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216651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AVSEC SYSTEM</a:t>
            </a:r>
            <a:endParaRPr sz="1200" b="1" i="0">
              <a:solidFill>
                <a:srgbClr val="0B2A5B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303769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40929" y="2039112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9569" y="2052267"/>
            <a:ext cx="13258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0B2A5B"/>
                </a:solidFill>
              </a:rPr>
              <a:t>ULD Build-Up Station</a:t>
            </a:r>
            <a:endParaRPr sz="1400" b="1" i="0">
              <a:solidFill>
                <a:srgbClr val="0B2A5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68361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8361" y="288036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Palet &amp; kontainer ULD (AKE/PMC)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68361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8361" y="361188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Smart Floor Scale (Timbangan ULD)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68361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8361" y="434340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Castor Deck &amp; Scissor Lift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468361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W&amp;B + CMS</a:t>
            </a:r>
            <a:endParaRPr sz="1200" b="1" i="0">
              <a:solidFill>
                <a:srgbClr val="0B2A5B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555480" y="1874519"/>
            <a:ext cx="2103120" cy="3657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92640" y="2039112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052267"/>
            <a:ext cx="13258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0B2A5B"/>
                </a:solidFill>
              </a:rPr>
              <a:t>Airside Ramp Loading</a:t>
            </a:r>
            <a:endParaRPr sz="1400" b="1" i="0">
              <a:solidFill>
                <a:srgbClr val="0B2A5B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720072" y="269747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BARANG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20072" y="288036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Kontainer ULD siap terbang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720072" y="34290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TIMBANG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0072" y="361188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Final Loadsheet Verification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20072" y="41605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FD8"/>
                </a:solidFill>
              </a:rPr>
              <a:t>ANGKAT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0072" y="434340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Main/Lower Deck High-Loader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720072" y="4965192"/>
            <a:ext cx="1773936" cy="36576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TMS + DCS Maskapai</a:t>
            </a:r>
            <a:endParaRPr sz="1200" b="1" i="0">
              <a:solidFill>
                <a:srgbClr val="0B2A5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a-DK" sz="2800" b="1" i="0">
                <a:solidFill>
                  <a:srgbClr val="0B2A5B"/>
                </a:solidFill>
              </a:rPr>
              <a:t>Flowchart 1: Master End-to-End Terminal Kargo Udara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1B6FD8"/>
                </a:solidFill>
              </a:rPr>
              <a:t>LIVE DEMO  ·  pages/simulator.php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Terminator 4"/>
          <p:cNvSpPr/>
          <p:nvPr/>
        </p:nvSpPr>
        <p:spPr>
          <a:xfrm>
            <a:off x="548640" y="2532888"/>
            <a:ext cx="1371600" cy="68580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START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Truk tiba di gate landside</a:t>
            </a:r>
            <a:endParaRPr sz="1100" b="0" i="0"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920240" y="2875788"/>
            <a:ext cx="32004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2240280" y="242316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246888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Sensor WCS &amp; TAS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Gross, tare, ANPR plat nomor, &amp; verifikasi e-AWB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4069080" y="2875788"/>
            <a:ext cx="36576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0" name="Decision 9"/>
          <p:cNvSpPr/>
          <p:nvPr/>
        </p:nvSpPr>
        <p:spPr>
          <a:xfrm>
            <a:off x="4434840" y="2194560"/>
            <a:ext cx="2286000" cy="137160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Lulus validasi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gate &amp; dokumen?</a:t>
            </a:r>
            <a:endParaRPr sz="1200" b="1" i="0">
              <a:solidFill>
                <a:srgbClr val="0B2A5B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2875788"/>
            <a:ext cx="68580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6766560" y="2606040"/>
            <a:ext cx="594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6A34A"/>
                </a:solidFill>
              </a:rPr>
              <a:t>YA</a:t>
            </a:r>
            <a:endParaRPr sz="1100" b="1" i="0">
              <a:solidFill>
                <a:srgbClr val="16A34A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Gate-in APPROVED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Palang buka, dock assigned, cetak pass QR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9144000" y="2875788"/>
            <a:ext cx="32004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9464040" y="178308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TAHAP PROSES TERMINAL KARGO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464040" y="20116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FFFF"/>
                </a:solidFill>
              </a:rPr>
              <a:t>1. Unloading &amp; ASN Matching (CMS)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464040" y="24688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0E8A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2. DWS Scan (Dimensi &amp; Berat &lt; 500ms)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64040" y="29260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0B2A5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FFFF"/>
                </a:solidFill>
              </a:rPr>
              <a:t>3. AVSEC Screening (Dual-View X-Ray)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464040" y="33832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D9770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FFFF"/>
                </a:solidFill>
              </a:rPr>
              <a:t>4. ULD Build-Up &amp; W&amp;B Calculation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464040" y="3840480"/>
            <a:ext cx="2194560" cy="384048"/>
          </a:xfrm>
          <a:prstGeom prst="roundRect">
            <a:avLst>
              <a:gd name="adj" fmla="val 45454"/>
            </a:avLst>
          </a:prstGeom>
          <a:solidFill>
            <a:srgbClr val="DC262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5. Airside Transfer ke Ramp Pesawat</a:t>
            </a:r>
            <a:endParaRPr sz="1100" b="1" i="0">
              <a:solidFill>
                <a:srgbClr val="FFFFFF"/>
              </a:solidFill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577840" y="3566160"/>
            <a:ext cx="0" cy="77724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5669280" y="3749039"/>
            <a:ext cx="640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DC2626"/>
                </a:solidFill>
              </a:rPr>
              <a:t>TIDAK</a:t>
            </a:r>
            <a:endParaRPr sz="1100" b="1" i="0">
              <a:solidFill>
                <a:srgbClr val="DC2626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434840" y="434340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Reject Area / Holding Bay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Palang kunci, alarm, RESCHEDULE_REQUIRED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720840" y="4777740"/>
            <a:ext cx="41148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7132320" y="4343400"/>
            <a:ext cx="201168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4500741"/>
            <a:ext cx="1828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Investigasi Dokumen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Rekoreksi e-AWB atau U-turn armada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144000" y="4777740"/>
            <a:ext cx="32004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8" name="Terminator 27"/>
          <p:cNvSpPr/>
          <p:nvPr/>
        </p:nvSpPr>
        <p:spPr>
          <a:xfrm>
            <a:off x="9464040" y="4507992"/>
            <a:ext cx="2194560" cy="548640"/>
          </a:xfrm>
          <a:prstGeom prst="flowChartTerminator">
            <a:avLst/>
          </a:prstGeom>
          <a:solidFill>
            <a:srgbClr val="DC2626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a-DK" sz="1200" b="1" i="0">
                <a:solidFill>
                  <a:srgbClr val="FFFFFF"/>
                </a:solidFill>
              </a:rPr>
              <a:t>END - Kargo Terbang / Truk Keluar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188720" y="434340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438912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</a:rPr>
              <a:t>LEGENDA</a:t>
            </a:r>
          </a:p>
        </p:txBody>
      </p:sp>
      <p:sp>
        <p:nvSpPr>
          <p:cNvPr id="31" name="Terminator 30"/>
          <p:cNvSpPr/>
          <p:nvPr/>
        </p:nvSpPr>
        <p:spPr>
          <a:xfrm>
            <a:off x="1325880" y="4663440"/>
            <a:ext cx="457200" cy="22860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74519" y="46451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Terminator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4663440"/>
            <a:ext cx="4572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B6F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37560" y="46451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Proses</a:t>
            </a:r>
          </a:p>
        </p:txBody>
      </p:sp>
      <p:sp>
        <p:nvSpPr>
          <p:cNvPr id="35" name="Decision 34"/>
          <p:cNvSpPr/>
          <p:nvPr/>
        </p:nvSpPr>
        <p:spPr>
          <a:xfrm>
            <a:off x="1325880" y="5029200"/>
            <a:ext cx="457200" cy="274320"/>
          </a:xfrm>
          <a:prstGeom prst="flowChartDecision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74519" y="5029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Keputusan</a:t>
            </a:r>
          </a:p>
        </p:txBody>
      </p:sp>
      <p:sp>
        <p:nvSpPr>
          <p:cNvPr id="37" name="Oval 36"/>
          <p:cNvSpPr/>
          <p:nvPr/>
        </p:nvSpPr>
        <p:spPr>
          <a:xfrm>
            <a:off x="2788920" y="507492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017520" y="5074920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5029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</a:rPr>
              <a:t>Ya / Tidak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Flowchart 2: Keputusan Penerimaan Kargo &amp; Screening AVSEC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1B6FD8"/>
                </a:solidFill>
              </a:rPr>
              <a:t>LIVE DEMO  ·  pages/gate.php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Terminator 4"/>
          <p:cNvSpPr/>
          <p:nvPr/>
        </p:nvSpPr>
        <p:spPr>
          <a:xfrm>
            <a:off x="548640" y="2468879"/>
            <a:ext cx="1097280" cy="64008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it-IT" sz="1200" b="1" i="0">
                <a:solidFill>
                  <a:srgbClr val="FFFFFF"/>
                </a:solidFill>
              </a:rPr>
              <a:t>START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it-IT" sz="1200" b="1" i="0">
                <a:solidFill>
                  <a:srgbClr val="FFFFFF"/>
                </a:solidFill>
              </a:rPr>
              <a:t>Kargo di meja inspeksi</a:t>
            </a:r>
            <a:endParaRPr sz="1000" b="0" i="0"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645920" y="2788920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1920240" y="233172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2288782"/>
            <a:ext cx="1463040" cy="1000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it-IT" sz="1300" b="1" i="0">
                <a:solidFill>
                  <a:srgbClr val="0B2A5B"/>
                </a:solidFill>
              </a:rPr>
              <a:t>Sensor DWS &amp; Barcode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it-IT" sz="1300" b="1" i="0">
                <a:solidFill>
                  <a:srgbClr val="0B2A5B"/>
                </a:solidFill>
              </a:rPr>
              <a:t>Scan dimensi, berat &amp; label SSCC (&lt; 500 ms)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474720" y="2788920"/>
            <a:ext cx="274319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0" name="TextBox 9"/>
          <p:cNvSpPr txBox="1"/>
          <p:nvPr/>
        </p:nvSpPr>
        <p:spPr>
          <a:xfrm>
            <a:off x="3749039" y="1783080"/>
            <a:ext cx="1691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1 — ASN MATCHING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11" name="Decision 10"/>
          <p:cNvSpPr/>
          <p:nvPr/>
        </p:nvSpPr>
        <p:spPr>
          <a:xfrm>
            <a:off x="3749039" y="2011680"/>
            <a:ext cx="1691640" cy="15544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Kuantitas cocok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dengan dokumen ASN?</a:t>
            </a:r>
            <a:endParaRPr sz="1100" b="1" i="0">
              <a:solidFill>
                <a:srgbClr val="0B2A5B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4594859" y="3566160"/>
            <a:ext cx="0" cy="50292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4668012" y="368503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2626"/>
                </a:solidFill>
              </a:rPr>
              <a:t>Tidak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40679" y="2788920"/>
            <a:ext cx="274321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5440679" y="251460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</a:rPr>
              <a:t>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783080"/>
            <a:ext cx="1691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2 — TOLERANSI BERAT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17" name="Decision 16"/>
          <p:cNvSpPr/>
          <p:nvPr/>
        </p:nvSpPr>
        <p:spPr>
          <a:xfrm>
            <a:off x="5715000" y="2011680"/>
            <a:ext cx="1691640" cy="15544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100" b="1" i="0">
                <a:solidFill>
                  <a:srgbClr val="0B2A5B"/>
                </a:solidFill>
              </a:rPr>
              <a:t>Selisih berat = ±2%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100" b="1" i="0">
                <a:solidFill>
                  <a:srgbClr val="0B2A5B"/>
                </a:solidFill>
              </a:rPr>
              <a:t>vs e-AWB manifest?</a:t>
            </a:r>
            <a:endParaRPr sz="1100" b="1" i="0">
              <a:solidFill>
                <a:srgbClr val="0B2A5B"/>
              </a:solidFill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560820" y="3566160"/>
            <a:ext cx="0" cy="50292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6633972" y="368503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2626"/>
                </a:solidFill>
              </a:rPr>
              <a:t>Tidak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06640" y="2788920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7406640" y="251460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</a:rPr>
              <a:t>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783080"/>
            <a:ext cx="1691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3 — AVSEC X-RAY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23" name="Decision 22"/>
          <p:cNvSpPr/>
          <p:nvPr/>
        </p:nvSpPr>
        <p:spPr>
          <a:xfrm>
            <a:off x="7680960" y="2011680"/>
            <a:ext cx="1691640" cy="15544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0B2A5B"/>
                </a:solidFill>
              </a:rPr>
              <a:t>X-Ray Cleared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0B2A5B"/>
                </a:solidFill>
              </a:rPr>
              <a:t>(Bebas ancaman / DG legal)?</a:t>
            </a:r>
            <a:endParaRPr sz="1100" b="1" i="0">
              <a:solidFill>
                <a:srgbClr val="0B2A5B"/>
              </a:solidFill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8526780" y="3566160"/>
            <a:ext cx="0" cy="50292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8599932" y="368503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C2626"/>
                </a:solidFill>
              </a:rPr>
              <a:t>Tidak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72600" y="2788920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9372600" y="251460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A34A"/>
                </a:solidFill>
              </a:rPr>
              <a:t>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1874519"/>
            <a:ext cx="2011680" cy="3611880"/>
          </a:xfrm>
          <a:prstGeom prst="roundRect">
            <a:avLst>
              <a:gd name="adj" fmla="val 5454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84080" y="201168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07" y="2121408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32720" y="2124864"/>
            <a:ext cx="12801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LULUS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84080" y="2606040"/>
            <a:ext cx="1783080" cy="77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lang="en-ID" sz="1100" b="0" i="0">
                <a:solidFill>
                  <a:srgbClr val="1E293B"/>
                </a:solidFill>
              </a:rPr>
              <a:t>Status: CLEARED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lang="en-ID" sz="1100" b="0" i="0">
                <a:solidFill>
                  <a:srgbClr val="1E293B"/>
                </a:solidFill>
              </a:rPr>
              <a:t>Palang lolos, lampu hijau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lang="en-ID" sz="1100" b="0" i="0">
                <a:solidFill>
                  <a:srgbClr val="1E293B"/>
                </a:solidFill>
              </a:rPr>
              <a:t>Penerbitan sertifikat e-CSD digital</a:t>
            </a:r>
            <a:endParaRPr sz="1100" b="0" i="0">
              <a:solidFill>
                <a:srgbClr val="1E293B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84080" y="3657600"/>
            <a:ext cx="1783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ALOKASI ZONA SIMPAN &amp; BUILD-UP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784080" y="3886200"/>
            <a:ext cx="1783080" cy="163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ID" sz="1200" b="0" i="0">
                <a:solidFill>
                  <a:srgbClr val="1E293B"/>
                </a:solidFill>
              </a:rPr>
              <a:t>General Cargo -&gt; Rak Binnage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ID" sz="1200" b="0" i="0">
                <a:solidFill>
                  <a:srgbClr val="1E293B"/>
                </a:solidFill>
              </a:rPr>
              <a:t>Cold / Pharma -&gt; Cold Room 2-8°C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ID" sz="1200" b="0" i="0">
                <a:solidFill>
                  <a:srgbClr val="1E293B"/>
                </a:solidFill>
              </a:rPr>
              <a:t>Dangerous Goods -&gt; Bunker Khusus IATA DGR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ID" sz="1200" b="0" i="0">
                <a:solidFill>
                  <a:srgbClr val="1E293B"/>
                </a:solidFill>
              </a:rPr>
              <a:t>ULD Ready -&gt; Stasiun Build-Up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749039" y="4069080"/>
            <a:ext cx="5623560" cy="1417320"/>
          </a:xfrm>
          <a:prstGeom prst="roundRect">
            <a:avLst>
              <a:gd name="adj" fmla="val 7741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6200" y="4187952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Fa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982" y="4275734"/>
            <a:ext cx="190195" cy="19019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389120" y="4270804"/>
            <a:ext cx="48463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JIKA TIDAK LULUS -&gt; AUTO-QUARANTINE / REJECT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8862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DC2626"/>
                </a:solidFill>
              </a:rPr>
              <a:t>Status otomatis terkunci (BLOCKED)</a:t>
            </a:r>
            <a:endParaRPr sz="1100" b="1" i="0">
              <a:solidFill>
                <a:srgbClr val="DC2626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2578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DC2626"/>
                </a:solidFill>
              </a:rPr>
              <a:t>Alarm &amp; notifikasi supervisor aktif</a:t>
            </a:r>
            <a:endParaRPr sz="1100" b="1" i="0">
              <a:solidFill>
                <a:srgbClr val="DC2626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6294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nn-NO" sz="1100" b="1" i="0">
                <a:solidFill>
                  <a:srgbClr val="DC2626"/>
                </a:solidFill>
              </a:rPr>
              <a:t>Dilarang keras dialokasikan ke ULD</a:t>
            </a:r>
            <a:endParaRPr sz="1100" b="1" i="0">
              <a:solidFill>
                <a:srgbClr val="DC2626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001000" y="4754880"/>
            <a:ext cx="1298448" cy="566928"/>
          </a:xfrm>
          <a:prstGeom prst="roundRect">
            <a:avLst>
              <a:gd name="adj" fmla="val 45454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DC2626"/>
                </a:solidFill>
              </a:rPr>
              <a:t>Pemeriksaan fisik sekunder / isolasi karantina</a:t>
            </a:r>
            <a:endParaRPr sz="1100" b="1" i="0">
              <a:solidFill>
                <a:srgbClr val="DC262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0B2A5B"/>
                </a:solidFill>
              </a:rPr>
              <a:t>Business Rule 1: Screening AVSEC &amp; Akurasi DWS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i-FI" sz="1400" b="0" i="0">
                <a:solidFill>
                  <a:srgbClr val="64748B"/>
                </a:solidFill>
              </a:rPr>
              <a:t>Parameter masukan, formula validasi, dan keputusan Lolos / Karantina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pages/avsec.php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2194560"/>
            <a:ext cx="502920" cy="5029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WeightHan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" y="231526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2071003"/>
            <a:ext cx="17830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200" b="1" i="0">
                <a:solidFill>
                  <a:srgbClr val="0B2A5B"/>
                </a:solidFill>
              </a:rPr>
              <a:t>&lt; 500 ms</a:t>
            </a:r>
            <a:endParaRPr sz="2200" b="1" i="0">
              <a:solidFill>
                <a:srgbClr val="0B2A5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487168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64748B"/>
                </a:solidFill>
              </a:rPr>
              <a:t>Waktu pembacaan simultan DWS (Dimensi &amp; Berat)</a:t>
            </a:r>
            <a:endParaRPr sz="1100" b="0" i="0">
              <a:solidFill>
                <a:srgbClr val="64748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68009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32601" y="2194560"/>
            <a:ext cx="502920" cy="5029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Balance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302" y="231526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0969" y="2071003"/>
            <a:ext cx="17830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200" b="1" i="0">
                <a:solidFill>
                  <a:srgbClr val="0B2A5B"/>
                </a:solidFill>
              </a:rPr>
              <a:t>± 2,0%</a:t>
            </a:r>
            <a:endParaRPr sz="2200" b="1" i="0">
              <a:solidFill>
                <a:srgbClr val="0B2A5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90969" y="2487168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64748B"/>
                </a:solidFill>
              </a:rPr>
              <a:t>Toleransi selisih timbangan vs dokumen e-AWB</a:t>
            </a:r>
            <a:endParaRPr sz="1100" b="0" i="0">
              <a:solidFill>
                <a:srgbClr val="64748B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87379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51971" y="2194560"/>
            <a:ext cx="502920" cy="5029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671" y="2315260"/>
            <a:ext cx="261518" cy="2615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339" y="2071003"/>
            <a:ext cx="17830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200" b="1" i="0">
                <a:solidFill>
                  <a:srgbClr val="0B2A5B"/>
                </a:solidFill>
              </a:rPr>
              <a:t>100%</a:t>
            </a:r>
            <a:endParaRPr sz="2200" b="1" i="0">
              <a:solidFill>
                <a:srgbClr val="0B2A5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0339" y="2487168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64748B"/>
                </a:solidFill>
              </a:rPr>
              <a:t>Kepatuhan penerbitan sertifikat e-CSD digital</a:t>
            </a:r>
            <a:endParaRPr sz="1100" b="0" i="0">
              <a:solidFill>
                <a:srgbClr val="64748B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06748" y="1874519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71340" y="2194560"/>
            <a:ext cx="502920" cy="5029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Bar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2041" y="2315260"/>
            <a:ext cx="261518" cy="26151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29708" y="2071003"/>
            <a:ext cx="17830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200" b="1" i="0">
                <a:solidFill>
                  <a:srgbClr val="0B2A5B"/>
                </a:solidFill>
              </a:rPr>
              <a:t>0 Toleransi</a:t>
            </a:r>
            <a:endParaRPr sz="2200" b="1" i="0">
              <a:solidFill>
                <a:srgbClr val="0B2A5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29708" y="2487168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i="0">
                <a:solidFill>
                  <a:srgbClr val="64748B"/>
                </a:solidFill>
              </a:rPr>
              <a:t>Terhadap kargo berstatus SUSPECT AVSEC</a:t>
            </a:r>
            <a:endParaRPr sz="1100" b="0" i="0">
              <a:solidFill>
                <a:srgbClr val="64748B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336444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Parameter Masukan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3017520" cy="892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1B6FD8"/>
                </a:solidFill>
              </a:rPr>
              <a:t>• Barcode SSCC/GS1 - pemindai kargo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1B6FD8"/>
                </a:solidFill>
              </a:rPr>
              <a:t>• Dimensi &amp; Berat - sensor DWS tunnel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1B6FD8"/>
                </a:solidFill>
              </a:rPr>
              <a:t>• Dokumen e-AWB - sistem maskapai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1B6FD8"/>
                </a:solidFill>
              </a:rPr>
              <a:t>• Citra X-Ray - Dual-View AVSEC Scanner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1520" y="4937760"/>
            <a:ext cx="3017520" cy="384048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Volumetric Weight (kg) = (P x L x T dalam cm) / 6.000 (IATA)</a:t>
            </a:r>
            <a:endParaRPr sz="1200" b="1" i="0">
              <a:solidFill>
                <a:srgbClr val="0B2A5B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14800" y="3200400"/>
            <a:ext cx="3749039" cy="2286000"/>
          </a:xfrm>
          <a:prstGeom prst="roundRect">
            <a:avLst>
              <a:gd name="adj" fmla="val 48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51960" y="33101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0715" y="3408883"/>
            <a:ext cx="213969" cy="2139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54880" y="3392757"/>
            <a:ext cx="30175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Jika LULUS (CLEARED)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97680" y="3840480"/>
            <a:ext cx="3429000" cy="12618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Status stok terupdate menjadi CLEARED di database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Penerbitan Consignment Security Declaration (e-CSD)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Kargo dialokasikan ke stasiun build-up ULD pesawat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6A34A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General Cargo -&gt; Rak Binnage | Cold Chain -&gt; 2-8°C | DGR -&gt; Bunker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046720" y="320040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83879" y="3310128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FaTim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2635" y="3408883"/>
            <a:ext cx="213969" cy="21396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86800" y="3269647"/>
            <a:ext cx="29260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i-FI" sz="1600" b="1" i="0">
                <a:solidFill>
                  <a:srgbClr val="0B2A5B"/>
                </a:solidFill>
              </a:rPr>
              <a:t>Jika TIDAK LULUS (SUSPECT / ANOMALI)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0" y="3840480"/>
            <a:ext cx="3337560" cy="163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DC2626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Status kargo otomatis dikunci: BLOCKED / QUARANTINE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DC2626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Sistem memblokir alokasi kargo ke proses build-up pesawat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DC2626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Diverter conveyor otomatis membelokkan ke Reject Lane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DC2626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Peringatan Over-receipt Alert jika fisik melebihi manifes</a:t>
            </a:r>
            <a:endParaRPr sz="120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0B2A5B"/>
                </a:solidFill>
              </a:rPr>
              <a:t>Flowchart 3: Perencanaan Beban ULD (Load Planning)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W&amp;B System — Algoritma Penataan ULD &amp; Distribusi Berat Pesawat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1B6FD8"/>
                </a:solidFill>
              </a:rPr>
              <a:t>LIVE DEMO  ·  pages/weight-balance.php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Terminator 4"/>
          <p:cNvSpPr/>
          <p:nvPr/>
        </p:nvSpPr>
        <p:spPr>
          <a:xfrm>
            <a:off x="548640" y="3538728"/>
            <a:ext cx="1143000" cy="594360"/>
          </a:xfrm>
          <a:prstGeom prst="flowChartTerminator">
            <a:avLst/>
          </a:prstGeom>
          <a:solidFill>
            <a:srgbClr val="0B2A5B"/>
          </a:solidFill>
          <a:ln>
            <a:noFill/>
          </a:ln>
        </p:spPr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FFFF"/>
                </a:solidFill>
              </a:rPr>
              <a:t>START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FFFF"/>
                </a:solidFill>
              </a:rPr>
              <a:t>Kargo CLEARED siap muat</a:t>
            </a:r>
            <a:endParaRPr sz="1000" b="0" i="0"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691640" y="3835908"/>
            <a:ext cx="32004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7" name="Decision 6"/>
          <p:cNvSpPr/>
          <p:nvPr/>
        </p:nvSpPr>
        <p:spPr>
          <a:xfrm>
            <a:off x="2011680" y="2944368"/>
            <a:ext cx="1828800" cy="178308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Seleksi tipe kontainer ULD &amp; palet?</a:t>
            </a:r>
            <a:endParaRPr sz="1100" b="1" i="0">
              <a:solidFill>
                <a:srgbClr val="0B2A5B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480" y="3835908"/>
            <a:ext cx="228600" cy="0"/>
          </a:xfrm>
          <a:prstGeom prst="line">
            <a:avLst/>
          </a:prstGeom>
          <a:ln w="22225">
            <a:solidFill>
              <a:srgbClr val="1B6FD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4069080" y="2491739"/>
            <a:ext cx="0" cy="2688337"/>
          </a:xfrm>
          <a:prstGeom prst="line">
            <a:avLst/>
          </a:prstGeom>
          <a:ln w="22225">
            <a:solidFill>
              <a:srgbClr val="1B6FD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297680" y="182880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TIPE ULD / PALET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12280" y="182880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ALAT &amp; OPERATOR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0" y="182880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PENEMPATAN DI PESAWAT</a:t>
            </a:r>
            <a:endParaRPr sz="1000" b="1" i="0">
              <a:solidFill>
                <a:srgbClr val="64748B"/>
              </a:solidFill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491739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4297680" y="2103120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Kontainer AKE / LD3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Belly kargo (Kapasitas ~1.587 kg)</a:t>
            </a:r>
            <a:endParaRPr sz="1100" b="0" i="0">
              <a:solidFill>
                <a:srgbClr val="BFD7F5"/>
              </a:solidFill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2491739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6812280" y="2103120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76288" y="2130551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Smart ULD Floor Scale &amp; Roller Deck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Toleransi berat ULD terpantau real-time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9144000" y="2491739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9418320" y="2103120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Lower Deck: Forward / Aft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Penyeimbang Center of Gravity (CG)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069080" y="3387851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4297680" y="2999232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sv-SE" sz="1300" b="1" i="0">
                <a:solidFill>
                  <a:srgbClr val="FFFFFF"/>
                </a:solidFill>
              </a:rPr>
              <a:t>Palet PMC / PAG (88"x125")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sv-SE" sz="1300" b="1" i="0">
                <a:solidFill>
                  <a:srgbClr val="FFFFFF"/>
                </a:solidFill>
              </a:rPr>
              <a:t>Palet jaring muatan berat (~6.800 kg)</a:t>
            </a:r>
            <a:endParaRPr sz="1100" b="0" i="0">
              <a:solidFill>
                <a:srgbClr val="BFD7F5"/>
              </a:solidFill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537960" y="3387851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6812280" y="2999232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76288" y="3115424"/>
            <a:ext cx="21945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3D Cubic Utilization Calculator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Optimasi faktor keterisian hingga 92%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3387851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9418320" y="2999232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Main Deck Cargo Freighter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Distribusi beban di atas wing-box pesawat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069080" y="4283964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4297680" y="3895344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Dangerous Goods (IATA DGR)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Bahan kimia, baterai lithium, radioaktif</a:t>
            </a:r>
            <a:endParaRPr sz="1100" b="0" i="0">
              <a:solidFill>
                <a:srgbClr val="BFD7F5"/>
              </a:solidFill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537960" y="4283964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6812280" y="3895344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76288" y="3922776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Segregation Matrix &amp; Incompatibility Check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Pemeriksaan otomatis jarak aman kargo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144000" y="4283964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9418320" y="3895344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Kompartemen Terisolasi Khusus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Zona bertekanan &amp; bersuhu terkendali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4069080" y="5180076"/>
            <a:ext cx="22860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4297680" y="4791456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Kargo Intermodal Lanjutan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Transfer langsung truk bandara (Air-to-Truck)</a:t>
            </a:r>
            <a:endParaRPr sz="1100" b="0" i="0">
              <a:solidFill>
                <a:srgbClr val="BFD7F5"/>
              </a:solidFill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6537960" y="5180076"/>
            <a:ext cx="274320" cy="0"/>
          </a:xfrm>
          <a:prstGeom prst="line">
            <a:avLst/>
          </a:prstGeom>
          <a:ln w="22225">
            <a:solidFill>
              <a:srgbClr val="1B6FD8"/>
            </a:solidFill>
            <a:tailEnd type="triangle" w="med" len="med"/>
          </a:ln>
        </p:spPr>
      </p:cxnSp>
      <p:sp>
        <p:nvSpPr>
          <p:cNvPr id="37" name="Rounded Rectangle 36"/>
          <p:cNvSpPr/>
          <p:nvPr/>
        </p:nvSpPr>
        <p:spPr>
          <a:xfrm>
            <a:off x="6812280" y="4791456"/>
            <a:ext cx="2331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76288" y="4818888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Main Deck High-Loader &amp; ULD Dollies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B2A5B"/>
                </a:solidFill>
              </a:rPr>
              <a:t>Target transfer &lt; 15 menit per dolly</a:t>
            </a:r>
            <a:endParaRPr sz="1100" b="0" i="0">
              <a:solidFill>
                <a:srgbClr val="64748B"/>
              </a:solidFill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9144000" y="5180076"/>
            <a:ext cx="274320" cy="0"/>
          </a:xfrm>
          <a:prstGeom prst="line">
            <a:avLst/>
          </a:prstGeom>
          <a:ln w="22225">
            <a:solidFill>
              <a:srgbClr val="16A34A"/>
            </a:solidFill>
            <a:tailEnd type="triangle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9418320" y="4791456"/>
            <a:ext cx="2240280" cy="777240"/>
          </a:xfrm>
          <a:prstGeom prst="roundRect">
            <a:avLst>
              <a:gd name="adj" fmla="val 11764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Dock Intermodal Landside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Langsung terhubung TMS rute darat</a:t>
            </a:r>
            <a:endParaRPr sz="1100" b="0" i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0B2A5B"/>
                </a:solidFill>
              </a:rPr>
              <a:t>Aturan Beban ULD &amp; Center of Gravity (W&amp;B)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3D Load Planning: Pembagian Beban Kompartemen &amp; Keseimbangan Sumbu Terbang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1B6FD8"/>
                </a:solidFill>
              </a:rPr>
              <a:t>LIVE DEMO  ·  pages/weight-balance.php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03520" cy="361188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0564"/>
            <a:ext cx="48463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Distribusi Berat Kompartemen Pesawat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522851"/>
            <a:ext cx="731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64748B"/>
                </a:solidFill>
              </a:rPr>
              <a:t>Deck Atas</a:t>
            </a:r>
            <a:endParaRPr sz="1200" b="1" i="0">
              <a:solidFill>
                <a:srgbClr val="64748B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00200" y="237744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&lt; 3.500 kg</a:t>
            </a:r>
            <a:endParaRPr sz="1100" b="1" i="0">
              <a:solidFill>
                <a:srgbClr val="0B2A5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17520" y="237744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&lt; 3.500 kg</a:t>
            </a:r>
            <a:endParaRPr sz="1100" b="1" i="0">
              <a:solidFill>
                <a:srgbClr val="0B2A5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&lt; 3.500 kg</a:t>
            </a:r>
            <a:endParaRPr sz="1100" b="1" i="0">
              <a:solidFill>
                <a:srgbClr val="0B2A5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79158"/>
            <a:ext cx="7315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64748B"/>
                </a:solidFill>
              </a:rPr>
              <a:t>Deck Bawah</a:t>
            </a:r>
            <a:endParaRPr sz="1200" b="1" i="0">
              <a:solidFill>
                <a:srgbClr val="64748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00200" y="292608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AKE: 1.200 - 1.500 kg</a:t>
            </a:r>
            <a:endParaRPr sz="1100" b="1" i="0">
              <a:solidFill>
                <a:srgbClr val="0B2A5B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17520" y="292608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AKE: 1.200 - 1.500 kg</a:t>
            </a:r>
            <a:endParaRPr sz="1100" b="1" i="0">
              <a:solidFill>
                <a:srgbClr val="0B2A5B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34840" y="2926080"/>
            <a:ext cx="1325880" cy="475488"/>
          </a:xfrm>
          <a:prstGeom prst="rect">
            <a:avLst/>
          </a:prstGeom>
          <a:solidFill>
            <a:srgbClr val="BFD7F5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AKE: 1.200 - 1.500 kg</a:t>
            </a:r>
            <a:endParaRPr sz="1100" b="1" i="0">
              <a:solidFill>
                <a:srgbClr val="0B2A5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27798"/>
            <a:ext cx="7315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64748B"/>
                </a:solidFill>
              </a:rPr>
              <a:t>Center Deck</a:t>
            </a:r>
            <a:endParaRPr sz="1200" b="1" i="0">
              <a:solidFill>
                <a:srgbClr val="64748B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00200" y="3474720"/>
            <a:ext cx="1325880" cy="475488"/>
          </a:xfrm>
          <a:prstGeom prst="rect">
            <a:avLst/>
          </a:prstGeom>
          <a:solidFill>
            <a:srgbClr val="5A9BE8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Muatan Terberat (Pusat Titik Tumpu Pesawat)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17520" y="3474720"/>
            <a:ext cx="1325880" cy="475488"/>
          </a:xfrm>
          <a:prstGeom prst="rect">
            <a:avLst/>
          </a:prstGeom>
          <a:solidFill>
            <a:srgbClr val="5A9BE8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Muatan Terberat (Pusat Titik Tumpu Pesawat)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4840" y="3474720"/>
            <a:ext cx="1325880" cy="475488"/>
          </a:xfrm>
          <a:prstGeom prst="rect">
            <a:avLst/>
          </a:prstGeom>
          <a:solidFill>
            <a:srgbClr val="5A9BE8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Muatan Terberat (Pusat Titik Tumpu Pesawat)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076438"/>
            <a:ext cx="7315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64748B"/>
                </a:solidFill>
              </a:rPr>
              <a:t>Deck Bawah</a:t>
            </a:r>
            <a:endParaRPr sz="1200" b="1" i="0">
              <a:solidFill>
                <a:srgbClr val="64748B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00200" y="402336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AKE: 1.000 - 1.400 kg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17520" y="402336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AKE: 1.000 - 1.400 kg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34840" y="402336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AKE: 1.000 - 1.400 kg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4717411"/>
            <a:ext cx="731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64748B"/>
                </a:solidFill>
              </a:rPr>
              <a:t>Bulk Cargo</a:t>
            </a:r>
            <a:endParaRPr sz="1200" b="1" i="0">
              <a:solidFill>
                <a:srgbClr val="64748B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00200" y="457200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&lt; 800 kg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17520" y="457200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&lt; 800 kg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34840" y="4572000"/>
            <a:ext cx="1325880" cy="475488"/>
          </a:xfrm>
          <a:prstGeom prst="rect">
            <a:avLst/>
          </a:prstGeom>
          <a:solidFill>
            <a:srgbClr val="0B2A5B"/>
          </a:solidFill>
          <a:ln w="19050">
            <a:solidFill>
              <a:srgbClr val="FFFFFF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&lt; 800 kg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4846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i="1">
                <a:solidFill>
                  <a:srgbClr val="64748B"/>
                </a:solidFill>
              </a:rPr>
              <a:t>Center of Gravity aman — Menjaga trim horizontal &amp; mencegah stall pesawat</a:t>
            </a:r>
            <a:endParaRPr sz="1100" b="0" i="1">
              <a:solidFill>
                <a:srgbClr val="64748B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80760" y="1874519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1975660"/>
            <a:ext cx="52120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nn-NO" sz="1300" b="1" i="0">
                <a:solidFill>
                  <a:srgbClr val="0B2A5B"/>
                </a:solidFill>
              </a:rPr>
              <a:t>Struktur Alamat Posisi ULD di Pesawat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FFFFFF"/>
                </a:solidFill>
              </a:rPr>
              <a:t>Posisi (Bay)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0" y="2331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4748B"/>
                </a:solidFill>
              </a:rPr>
              <a:t>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0B2A5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FFFFFF"/>
                </a:solidFill>
              </a:rPr>
              <a:t>Sisi (L/R)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86800" y="2331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4748B"/>
                </a:solidFill>
              </a:rPr>
              <a:t>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FFFFFF"/>
                </a:solidFill>
              </a:rPr>
              <a:t>Deck (M/L)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58400" y="2331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4748B"/>
                </a:solidFill>
              </a:rPr>
              <a:t>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78440" y="2331720"/>
            <a:ext cx="1051560" cy="457200"/>
          </a:xfrm>
          <a:prstGeom prst="roundRect">
            <a:avLst>
              <a:gd name="adj" fmla="val 45454"/>
            </a:avLst>
          </a:prstGeom>
          <a:solidFill>
            <a:srgbClr val="0B2A5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FFFFFF"/>
                </a:solidFill>
              </a:rPr>
              <a:t>Status (Locked)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080760" y="3108960"/>
            <a:ext cx="5577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3210100"/>
            <a:ext cx="52120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Aturan Kontur ULD &amp; Batas Muatan Lantai (Floor Load Limit)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9360" y="3611880"/>
            <a:ext cx="640080" cy="292608"/>
          </a:xfrm>
          <a:prstGeom prst="rect">
            <a:avLst/>
          </a:prstGeom>
          <a:solidFill>
            <a:srgbClr val="1B6FD8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95160" y="3611880"/>
            <a:ext cx="640080" cy="292608"/>
          </a:xfrm>
          <a:prstGeom prst="rect">
            <a:avLst/>
          </a:prstGeom>
          <a:solidFill>
            <a:srgbClr val="1B6FD8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3950208"/>
            <a:ext cx="23774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Kontur Sisi Miring (Contour AKE) wajib menghadap dinding lambung pesawat</a:t>
            </a:r>
            <a:endParaRPr sz="1100" b="0" i="0">
              <a:solidFill>
                <a:srgbClr val="1E293B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052560" y="3611880"/>
            <a:ext cx="1325880" cy="292608"/>
          </a:xfrm>
          <a:prstGeom prst="rect">
            <a:avLst/>
          </a:prstGeom>
          <a:solidFill>
            <a:srgbClr val="0B2A5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3950208"/>
            <a:ext cx="24688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0B2A5B"/>
                </a:solidFill>
              </a:rPr>
              <a:t>Floor load limit maks: 1.000 kg/m² — Cegah kerusakan struktur lantai belly</a:t>
            </a:r>
            <a:endParaRPr sz="1100" b="0" i="0">
              <a:solidFill>
                <a:srgbClr val="1E293B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63640" y="4251960"/>
            <a:ext cx="5303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DC2626"/>
                </a:solidFill>
              </a:rPr>
              <a:t>Dilarang: Melebihi Maximum Gross Weight ULD tanpa persetujuan Load Controller</a:t>
            </a:r>
            <a:endParaRPr sz="1100" b="1" i="0">
              <a:solidFill>
                <a:srgbClr val="DC2626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080760" y="4709160"/>
            <a:ext cx="2697480" cy="777240"/>
          </a:xfrm>
          <a:prstGeom prst="roundRect">
            <a:avLst>
              <a:gd name="adj" fmla="val 14117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0" y="4802270"/>
            <a:ext cx="246888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Temperature Sensitive Cargo (Perishable) wajib di kompartemen ber-AC</a:t>
            </a:r>
            <a:endParaRPr sz="1100" b="0" i="0">
              <a:solidFill>
                <a:srgbClr val="64748B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961120" y="4709160"/>
            <a:ext cx="2697480" cy="777240"/>
          </a:xfrm>
          <a:prstGeom prst="roundRect">
            <a:avLst>
              <a:gd name="adj" fmla="val 14117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8280" y="4802270"/>
            <a:ext cx="246888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Lithium Battery (UN 3480) dibatasi Section IA/IB sesuai regulasi IATA DGR</a:t>
            </a:r>
            <a:endParaRPr sz="1100" b="0" i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0B2A5B"/>
                </a:solidFill>
              </a:rPr>
              <a:t>CMS &amp; Modul WMS: Inbound &amp; Outbound Kargo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i="0">
                <a:solidFill>
                  <a:srgbClr val="64748B"/>
                </a:solidFill>
              </a:rPr>
              <a:t>One-Scan Receiving, Pencocokan Dokumen ASN, dan Directed Putaway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pages/cms-wms.php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566160" cy="365760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" y="2143353"/>
            <a:ext cx="285292" cy="285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19" y="2048589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WMS Inbound &amp; Receiving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19" y="2331720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64748B"/>
                </a:solidFill>
              </a:rPr>
              <a:t>Modul CMS 1</a:t>
            </a:r>
            <a:endParaRPr sz="1100" b="0" i="0">
              <a:solidFill>
                <a:srgbClr val="64748B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1B6FD8"/>
                </a:solidFill>
              </a:rPr>
              <a:t>1.1</a:t>
            </a:r>
            <a:endParaRPr sz="1000" b="1" i="0">
              <a:solidFill>
                <a:srgbClr val="1B6F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2697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One-Scan Receiving (ASN Matching)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v-SE" sz="1200" b="0" i="0">
                <a:solidFill>
                  <a:srgbClr val="64748B"/>
                </a:solidFill>
              </a:rPr>
              <a:t>Verifikasi data SSCC/GS1 dari pemindai cocok dengan dokumen Manifes Kedatangan (ASN)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1B6FD8"/>
                </a:solidFill>
              </a:rPr>
              <a:t>1.2</a:t>
            </a:r>
            <a:endParaRPr sz="1000" b="1" i="0">
              <a:solidFill>
                <a:srgbClr val="1B6FD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2697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Over-receipt Alert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Pemicu peringatan otomatis jika kuantitas fisik melebihi data manifes e-AWB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731520" y="46177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1B6FD8"/>
                </a:solidFill>
              </a:rPr>
              <a:t>1.3</a:t>
            </a:r>
            <a:endParaRPr sz="1000" b="1" i="0">
              <a:solidFill>
                <a:srgbClr val="1B6FD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4572000"/>
            <a:ext cx="2697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Directed Putaway &amp; Binnage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Alokasi rak simpan sementara berdasarkan dimensi &amp; pemisahan Dangerous Goods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320540" y="1874519"/>
            <a:ext cx="3566160" cy="365760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03420" y="2011680"/>
            <a:ext cx="548640" cy="548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093" y="2143353"/>
            <a:ext cx="285292" cy="2852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89220" y="1925479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Keluaran Sistem &amp; Dampak Operasional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89220" y="2331720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64748B"/>
                </a:solidFill>
              </a:rPr>
              <a:t>Dampak BA</a:t>
            </a:r>
            <a:endParaRPr sz="1100" b="0" i="0">
              <a:solidFill>
                <a:srgbClr val="64748B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503420" y="27889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1B6FD8"/>
                </a:solidFill>
              </a:rPr>
              <a:t>2.1</a:t>
            </a:r>
            <a:endParaRPr sz="1000" b="1" i="0">
              <a:solidFill>
                <a:srgbClr val="1B6FD8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52059" y="2743200"/>
            <a:ext cx="2697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Status Stok Terverifikasi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52059" y="3017520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Status kargo otomatis berubah menjadi Received dalam database operasional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503420" y="37033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1B6FD8"/>
                </a:solidFill>
              </a:rPr>
              <a:t>2.2</a:t>
            </a:r>
            <a:endParaRPr sz="1000" b="1" i="0">
              <a:solidFill>
                <a:srgbClr val="1B6FD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52059" y="3657600"/>
            <a:ext cx="2697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Visibilitas Kargo 100%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52059" y="3931920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Pelacakan real-time lokasi kargo transit di gudang sebelum proses build-up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4503420" y="4617720"/>
            <a:ext cx="411480" cy="411480"/>
          </a:xfrm>
          <a:prstGeom prst="ellipse">
            <a:avLst/>
          </a:prstGeom>
          <a:solidFill>
            <a:srgbClr val="E6F0FC"/>
          </a:solidFill>
          <a:ln w="12700">
            <a:solidFill>
              <a:srgbClr val="1B6FD8"/>
            </a:solidFill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1B6FD8"/>
                </a:solidFill>
              </a:rPr>
              <a:t>2.3</a:t>
            </a:r>
            <a:endParaRPr sz="1000" b="1" i="0">
              <a:solidFill>
                <a:srgbClr val="1B6FD8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52059" y="4572000"/>
            <a:ext cx="2697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0B2A5B"/>
                </a:solidFill>
              </a:rPr>
              <a:t>Pemisahan Kargo Khusus</a:t>
            </a:r>
            <a:endParaRPr sz="1300" b="1" i="0">
              <a:solidFill>
                <a:srgbClr val="0B2A5B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52059" y="4846320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Dangerous Goods otomatis terpisah dari general cargo secara fisik &amp; logis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92440" y="1874519"/>
            <a:ext cx="3566160" cy="3657600"/>
          </a:xfrm>
          <a:prstGeom prst="roundRect">
            <a:avLst>
              <a:gd name="adj" fmla="val 3076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5319" y="2011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3" y="2143353"/>
            <a:ext cx="285292" cy="2852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61119" y="1925479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FFFFFF"/>
                </a:solidFill>
              </a:rPr>
              <a:t>Penanganan Khusus Kargo Udara</a:t>
            </a:r>
            <a:endParaRPr sz="16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61119" y="2331720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BFD7F5"/>
                </a:solidFill>
              </a:rPr>
              <a:t>Perishable &amp; DGR</a:t>
            </a:r>
            <a:endParaRPr sz="1100" b="0" i="0">
              <a:solidFill>
                <a:srgbClr val="BFD7F5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75319" y="27432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59E0B"/>
                </a:solidFill>
              </a:rPr>
              <a:t>2 - 8 °C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59E0B"/>
                </a:solidFill>
              </a:rPr>
              <a:t>Chilled Pharma</a:t>
            </a:r>
            <a:endParaRPr sz="1100" b="0" i="0">
              <a:solidFill>
                <a:srgbClr val="BFD7F5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902951" y="27432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-20 °C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Frozen Cargo</a:t>
            </a:r>
            <a:endParaRPr sz="1100" b="0" i="0">
              <a:solidFill>
                <a:srgbClr val="BFD7F5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275319" y="36576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000" b="1" i="0">
                <a:solidFill>
                  <a:srgbClr val="F59E0B"/>
                </a:solidFill>
              </a:rPr>
              <a:t>&lt; 30 mnt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000" b="1" i="0">
                <a:solidFill>
                  <a:srgbClr val="F59E0B"/>
                </a:solidFill>
              </a:rPr>
              <a:t>Max Tarmac Exposure</a:t>
            </a:r>
            <a:endParaRPr sz="1100" b="0" i="0">
              <a:solidFill>
                <a:srgbClr val="BFD7F5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902951" y="3657600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16397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IATA DGR Separation</a:t>
            </a:r>
            <a:endParaRPr sz="1100" b="0" i="0">
              <a:solidFill>
                <a:srgbClr val="BFD7F5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75319" y="4663440"/>
            <a:ext cx="3200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F59E0B"/>
              </a:buClr>
              <a:buFont typeface="Arial"/>
              <a:buChar char="•"/>
            </a:pPr>
            <a:r>
              <a:rPr lang="en-ID" sz="1200" b="0" i="0">
                <a:solidFill>
                  <a:srgbClr val="FFFFFF"/>
                </a:solidFill>
              </a:rPr>
              <a:t>Automated Temperature Breach Alert — Sirine &amp; peringatan langsung ke Handheld PDA supervisor jika batas suhu kargo terlampaui.</a:t>
            </a:r>
            <a:endParaRPr sz="12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v-SE" sz="2800" b="1" i="0">
                <a:solidFill>
                  <a:srgbClr val="0B2A5B"/>
                </a:solidFill>
              </a:rPr>
              <a:t>AVSEC System &amp; Kontrol Keamanan Kargo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400" b="0" i="0">
                <a:solidFill>
                  <a:srgbClr val="64748B"/>
                </a:solidFill>
              </a:rPr>
              <a:t>Security Screening Logging, Auto-Quarantine, dan Penerbitan Digital e-CSD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pages/avsec.php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54524"/>
            <a:ext cx="15087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600" b="1" i="0">
                <a:solidFill>
                  <a:srgbClr val="1B6FD8"/>
                </a:solidFill>
              </a:rPr>
              <a:t>100%</a:t>
            </a:r>
            <a:endParaRPr sz="2600" b="1" i="0">
              <a:solidFill>
                <a:srgbClr val="1B6FD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0" y="2169913"/>
            <a:ext cx="1783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i="0">
                <a:solidFill>
                  <a:srgbClr val="64748B"/>
                </a:solidFill>
              </a:rPr>
              <a:t>Kargo outbound wajib lolos screening X-Ray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79" y="1874519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2154524"/>
            <a:ext cx="15087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600" b="1" i="0">
                <a:solidFill>
                  <a:srgbClr val="1B6FD8"/>
                </a:solidFill>
              </a:rPr>
              <a:t>&lt; 10 dtk</a:t>
            </a:r>
            <a:endParaRPr sz="2600" b="1" i="0">
              <a:solidFill>
                <a:srgbClr val="1B6FD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2169913"/>
            <a:ext cx="1783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Pencatatan hasil inspeksi dan logging e-CSD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19" y="1874519"/>
            <a:ext cx="361188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9" y="2154524"/>
            <a:ext cx="15087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600" b="1" i="0">
                <a:solidFill>
                  <a:srgbClr val="1B6FD8"/>
                </a:solidFill>
              </a:rPr>
              <a:t>0 Insiden</a:t>
            </a:r>
            <a:endParaRPr sz="2600" b="1" i="0">
              <a:solidFill>
                <a:srgbClr val="1B6FD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84080" y="2169913"/>
            <a:ext cx="17830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Standar ICAO Annex 17 &amp; Kemenhub RI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54635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" y="3063240"/>
            <a:ext cx="438912" cy="43891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aDol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0" y="3168578"/>
            <a:ext cx="228234" cy="2282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3167280"/>
            <a:ext cx="45720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0B2A5B"/>
                </a:solidFill>
              </a:rPr>
              <a:t>Aturan Bisnis BA (Business Rules)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5074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0B2A5B"/>
                </a:solidFill>
              </a:rPr>
              <a:t>Auto-Quarantine: Sistem otomatis mengunci (Blocked) kargo jika di-flag SUSPECT oleh petugas AVSEC.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0B2A5B"/>
                </a:solidFill>
              </a:rPr>
              <a:t>Build-Up Prevention: Kargo berstatus Blocked dilarang keras dialokasikan ke proses konsolidasi ULD pesawat.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0B2A5B"/>
                </a:solidFill>
              </a:rPr>
              <a:t>Penerbitan e-CSD: Hanya kargo berstatus CLEARED yang dapat diterbitkan Consignment Security Declaration.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95059" y="2971800"/>
            <a:ext cx="54635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59651" y="3063240"/>
            <a:ext cx="438912" cy="438912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990" y="3168578"/>
            <a:ext cx="228234" cy="2282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26579" y="3167280"/>
            <a:ext cx="45720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Integrasi Hardware Screening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23659" y="3611880"/>
            <a:ext cx="5074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0B2A5B"/>
                </a:solidFill>
              </a:rPr>
              <a:t>Dual-View X-Ray: Citra resolusi tinggi dua sudut mendeteksi bahan peledak &amp; Dangerous Goods.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0B2A5B"/>
                </a:solidFill>
              </a:rPr>
              <a:t>High-Energy Scanner: Pemindaian palet kargo utuh tanpa harus membongkar karton lepasan.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1" i="0">
                <a:solidFill>
                  <a:srgbClr val="0B2A5B"/>
                </a:solidFill>
              </a:rPr>
              <a:t>Trace Detector: Sensor deteksi uap bahan kimia dan partikel narkotika/eksplosif.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8720" y="5196021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DC2626"/>
                </a:solidFill>
              </a:rPr>
              <a:t>ANOMALI AVSEC</a:t>
            </a:r>
            <a:endParaRPr sz="1100" b="1" i="0">
              <a:solidFill>
                <a:srgbClr val="DC2626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606040" y="5074920"/>
            <a:ext cx="2377440" cy="411480"/>
          </a:xfrm>
          <a:prstGeom prst="roundRect">
            <a:avLst>
              <a:gd name="adj" fmla="val 45454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DC2626"/>
                </a:solidFill>
              </a:rPr>
              <a:t>X-Ray di-flag SUSPECT</a:t>
            </a:r>
            <a:endParaRPr sz="1200" b="1" i="0">
              <a:solidFill>
                <a:srgbClr val="DC2626"/>
              </a:solidFill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983480" y="5280660"/>
            <a:ext cx="36576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5349240" y="5074920"/>
            <a:ext cx="2926080" cy="411480"/>
          </a:xfrm>
          <a:prstGeom prst="roundRect">
            <a:avLst>
              <a:gd name="adj" fmla="val 45454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DC2626"/>
                </a:solidFill>
              </a:rPr>
              <a:t>Status Kunci BLOCKED</a:t>
            </a:r>
            <a:endParaRPr sz="1200" b="1" i="0">
              <a:solidFill>
                <a:srgbClr val="DC2626"/>
              </a:solidFill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8275320" y="5280660"/>
            <a:ext cx="36576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8641080" y="5074920"/>
            <a:ext cx="3017520" cy="411480"/>
          </a:xfrm>
          <a:prstGeom prst="roundRect">
            <a:avLst>
              <a:gd name="adj" fmla="val 45454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16A34A"/>
                </a:solidFill>
              </a:rPr>
              <a:t>Karantina Fisik &amp; Investigasi</a:t>
            </a:r>
            <a:endParaRPr sz="1200" b="1" i="0">
              <a:solidFill>
                <a:srgbClr val="16A34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0B2A5B"/>
                </a:solidFill>
              </a:rPr>
              <a:t>Weight &amp; Balance System &amp; Load Planning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v-SE" sz="1400" b="0" i="0">
                <a:solidFill>
                  <a:srgbClr val="64748B"/>
                </a:solidFill>
              </a:rPr>
              <a:t>Perhitungan 3D Kubikasi, Center of Gravity, dan Integrasi DWS Presisi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1B6FD8"/>
                </a:solidFill>
              </a:rPr>
              <a:t>LIVE DEMO  ·  pages/weight-balance.php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66928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Calendar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" y="213238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1967966"/>
            <a:ext cx="4754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0B2A5B"/>
                </a:solidFill>
              </a:rPr>
              <a:t>1. Integrasi DWS Real-Time (&lt; 500 ms)</a:t>
            </a:r>
            <a:endParaRPr sz="1400" b="1" i="0">
              <a:solidFill>
                <a:srgbClr val="0B2A5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754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200" b="0" i="0">
                <a:solidFill>
                  <a:srgbClr val="1E293B"/>
                </a:solidFill>
              </a:rPr>
              <a:t>Sistem mencatat data dimensi (volumetrik) dan berat aktual simultan dalam waktu &lt; 500 ms dari DWS. Menghilangkan bottleneck di conveyor kargo.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aMapMarke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" y="3458260"/>
            <a:ext cx="261518" cy="2615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3293846"/>
            <a:ext cx="4754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0B2A5B"/>
                </a:solidFill>
              </a:rPr>
              <a:t>2. 3D Load Planning &amp; Cubic Utilization</a:t>
            </a:r>
            <a:endParaRPr sz="1400" b="1" i="0">
              <a:solidFill>
                <a:srgbClr val="0B2A5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47548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1E293B"/>
                </a:solidFill>
              </a:rPr>
              <a:t>Algoritma cerdas menghitung otomatis penataan barang dalam ULD untuk memaksimalkan faktor keterisian (cubic utilization hingga 92%), menghemat ruang belly pesawat.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64748B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FFFFFF"/>
                </a:solidFill>
              </a:rPr>
              <a:t>AKE CONTAINER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057400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1B6FD8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FFFFFF"/>
                </a:solidFill>
              </a:rPr>
              <a:t>PMC PALLET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83280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D9770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FFFFFF"/>
                </a:solidFill>
              </a:rPr>
              <a:t>BALANCED CG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4160520"/>
            <a:ext cx="1261872" cy="347472"/>
          </a:xfrm>
          <a:prstGeom prst="roundRect">
            <a:avLst>
              <a:gd name="adj" fmla="val 45454"/>
            </a:avLst>
          </a:prstGeom>
          <a:solidFill>
            <a:srgbClr val="DC2626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FFFFFF"/>
                </a:solidFill>
              </a:rPr>
              <a:t>LOADED</a:t>
            </a:r>
            <a:endParaRPr sz="1000" b="1" i="0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" y="5012740"/>
            <a:ext cx="261518" cy="2615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5031206"/>
            <a:ext cx="4754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i="0">
                <a:solidFill>
                  <a:srgbClr val="0B2A5B"/>
                </a:solidFill>
              </a:rPr>
              <a:t>3. Center of Gravity &amp; Floor Load Limit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46520" y="1874519"/>
            <a:ext cx="5212080" cy="3611880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664315"/>
            <a:ext cx="475488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Verifikasi batas toleransi berat lantai pesawat (floor load limit) dan distribusi beban ULD agar Center of Gravity tetap dalam batas aman penerbangan. Terbitan Loadsheet resmi ke Flight Operations.</a:t>
            </a:r>
            <a:endParaRPr sz="1500" b="1" i="0">
              <a:solidFill>
                <a:srgbClr val="0B2A5B"/>
              </a:solidFill>
            </a:endParaRP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583680" y="2331720"/>
          <a:ext cx="49377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0B2A5B"/>
                </a:solidFill>
              </a:rPr>
              <a:t>Intermodal TMS &amp; Truck Appointment System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Gate Boom Control, Dock Scheduling, dan Peringatan Demurrage Armada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1B6FD8"/>
                </a:solidFill>
              </a:rPr>
              <a:t>LIVE DEMO  ·  pages/tms-tas.php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110996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KONEKTIVITAS INTERMODAL DARAT - UDARA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2395728"/>
            <a:ext cx="868680" cy="502920"/>
          </a:xfrm>
          <a:prstGeom prst="roundRect">
            <a:avLst>
              <a:gd name="adj" fmla="val 21818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FFFFFF"/>
                </a:solidFill>
              </a:rPr>
              <a:t>AIRPORT INTERMODAL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37360" y="2395728"/>
            <a:ext cx="585216" cy="292608"/>
          </a:xfrm>
          <a:prstGeom prst="rect">
            <a:avLst/>
          </a:prstGeom>
          <a:solidFill>
            <a:srgbClr val="1B6FD8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37360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95728" y="2395728"/>
            <a:ext cx="585216" cy="292608"/>
          </a:xfrm>
          <a:prstGeom prst="rect">
            <a:avLst/>
          </a:prstGeom>
          <a:solidFill>
            <a:srgbClr val="F59E0B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95728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54096" y="2395728"/>
            <a:ext cx="585216" cy="292608"/>
          </a:xfrm>
          <a:prstGeom prst="rect">
            <a:avLst/>
          </a:prstGeom>
          <a:solidFill>
            <a:srgbClr val="0E8A9A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54096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12464" y="2395728"/>
            <a:ext cx="585216" cy="292608"/>
          </a:xfrm>
          <a:prstGeom prst="rect">
            <a:avLst/>
          </a:prstGeom>
          <a:solidFill>
            <a:srgbClr val="1B6FD8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12464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1" y="2395728"/>
            <a:ext cx="585216" cy="292608"/>
          </a:xfrm>
          <a:prstGeom prst="rect">
            <a:avLst/>
          </a:prstGeom>
          <a:solidFill>
            <a:srgbClr val="F59E0B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1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2395728"/>
            <a:ext cx="585216" cy="292608"/>
          </a:xfrm>
          <a:prstGeom prst="rect">
            <a:avLst/>
          </a:prstGeom>
          <a:solidFill>
            <a:srgbClr val="0E8A9A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87568" y="2395728"/>
            <a:ext cx="585216" cy="292608"/>
          </a:xfrm>
          <a:prstGeom prst="rect">
            <a:avLst/>
          </a:prstGeom>
          <a:solidFill>
            <a:srgbClr val="1B6FD8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87568" y="2715768"/>
            <a:ext cx="585216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731520" y="3017520"/>
            <a:ext cx="5669280" cy="0"/>
          </a:xfrm>
          <a:prstGeom prst="line">
            <a:avLst/>
          </a:prstGeom>
          <a:ln w="31750">
            <a:solidFill>
              <a:srgbClr val="64748B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858000" y="2085945"/>
            <a:ext cx="15087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600" b="1" i="0">
                <a:solidFill>
                  <a:srgbClr val="1B6FD8"/>
                </a:solidFill>
              </a:rPr>
              <a:t>30 Menit</a:t>
            </a:r>
            <a:endParaRPr sz="2600" b="1" i="0">
              <a:solidFill>
                <a:srgbClr val="1B6F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0" y="2560320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Window appointment dock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58200" y="2085945"/>
            <a:ext cx="15087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600" b="1" i="0">
                <a:solidFill>
                  <a:srgbClr val="1B6FD8"/>
                </a:solidFill>
              </a:rPr>
              <a:t>90 Detik</a:t>
            </a:r>
            <a:endParaRPr sz="2600" b="1" i="0">
              <a:solidFill>
                <a:srgbClr val="1B6FD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58200" y="2560320"/>
            <a:ext cx="1508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Waktu gate-in otomatis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58400" y="2085945"/>
            <a:ext cx="15087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600" b="1" i="0">
                <a:solidFill>
                  <a:srgbClr val="1B6FD8"/>
                </a:solidFill>
              </a:rPr>
              <a:t>0 Antrean</a:t>
            </a:r>
            <a:endParaRPr sz="2600" b="1" i="0">
              <a:solidFill>
                <a:srgbClr val="1B6FD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0" y="2560320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64748B"/>
                </a:solidFill>
              </a:rPr>
              <a:t>Bebas penumpukan yard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8640" y="3474720"/>
            <a:ext cx="67208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569616"/>
            <a:ext cx="6217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Fitur Software TMS &amp; TAS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40" y="3886200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7" y="3947647"/>
            <a:ext cx="133136" cy="1331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43000" y="3921883"/>
            <a:ext cx="6035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1. Time-Slot Booking — Freight forwarder memesan slot kedatangan armada via web portal.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77240" y="4197096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87" y="4258543"/>
            <a:ext cx="133136" cy="1331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43000" y="4232779"/>
            <a:ext cx="6035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2. Dock Door Scheduling — Alokasi pintu bongkar muat otomatis sesuai jenis kargo &amp; ULD.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777240" y="4507992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aFileInvoice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87" y="4569439"/>
            <a:ext cx="133136" cy="1331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3000" y="4451342"/>
            <a:ext cx="60350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3. Boom Gate Control — Palang gerbang otomatis terbuka membaca plat nomor (ANPR) &amp; barcode.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777240" y="4818888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aCrosshai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87" y="4880335"/>
            <a:ext cx="133136" cy="13313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43000" y="4854571"/>
            <a:ext cx="6035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4. GPS Geofencing — Pemantauan lokasi truk di rute feeder darat menuju terminal bandara.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777240" y="5129784"/>
            <a:ext cx="256032" cy="256032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FaMobile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687" y="5191231"/>
            <a:ext cx="133136" cy="1331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3000" y="5073134"/>
            <a:ext cx="60350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0B2A5B"/>
                </a:solidFill>
              </a:rPr>
              <a:t>5. Demurrage Alert — Peringatan otomatis jika dwelling time truk melebihi batas waktu maksimal.</a:t>
            </a:r>
            <a:endParaRPr sz="1200" b="0" i="0">
              <a:solidFill>
                <a:srgbClr val="1E293B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452360" y="3474720"/>
            <a:ext cx="4206240" cy="2011680"/>
          </a:xfrm>
          <a:prstGeom prst="roundRect">
            <a:avLst>
              <a:gd name="adj" fmla="val 5454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80960" y="3569616"/>
            <a:ext cx="3749039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FFFFFF"/>
                </a:solidFill>
              </a:rPr>
              <a:t>Dampak Bisnis TMS / TAS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80960" y="3933479"/>
            <a:ext cx="1280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45%</a:t>
            </a:r>
            <a:endParaRPr sz="2000" b="1" i="0">
              <a:solidFill>
                <a:srgbClr val="F59E0B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961120" y="3995035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FFFFFF"/>
                </a:solidFill>
              </a:rPr>
              <a:t>Penurunan waktu tunggu truk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80960" y="4317527"/>
            <a:ext cx="1280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&gt; 99%</a:t>
            </a:r>
            <a:endParaRPr sz="2000" b="1" i="0">
              <a:solidFill>
                <a:srgbClr val="F59E0B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61120" y="4379083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FFFFFF"/>
                </a:solidFill>
              </a:rPr>
              <a:t>Akurasi jadwal dock appointment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80960" y="4701575"/>
            <a:ext cx="1280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100%</a:t>
            </a:r>
            <a:endParaRPr sz="2000" b="1" i="0">
              <a:solidFill>
                <a:srgbClr val="F59E0B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961120" y="4763131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0">
                <a:solidFill>
                  <a:srgbClr val="FFFFFF"/>
                </a:solidFill>
              </a:rPr>
              <a:t>Pencatatan log gate masuk/keluar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680960" y="5085623"/>
            <a:ext cx="1280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&lt; 5 mnt</a:t>
            </a:r>
            <a:endParaRPr sz="2000" b="1" i="0">
              <a:solidFill>
                <a:srgbClr val="F59E0B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961120" y="5147179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it-IT" sz="1200" b="0" i="0">
                <a:solidFill>
                  <a:srgbClr val="FFFFFF"/>
                </a:solidFill>
              </a:rPr>
              <a:t>Durasi turnaround kargo per truk</a:t>
            </a:r>
            <a:endParaRPr sz="12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Flowchart 4: Integrasi Modul Kargo Udara Terpadu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Sinergi TMS/TAS -&gt; CMS/WMS -&gt; AVSEC -&gt; W&amp;B -&gt; Airline Operations</a:t>
            </a:r>
            <a:endParaRPr sz="1400" b="0" i="0" dirty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dashboard.php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FFFFFF"/>
                </a:solidFill>
              </a:rPr>
              <a:t>1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440" y="2053161"/>
            <a:ext cx="1280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TMS / TAS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4440" y="2313432"/>
            <a:ext cx="12801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0" i="0">
                <a:solidFill>
                  <a:srgbClr val="64748B"/>
                </a:solidFill>
              </a:rPr>
              <a:t>Landside Intermodal</a:t>
            </a:r>
            <a:endParaRPr sz="1000" b="0" i="0">
              <a:solidFill>
                <a:srgbClr val="64748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697480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Booking slot waktu kedatangan armada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Otomasi boom gate &amp; verifikasi ANPR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Penjadwalan dock door bongkar muat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Peringatan batas dwelling time armada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  -&gt; Truk ke Unloading Dock</a:t>
            </a:r>
            <a:endParaRPr sz="1100" b="1" i="0">
              <a:solidFill>
                <a:srgbClr val="1B6FD8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337560"/>
            <a:ext cx="26289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82321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60370" y="2057400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FFFFFF"/>
                </a:solidFill>
              </a:rPr>
              <a:t>2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09010" y="2053161"/>
            <a:ext cx="1280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CMS / WMS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09010" y="2313432"/>
            <a:ext cx="12801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0" i="0">
                <a:solidFill>
                  <a:srgbClr val="64748B"/>
                </a:solidFill>
              </a:rPr>
              <a:t>Terminal Warehouse</a:t>
            </a:r>
            <a:endParaRPr sz="1000" b="0" i="0">
              <a:solidFill>
                <a:srgbClr val="64748B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87802" y="2697480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One-scan ASN matching manifes kargo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Pemindaian barcode SSCC/GS1 instan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Directed putaway ke rak simpan sementara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Pemisahan Dangerous Goods &amp; cold chain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96037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  -&gt; Kargo ke Screening</a:t>
            </a:r>
            <a:endParaRPr sz="1100" b="1" i="0">
              <a:solidFill>
                <a:srgbClr val="1B6FD8"/>
              </a:solidFill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834890" y="3337560"/>
            <a:ext cx="26289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509778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34940" y="2057400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FFFFFF"/>
                </a:solidFill>
              </a:rPr>
              <a:t>3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83580" y="2053161"/>
            <a:ext cx="1280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AVSEC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3580" y="2313432"/>
            <a:ext cx="12801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0" i="0">
                <a:solidFill>
                  <a:srgbClr val="64748B"/>
                </a:solidFill>
              </a:rPr>
              <a:t>Aviation Security</a:t>
            </a:r>
            <a:endParaRPr sz="1000" b="0" i="0">
              <a:solidFill>
                <a:srgbClr val="64748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62372" y="2697480"/>
            <a:ext cx="1719072" cy="1569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Dual-View X-Ray Scanner logging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Pendeteksian bahan berbahaya &amp; peledak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Auto-Quarantine status Blocked kargo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Penerbitan sertifikat e-CSD digital</a:t>
            </a:r>
            <a:endParaRPr sz="1150" b="0" i="0" dirty="0">
              <a:solidFill>
                <a:srgbClr val="1E293B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23494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  -&gt; Cleared ke Build-Up</a:t>
            </a:r>
            <a:endParaRPr sz="1100" b="1" i="0" dirty="0">
              <a:solidFill>
                <a:srgbClr val="1B6FD8"/>
              </a:solidFill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7109460" y="3337560"/>
            <a:ext cx="262890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737235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09510" y="2057400"/>
            <a:ext cx="457200" cy="45720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FFFFFF"/>
                </a:solidFill>
              </a:rPr>
              <a:t>4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58150" y="2053161"/>
            <a:ext cx="1280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W&amp;B System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58150" y="2313432"/>
            <a:ext cx="12801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0" i="0">
                <a:solidFill>
                  <a:srgbClr val="64748B"/>
                </a:solidFill>
              </a:rPr>
              <a:t>Load Planning</a:t>
            </a:r>
            <a:endParaRPr sz="1000" b="0" i="0">
              <a:solidFill>
                <a:srgbClr val="64748B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36942" y="2697480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Automatic DWS dimensi &amp; berat &lt; 500ms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3D cubic utilization ULD hingga 92%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Perhitungan Center of Gravity pesawat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Floor load limit &amp; balance check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50951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  -&gt; Loadsheet ke Ramp</a:t>
            </a:r>
            <a:endParaRPr sz="1100" b="1" i="0">
              <a:solidFill>
                <a:srgbClr val="1B6FD8"/>
              </a:solidFill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384030" y="3337560"/>
            <a:ext cx="262889" cy="0"/>
          </a:xfrm>
          <a:prstGeom prst="line">
            <a:avLst/>
          </a:prstGeom>
          <a:ln w="31750">
            <a:solidFill>
              <a:srgbClr val="F59E0B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9646920" y="1920240"/>
            <a:ext cx="2011680" cy="288036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784080" y="2057400"/>
            <a:ext cx="457200" cy="45720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FFFFFF"/>
                </a:solidFill>
              </a:rPr>
              <a:t>5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32720" y="2053161"/>
            <a:ext cx="1280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0B2A5B"/>
                </a:solidFill>
              </a:rPr>
              <a:t>Airline Ops</a:t>
            </a:r>
            <a:endParaRPr sz="1600" b="1" i="0">
              <a:solidFill>
                <a:srgbClr val="0B2A5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332720" y="2313432"/>
            <a:ext cx="12801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0" i="0">
                <a:solidFill>
                  <a:srgbClr val="64748B"/>
                </a:solidFill>
              </a:rPr>
              <a:t>Flight Departure</a:t>
            </a:r>
            <a:endParaRPr sz="1000" b="0" i="0">
              <a:solidFill>
                <a:srgbClr val="64748B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15098" y="2696464"/>
            <a:ext cx="171907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Sinkronisasi manifes e-AWB IATA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Final electronic loadsheet sign-off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Pemuatan belly &amp; main deck pesawat</a:t>
            </a:r>
          </a:p>
          <a:p>
            <a:pPr marL="155448" indent="-155448" algn="l">
              <a:spcBef>
                <a:spcPts val="0"/>
              </a:spcBef>
              <a:spcAft>
                <a:spcPts val="4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Koneksi intermodal transit berikutnya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784080" y="4343400"/>
            <a:ext cx="1737360" cy="347472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  -&gt; Penerbangan Berangkat</a:t>
            </a:r>
            <a:endParaRPr sz="1100" b="1" i="0">
              <a:solidFill>
                <a:srgbClr val="1B6FD8"/>
              </a:solidFill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10652760" y="4800600"/>
            <a:ext cx="0" cy="411480"/>
          </a:xfrm>
          <a:prstGeom prst="line">
            <a:avLst/>
          </a:prstGeom>
          <a:ln w="28575">
            <a:solidFill>
              <a:srgbClr val="16A34A"/>
            </a:solidFill>
          </a:ln>
        </p:spPr>
      </p:cxnSp>
      <p:cxnSp>
        <p:nvCxnSpPr>
          <p:cNvPr id="40" name="Connector 39"/>
          <p:cNvCxnSpPr/>
          <p:nvPr/>
        </p:nvCxnSpPr>
        <p:spPr>
          <a:xfrm flipH="1">
            <a:off x="1554480" y="5212080"/>
            <a:ext cx="9098280" cy="0"/>
          </a:xfrm>
          <a:prstGeom prst="line">
            <a:avLst/>
          </a:prstGeom>
          <a:ln w="28575">
            <a:solidFill>
              <a:srgbClr val="16A34A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1554480" y="4800600"/>
            <a:ext cx="0" cy="411480"/>
          </a:xfrm>
          <a:prstGeom prst="line">
            <a:avLst/>
          </a:prstGeom>
          <a:ln w="28575">
            <a:solidFill>
              <a:srgbClr val="16A34A"/>
            </a:solidFill>
            <a:tailEnd type="triangle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4160520" y="5047488"/>
            <a:ext cx="4023360" cy="329184"/>
          </a:xfrm>
          <a:prstGeom prst="roundRect">
            <a:avLst>
              <a:gd name="adj" fmla="val 45454"/>
            </a:avLst>
          </a:prstGeom>
          <a:solidFill>
            <a:srgbClr val="16A34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200" b="1" i="0">
                <a:solidFill>
                  <a:srgbClr val="FFFFFF"/>
                </a:solidFill>
              </a:rPr>
              <a:t>Sinkronisasi End-to-End, Pelacakan Real-Time, &amp; Zero Cargo Leakage</a:t>
            </a:r>
            <a:endParaRPr sz="1200" b="1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Peta Arsitektur Aplikasi Web Air Cargo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Pemisahan 5 Modul Terstruktur Menjaga Sistem Modular, Aman &amp; Skalabel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dashboard.php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FFFFFF"/>
                </a:solidFill>
              </a:rPr>
              <a:t>TMS &amp; TAS Module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FFFFFF"/>
                </a:solidFill>
              </a:rPr>
              <a:t>Landside Intermodal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794716"/>
            <a:ext cx="1737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v-SE" sz="1150" b="0" i="1">
                <a:solidFill>
                  <a:srgbClr val="64748B"/>
                </a:solidFill>
              </a:rPr>
              <a:t>Mengatur kedatangan armada darat &amp; palang gerbang otomatis</a:t>
            </a:r>
            <a:endParaRPr sz="1150" b="0" i="1" dirty="0">
              <a:solidFill>
                <a:srgbClr val="64748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737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BISNIS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737360" cy="823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Dock Door Scheduling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Boom Gate ANPR / RFID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Dwelling Time Monitor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B2A5B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Demurrage Calculation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2321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1465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</a:rPr>
              <a:t>W&amp;B &amp; Load Planning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</a:rPr>
              <a:t>Aircraft Balance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6090" y="2823912"/>
            <a:ext cx="1737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0" i="1">
                <a:solidFill>
                  <a:srgbClr val="64748B"/>
                </a:solidFill>
              </a:rPr>
              <a:t>Perhitungan kubikasi ULD, distribusi beban &amp; batas Center of Gravity</a:t>
            </a:r>
            <a:endParaRPr sz="1150" b="0" i="1" dirty="0">
              <a:solidFill>
                <a:srgbClr val="64748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60370" y="4069080"/>
            <a:ext cx="1737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BISNIS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60370" y="429768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DWS Dimensioning &lt; 500ms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3D Cubic Utilization 92%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Center of Gravity Envelope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1B6FD8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Floor Load Limit Check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9778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8922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0E8A9A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</a:rPr>
              <a:t>CMS &amp; WMS Warehouse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</a:rPr>
              <a:t>Terminal Inventory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34940" y="2840795"/>
            <a:ext cx="1737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0" i="1">
                <a:solidFill>
                  <a:srgbClr val="64748B"/>
                </a:solidFill>
              </a:rPr>
              <a:t>Mengatur penerimaan kargo lepasan, binnage rak &amp; rotasi kargo</a:t>
            </a:r>
            <a:endParaRPr sz="1150" b="0" i="1" dirty="0">
              <a:solidFill>
                <a:srgbClr val="64748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34940" y="4069080"/>
            <a:ext cx="1737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BISNIS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34940" y="4297680"/>
            <a:ext cx="173736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One-Scan ASN Matching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Directed Putaway Binnage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Dangerous Goods Isolation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0E8A9A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Over-receipt Alert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7235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6379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D97706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FFFFFF"/>
                </a:solidFill>
              </a:rPr>
              <a:t>AVSEC Screening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FFFFFF"/>
                </a:solidFill>
              </a:rPr>
              <a:t>Security Engine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55230" y="2857501"/>
            <a:ext cx="1737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i-FI" sz="1150" b="0" i="1">
                <a:solidFill>
                  <a:srgbClr val="64748B"/>
                </a:solidFill>
              </a:rPr>
              <a:t>Mengendalikan inspeksi sinar-X &amp; penegakan kepatuhan aviasi ICAO</a:t>
            </a:r>
            <a:endParaRPr sz="1150" b="0" i="1" dirty="0">
              <a:solidFill>
                <a:srgbClr val="64748B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09510" y="4069080"/>
            <a:ext cx="1737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BISNIS</a:t>
            </a:r>
            <a:endParaRPr sz="1000" b="1" i="0" dirty="0">
              <a:solidFill>
                <a:srgbClr val="64748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09510" y="4297680"/>
            <a:ext cx="173736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Dual-View X-Ray Logging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Auto-Quarantine Blocked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Digital e-CSD Generator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lang="en-US" sz="1150" b="0" i="0">
                <a:solidFill>
                  <a:srgbClr val="1E293B"/>
                </a:solidFill>
              </a:rPr>
              <a:t>Build-Up Lock Enforcement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46920" y="1874519"/>
            <a:ext cx="2011680" cy="36576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38360" y="1965960"/>
            <a:ext cx="1828800" cy="658368"/>
          </a:xfrm>
          <a:prstGeom prst="roundRect">
            <a:avLst>
              <a:gd name="adj" fmla="val 13888"/>
            </a:avLst>
          </a:prstGeom>
          <a:solidFill>
            <a:srgbClr val="475569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</a:rPr>
              <a:t>Airline Operations &amp; ERP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</a:rPr>
              <a:t>Flight Integration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29800" y="2811779"/>
            <a:ext cx="1737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0" i="1">
                <a:solidFill>
                  <a:srgbClr val="64748B"/>
                </a:solidFill>
              </a:rPr>
              <a:t>Pertukaran data manifes e-AWB, kepabeanan &amp; penagihan jasa terminal</a:t>
            </a:r>
            <a:endParaRPr sz="1150" b="0" i="1" dirty="0">
              <a:solidFill>
                <a:srgbClr val="64748B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84080" y="4069080"/>
            <a:ext cx="1737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000" b="1" i="0">
                <a:solidFill>
                  <a:srgbClr val="64748B"/>
                </a:solidFill>
              </a:rPr>
              <a:t>ATURAN BISNIS</a:t>
            </a:r>
            <a:endParaRPr sz="1000" b="1" i="0">
              <a:solidFill>
                <a:srgbClr val="64748B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784080" y="4297680"/>
            <a:ext cx="1737360" cy="823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e-AWB IATA Messaging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Bea Cukai CEISA 4.0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Demurrage Tariff Engine</a:t>
            </a:r>
          </a:p>
          <a:p>
            <a:pPr marL="155448" indent="-155448" algn="l">
              <a:spcBef>
                <a:spcPts val="0"/>
              </a:spcBef>
              <a:spcAft>
                <a:spcPts val="300"/>
              </a:spcAft>
              <a:buClr>
                <a:srgbClr val="475569"/>
              </a:buClr>
              <a:buFont typeface="Arial"/>
              <a:buChar char="•"/>
            </a:pPr>
            <a:r>
              <a:rPr lang="en-ID" sz="1150" b="0" i="0">
                <a:solidFill>
                  <a:srgbClr val="1E293B"/>
                </a:solidFill>
              </a:rPr>
              <a:t>Zero Revenue Leakage</a:t>
            </a:r>
            <a:endParaRPr sz="1150" b="0" i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Matriks Integrasi Data Fitur (Data Mapping)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Pemetaan Sumber Data Masukan, Validasi Logika Bisnis, dan Target Keluaran Sistem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pages/settings.php</a:t>
            </a:r>
            <a:endParaRPr sz="1100" b="1" i="0">
              <a:solidFill>
                <a:srgbClr val="1B6FD8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31972"/>
              </p:ext>
            </p:extLst>
          </p:nvPr>
        </p:nvGraphicFramePr>
        <p:xfrm>
          <a:off x="548640" y="1874519"/>
          <a:ext cx="11109960" cy="33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lang="en-ID" sz="11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Modul dan Hardware</a:t>
                      </a:r>
                      <a:endParaRPr sz="1100" b="1" i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1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Data Input (Source)</a:t>
                      </a:r>
                      <a:endParaRPr sz="1100" b="1" i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Proses Validasi Sistem (Business Rule)</a:t>
                      </a:r>
                      <a:endParaRPr sz="1100" b="1" i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1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Data Output (Target)</a:t>
                      </a:r>
                      <a:endParaRPr sz="1100" b="1" i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lang="en-US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TMS / TAS</a:t>
                      </a:r>
                    </a:p>
                    <a:p>
                      <a:r>
                        <a:rPr lang="en-US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(Gate Control &amp; Boom Gate)</a:t>
                      </a:r>
                      <a:endParaRPr sz="1000" b="1" i="0">
                        <a:solidFill>
                          <a:srgbClr val="0B2A5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Data Waktu Masuk Truk &amp; Nomor Pelat (Kamera ANPR)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Pencatatan otomatis waktu masuk/keluar gerbang; Cek batas dwelling time (demurrage alert).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Jadwal Dock Assigned &amp; Notifikasi Demurrage Alert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lang="en-ID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CMS / WMS</a:t>
                      </a:r>
                    </a:p>
                    <a:p>
                      <a:r>
                        <a:rPr lang="en-ID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(Barcode / RFID Scanner)</a:t>
                      </a:r>
                      <a:endParaRPr sz="1000" b="1" i="0">
                        <a:solidFill>
                          <a:srgbClr val="0B2A5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Data Barcode SSCC GS1 dari High-Speed Scanner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Validasi kecocokan dengan dokumen manifes (ASN Matching); Cek status Over-receipt fisik.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Status Stok: Received &amp; Alokasi Lokasi Putaway Optimal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lang="en-US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W&amp;B System</a:t>
                      </a:r>
                    </a:p>
                    <a:p>
                      <a:r>
                        <a:rPr lang="en-US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(DWS / Smart Floor Scale)</a:t>
                      </a:r>
                      <a:endParaRPr sz="1000" b="1" i="0">
                        <a:solidFill>
                          <a:srgbClr val="0B2A5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Dimensi Volumetrik (CubiScan) &amp; Berat Fisik (Timbangan)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Cek toleransi selisih berat (±2%); Kalkulasi tata letak kubikasi ULD (Cubic Utilization).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Electronic Loadsheet Pesawat &amp; Peringatan Overweight / Imbalance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lang="en-US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AVSEC System</a:t>
                      </a:r>
                    </a:p>
                    <a:p>
                      <a:r>
                        <a:rPr lang="en-US" sz="1000" b="1" i="0">
                          <a:solidFill>
                            <a:srgbClr val="0B2A5B"/>
                          </a:solidFill>
                          <a:latin typeface="Segoe UI" panose="020B0502040204020203" pitchFamily="34" charset="0"/>
                        </a:rPr>
                        <a:t>(Dual-View X-Ray Scanner)</a:t>
                      </a:r>
                      <a:endParaRPr sz="1000" b="1" i="0">
                        <a:solidFill>
                          <a:srgbClr val="0B2A5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Citra Pindaian X-Ray &amp; e-AWB Security Tagging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Verifikasi ancaman barang terlarang; Auto-lock status kargo jika terdeteksi SUSPECT.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b="0" i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Status Kargo: Blocked (Karantina) atau Cleared &amp; Penerbitan e-CSD</a:t>
                      </a:r>
                      <a:endParaRPr sz="1000" b="0" i="0">
                        <a:solidFill>
                          <a:srgbClr val="1E293B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9728" marR="109728" anchor="ctr">
                    <a:solidFill>
                      <a:srgbClr val="E6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11109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200" b="0" i="1">
                <a:solidFill>
                  <a:srgbClr val="64748B"/>
                </a:solidFill>
              </a:rPr>
              <a:t>Alur data setiap fitur:  Data Input (Source) -&gt; Proses Validasi Sistem (Business Rule) -&gt; Data Output (Target)</a:t>
            </a:r>
            <a:endParaRPr sz="1200" b="0" i="1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Penanganan Anomali &amp; Standar FSD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v-SE" sz="1400" b="0" i="0">
                <a:solidFill>
                  <a:srgbClr val="64748B"/>
                </a:solidFill>
              </a:rPr>
              <a:t>Perancangan Exception Handling Menjamin Operasional Kargo Udara Aman 24/7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915400" y="1463040"/>
            <a:ext cx="2743200" cy="274320"/>
          </a:xfrm>
          <a:prstGeom prst="roundRect">
            <a:avLst>
              <a:gd name="adj" fmla="val 45454"/>
            </a:avLst>
          </a:prstGeom>
          <a:solidFill>
            <a:srgbClr val="E6F0FC"/>
          </a:solidFill>
          <a:ln w="9525">
            <a:solidFill>
              <a:srgbClr val="BFD7F5"/>
            </a:solidFill>
          </a:ln>
        </p:spPr>
        <p:txBody>
          <a:bodyPr wrap="square" lIns="36576" tIns="36576" rIns="36576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100" b="1" i="0">
                <a:solidFill>
                  <a:srgbClr val="1B6FD8"/>
                </a:solidFill>
              </a:rPr>
              <a:t>LIVE DEMO  ·  pages/settings.php</a:t>
            </a:r>
            <a:endParaRPr sz="1100" b="1" i="0">
              <a:solidFill>
                <a:srgbClr val="1B6FD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93976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2010564"/>
            <a:ext cx="63093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500" b="1" i="0">
                <a:solidFill>
                  <a:srgbClr val="0B2A5B"/>
                </a:solidFill>
              </a:rPr>
              <a:t>Barcode ULD / Kargo Tidak Terbaca (No-Read)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25880" y="2377439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1" i="0">
                <a:solidFill>
                  <a:srgbClr val="DC2626"/>
                </a:solidFill>
              </a:rPr>
              <a:t>Gejala: High-Speed Scanner gagal memindai label SSCC saat barang di conveyor</a:t>
            </a:r>
            <a:endParaRPr sz="1150" b="0" i="0">
              <a:solidFill>
                <a:srgbClr val="1E293B"/>
              </a:solidFill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160520" y="2628900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4434840" y="2377439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1" i="0">
                <a:solidFill>
                  <a:srgbClr val="16A34A"/>
                </a:solidFill>
              </a:rPr>
              <a:t>Aksi: WCS mengarahkan diverter ke Reject Lane + alert ke PDA operator manual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090672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1012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3226716"/>
            <a:ext cx="63093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v-SE" sz="1500" b="1" i="0">
                <a:solidFill>
                  <a:srgbClr val="0B2A5B"/>
                </a:solidFill>
              </a:rPr>
              <a:t>Keterlambatan Armada Truk Feeder Intermodal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25880" y="3593591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1" i="0">
                <a:solidFill>
                  <a:srgbClr val="DC2626"/>
                </a:solidFill>
              </a:rPr>
              <a:t>Gejala: Truk pembawa kargo mogok atau terjebak macet menuju terminal bandara</a:t>
            </a:r>
            <a:endParaRPr sz="1150" b="0" i="0">
              <a:solidFill>
                <a:srgbClr val="1E293B"/>
              </a:solidFill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3845052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4434840" y="3593591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1" i="0">
                <a:solidFill>
                  <a:srgbClr val="16A34A"/>
                </a:solidFill>
              </a:rPr>
              <a:t>Aksi: TMS memantau GPS, notifikasi Exception Alert ke CS &amp; realokasi time-slot dock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4306824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416552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526280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5880" y="4442868"/>
            <a:ext cx="63093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Kargo Di-Flag SUSPECT pada Screening X-Ray AVSEC</a:t>
            </a:r>
            <a:endParaRPr sz="1500" b="1" i="0">
              <a:solidFill>
                <a:srgbClr val="0B2A5B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25880" y="480974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1" i="0">
                <a:solidFill>
                  <a:srgbClr val="DC2626"/>
                </a:solidFill>
              </a:rPr>
              <a:t>Gejala: Operator AVSEC mendeteksi materi mencurigakan / ketidakcocokan isi paket</a:t>
            </a:r>
            <a:endParaRPr sz="1150" b="0" i="0">
              <a:solidFill>
                <a:srgbClr val="1E293B"/>
              </a:solidFill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4160520" y="5061204"/>
            <a:ext cx="27432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4434840" y="4809744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>
            <a:noFill/>
          </a:ln>
        </p:spPr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50" b="1" i="0">
                <a:solidFill>
                  <a:srgbClr val="16A34A"/>
                </a:solidFill>
              </a:rPr>
              <a:t>Aksi: Sistem auto-lock status Blocked/Quarantine, isolasi fisik, batalkan alokasi Build-Up</a:t>
            </a:r>
            <a:endParaRPr sz="1150" b="0" i="0">
              <a:solidFill>
                <a:srgbClr val="1E293B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92440" y="1874519"/>
            <a:ext cx="3566160" cy="3520440"/>
          </a:xfrm>
          <a:prstGeom prst="roundRect">
            <a:avLst>
              <a:gd name="adj" fmla="val 3116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2117169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600" b="1" i="0">
                <a:solidFill>
                  <a:srgbClr val="FFFFFF"/>
                </a:solidFill>
              </a:rPr>
              <a:t>4 Pilar FSD Standar Analisis BA</a:t>
            </a:r>
            <a:endParaRPr sz="1600" b="1" i="0">
              <a:solidFill>
                <a:srgbClr val="FFFFFF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8321040" y="26517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a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7" y="2761488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15400" y="2580278"/>
            <a:ext cx="265176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User Role &amp; Permission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Petugas Gate, Operator Gudang, AVSEC Officer, Load Controller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21040" y="33375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7" y="3447288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15400" y="3266078"/>
            <a:ext cx="265176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Trigger Condition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Pindaian sensor RFID/DWS, event gate masuk, flagging AVSEC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8321040" y="4023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aList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7" y="4133088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15400" y="3951878"/>
            <a:ext cx="265176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Input Fields &amp; Validation Rules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Toleransi ±2%, batas MTOW pesawat, pemisahan IATA DGR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8321040" y="47091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aSync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7" y="4818888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15400" y="4637678"/>
            <a:ext cx="265176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System Response &amp; Error Handling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300" b="1" i="0">
                <a:solidFill>
                  <a:srgbClr val="FFFFFF"/>
                </a:solidFill>
              </a:rPr>
              <a:t>Auto-quarantine, peringatan Over-receipt, pengalihan jalur fisik</a:t>
            </a:r>
            <a:endParaRPr sz="1300" b="1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800" b="1" i="0">
                <a:solidFill>
                  <a:srgbClr val="0B2A5B"/>
                </a:solidFill>
              </a:rPr>
              <a:t>Kesimpulan &amp; Rekomendasi Konsultan BA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Strategi Eksekutif Menuju Terminal Kargo Udara Modern, Aman, dan Presisi Tinggi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029967"/>
            <a:ext cx="512064" cy="512064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Shield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2152863"/>
            <a:ext cx="266273" cy="266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960994"/>
            <a:ext cx="4434840" cy="659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Kepatuhan Aviasi Internasional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Sistem mengunci kepatuhan mutlak terhadap regulasi IATA DGR, ICAO Annex 17, dan Flight Safety W&amp;B.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2944368"/>
            <a:ext cx="512064" cy="512064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Bar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306726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875394"/>
            <a:ext cx="4434840" cy="659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Akurasi Beban &amp; Center of Gravity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Integrasi DWS (&lt; 500 ms) menjamin data volumetrik &amp; berat ULD presisi untuk keselamatan penerbangan.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3858768"/>
            <a:ext cx="512064" cy="512064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15" y="3981663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17320" y="3789794"/>
            <a:ext cx="4434840" cy="659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Zero Security Breach AVSEC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Fitur Auto-Quarantine memastikan 0% kargo berstatus SUSPECT lolos ke dalam lambung pesawat udara.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4773168"/>
            <a:ext cx="512064" cy="512064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4896063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4704194"/>
            <a:ext cx="4434840" cy="659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Efisiensi Intermodal End-to-End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ID" sz="1400" b="1" i="0">
                <a:solidFill>
                  <a:srgbClr val="0B2A5B"/>
                </a:solidFill>
              </a:rPr>
              <a:t>Appointment TAS memangkas dwelling time armada darat dan menghilangkan penumpukan di terminal.</a:t>
            </a:r>
            <a:endParaRPr sz="1200" b="0" i="0">
              <a:solidFill>
                <a:srgbClr val="64748B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2200" y="1874519"/>
            <a:ext cx="5486400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983132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500" b="1" i="0">
                <a:solidFill>
                  <a:srgbClr val="0B2A5B"/>
                </a:solidFill>
              </a:rPr>
              <a:t>Turnaround Time Kargo</a:t>
            </a:r>
            <a:endParaRPr sz="1500" b="1" i="0">
              <a:solidFill>
                <a:srgbClr val="0B2A5B"/>
              </a:solidFill>
            </a:endParaRP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309360" y="2286000"/>
          <a:ext cx="52120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172200" y="4526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4829591"/>
            <a:ext cx="1143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45%</a:t>
            </a:r>
            <a:endParaRPr sz="2000" b="1" i="0">
              <a:solidFill>
                <a:srgbClr val="F59E0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52360" y="4729564"/>
            <a:ext cx="1325880" cy="507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FFFFFF"/>
                </a:solidFill>
              </a:rPr>
              <a:t>Lebih cepat dengan integrasi One-Scan ASN &amp; DWS otomatis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6840" y="4526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0B2A5B"/>
          </a:solidFill>
          <a:ln>
            <a:noFill/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4829591"/>
            <a:ext cx="1143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2000" b="1" i="0">
                <a:solidFill>
                  <a:srgbClr val="F59E0B"/>
                </a:solidFill>
              </a:rPr>
              <a:t>&lt; 500 ms</a:t>
            </a:r>
            <a:endParaRPr sz="2000" b="1" i="0">
              <a:solidFill>
                <a:srgbClr val="F59E0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87000" y="4729564"/>
            <a:ext cx="1325880" cy="507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100" b="0" i="0">
                <a:solidFill>
                  <a:srgbClr val="FFFFFF"/>
                </a:solidFill>
              </a:rPr>
              <a:t>Kecepatan pindaian DWS simultan dimensi &amp; berat kargo</a:t>
            </a:r>
            <a:endParaRPr sz="11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7327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0B2A5B"/>
                </a:solidFill>
              </a:rPr>
              <a:t>Roadmap Menuju Go-Live Terminal Kargo</a:t>
            </a:r>
            <a:endParaRPr sz="2800" b="1" i="0">
              <a:solidFill>
                <a:srgbClr val="0B2A5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8333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D" sz="1400" b="0" i="0">
                <a:solidFill>
                  <a:srgbClr val="64748B"/>
                </a:solidFill>
              </a:rPr>
              <a:t>Tiga Fase Implementasi Sistem Air Cargo Terpadu (Bulan 1 - 9)</a:t>
            </a:r>
            <a:endParaRPr sz="1400" b="0" i="0">
              <a:solidFill>
                <a:srgbClr val="64748B"/>
              </a:solidFill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822960" y="1920240"/>
            <a:ext cx="3611880" cy="685800"/>
          </a:xfrm>
          <a:prstGeom prst="homePlate">
            <a:avLst/>
          </a:prstGeom>
          <a:solidFill>
            <a:srgbClr val="1B6FD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FFFFFF"/>
                </a:solidFill>
              </a:rPr>
              <a:t>FASE 1 · MINGGU 1-4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324612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240280" y="2971800"/>
            <a:ext cx="731520" cy="731520"/>
          </a:xfrm>
          <a:prstGeom prst="ellipse">
            <a:avLst/>
          </a:prstGeom>
          <a:solidFill>
            <a:srgbClr val="1B6F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a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844" y="3147364"/>
            <a:ext cx="380390" cy="38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846835"/>
            <a:ext cx="30632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700" b="1" i="0">
                <a:solidFill>
                  <a:srgbClr val="0B2A5B"/>
                </a:solidFill>
              </a:rPr>
              <a:t>Fondasi Sistem &amp; Master Data</a:t>
            </a:r>
            <a:endParaRPr sz="1700" b="1" i="0">
              <a:solidFill>
                <a:srgbClr val="0B2A5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34440" y="4251960"/>
            <a:ext cx="2743200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500" b="0" i="0">
                <a:solidFill>
                  <a:srgbClr val="1E293B"/>
                </a:solidFill>
              </a:rPr>
              <a:t>Finalisasi modul CMS/WMS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500" b="0" i="0">
                <a:solidFill>
                  <a:srgbClr val="1E293B"/>
                </a:solidFill>
              </a:rPr>
              <a:t>Migrasi skema database kargo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B6FD8"/>
              </a:buClr>
              <a:buFont typeface="Arial"/>
              <a:buChar char="•"/>
            </a:pPr>
            <a:r>
              <a:rPr lang="en-ID" sz="1500" b="0" i="0">
                <a:solidFill>
                  <a:srgbClr val="1E293B"/>
                </a:solidFill>
              </a:rPr>
              <a:t>Integrasi aturan binnage &amp; DGR</a:t>
            </a:r>
            <a:endParaRPr sz="1500" b="0" i="0">
              <a:solidFill>
                <a:srgbClr val="1E293B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4434840" y="1920240"/>
            <a:ext cx="3611880" cy="685800"/>
          </a:xfrm>
          <a:prstGeom prst="chevron">
            <a:avLst/>
          </a:prstGeom>
          <a:solidFill>
            <a:srgbClr val="1550A8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FFFFFF"/>
                </a:solidFill>
              </a:rPr>
              <a:t>FASE 2 · MINGGU 5-8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80" y="2834640"/>
            <a:ext cx="324612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52160" y="2971800"/>
            <a:ext cx="731520" cy="731520"/>
          </a:xfrm>
          <a:prstGeom prst="ellipse">
            <a:avLst/>
          </a:prstGeom>
          <a:solidFill>
            <a:srgbClr val="1550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724" y="3147364"/>
            <a:ext cx="380390" cy="380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3846835"/>
            <a:ext cx="30632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700" b="1" i="0">
                <a:solidFill>
                  <a:srgbClr val="0B2A5B"/>
                </a:solidFill>
              </a:rPr>
              <a:t>Kalibrasi IoT &amp; Hardware Control</a:t>
            </a:r>
            <a:endParaRPr sz="1700" b="1" i="0">
              <a:solidFill>
                <a:srgbClr val="0B2A5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6320" y="4251960"/>
            <a:ext cx="2743200" cy="112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550A8"/>
              </a:buClr>
              <a:buFont typeface="Arial"/>
              <a:buChar char="•"/>
            </a:pPr>
            <a:r>
              <a:rPr lang="en-US" sz="1500" b="0" i="0">
                <a:solidFill>
                  <a:srgbClr val="1E293B"/>
                </a:solidFill>
              </a:rPr>
              <a:t>Sensor DWS &amp; High-Speed Scanner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550A8"/>
              </a:buClr>
              <a:buFont typeface="Arial"/>
              <a:buChar char="•"/>
            </a:pPr>
            <a:r>
              <a:rPr lang="en-US" sz="1500" b="0" i="0">
                <a:solidFill>
                  <a:srgbClr val="1E293B"/>
                </a:solidFill>
              </a:rPr>
              <a:t>Integrasi logging X-Ray AVSEC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1550A8"/>
              </a:buClr>
              <a:buFont typeface="Arial"/>
              <a:buChar char="•"/>
            </a:pPr>
            <a:r>
              <a:rPr lang="en-US" sz="1500" b="0" i="0">
                <a:solidFill>
                  <a:srgbClr val="1E293B"/>
                </a:solidFill>
              </a:rPr>
              <a:t>Commissioning boom gate &amp; PDA</a:t>
            </a:r>
            <a:endParaRPr sz="1500" b="0" i="0" dirty="0">
              <a:solidFill>
                <a:srgbClr val="1E293B"/>
              </a:solidFill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8046720" y="1920240"/>
            <a:ext cx="3611880" cy="685800"/>
          </a:xfrm>
          <a:prstGeom prst="chevron">
            <a:avLst/>
          </a:prstGeom>
          <a:solidFill>
            <a:srgbClr val="0B2A5B"/>
          </a:solidFill>
          <a:ln>
            <a:noFill/>
          </a:ln>
        </p:spPr>
        <p:txBody>
          <a:bodyPr wrap="square" lIns="54864" tIns="54864" rIns="54864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400" b="1" i="0">
                <a:solidFill>
                  <a:srgbClr val="FFFFFF"/>
                </a:solidFill>
              </a:rPr>
              <a:t>FASE 3 · MINGGU 9-14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38160" y="2834640"/>
            <a:ext cx="324612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3E2F5"/>
            </a:solidFill>
          </a:ln>
          <a:effectLst>
            <a:outerShdw blurRad="63500" dist="19050" dir="5400000" algn="t" rotWithShape="0">
              <a:srgbClr val="0B2A5B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64040" y="2971800"/>
            <a:ext cx="731520" cy="73152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aFlagCheck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604" y="3147364"/>
            <a:ext cx="380390" cy="3803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4360" y="3846835"/>
            <a:ext cx="30632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D" sz="1700" b="1" i="0">
                <a:solidFill>
                  <a:srgbClr val="0B2A5B"/>
                </a:solidFill>
              </a:rPr>
              <a:t>Uji Coba Terpadu &amp; Go-Live</a:t>
            </a:r>
            <a:endParaRPr sz="1700" b="1" i="0" dirty="0">
              <a:solidFill>
                <a:srgbClr val="0B2A5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4251960"/>
            <a:ext cx="2743200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0B2A5B"/>
              </a:buClr>
              <a:buFont typeface="Arial"/>
              <a:buChar char="•"/>
            </a:pPr>
            <a:r>
              <a:rPr lang="en-ID" sz="1500" b="0" i="0">
                <a:solidFill>
                  <a:srgbClr val="1E293B"/>
                </a:solidFill>
              </a:rPr>
              <a:t>Integrasi digital e-CSD &amp; e-AWB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0B2A5B"/>
              </a:buClr>
              <a:buFont typeface="Arial"/>
              <a:buChar char="•"/>
            </a:pPr>
            <a:r>
              <a:rPr lang="en-ID" sz="1500" b="0" i="0">
                <a:solidFill>
                  <a:srgbClr val="1E293B"/>
                </a:solidFill>
              </a:rPr>
              <a:t>Simulasi beban kargo puncak</a:t>
            </a:r>
          </a:p>
          <a:p>
            <a:pPr marL="155448" indent="-155448" algn="l">
              <a:spcBef>
                <a:spcPts val="0"/>
              </a:spcBef>
              <a:spcAft>
                <a:spcPts val="800"/>
              </a:spcAft>
              <a:buClr>
                <a:srgbClr val="0B2A5B"/>
              </a:buClr>
              <a:buFont typeface="Arial"/>
              <a:buChar char="•"/>
            </a:pPr>
            <a:r>
              <a:rPr lang="en-ID" sz="1500" b="0" i="0">
                <a:solidFill>
                  <a:srgbClr val="1E293B"/>
                </a:solidFill>
              </a:rPr>
              <a:t>Trial operasional &amp; Go-Live</a:t>
            </a:r>
            <a:endParaRPr sz="1500" b="0" i="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61D8A0-F09B-0DA3-0B73-DF64F46BEC49}"/>
              </a:ext>
            </a:extLst>
          </p:cNvPr>
          <p:cNvSpPr txBox="1"/>
          <p:nvPr/>
        </p:nvSpPr>
        <p:spPr>
          <a:xfrm>
            <a:off x="5074920" y="4064000"/>
            <a:ext cx="284378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AIR CARGO &amp; INTERMODAL TERMINAL — KELOMPOK 1</a:t>
            </a:r>
          </a:p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Sesi Tanya Jawab &amp; Live Demo Aplikasi</a:t>
            </a:r>
            <a:endParaRPr lang="en-US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3220</Words>
  <Application>Microsoft Office PowerPoint</Application>
  <PresentationFormat>Widescreen</PresentationFormat>
  <Paragraphs>548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Analyst CIDP</dc:title>
  <dc:subject>PptxGenJS Presentation</dc:subject>
  <dc:creator>Zulfikar Jafarudin Fatah</dc:creator>
  <cp:lastModifiedBy>nessa amanda</cp:lastModifiedBy>
  <cp:revision>12</cp:revision>
  <dcterms:created xsi:type="dcterms:W3CDTF">2026-10-06T13:11:58Z</dcterms:created>
  <dcterms:modified xsi:type="dcterms:W3CDTF">2026-10-17T08:08:54Z</dcterms:modified>
</cp:coreProperties>
</file>